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57" r:id="rId3"/>
    <p:sldId id="274" r:id="rId4"/>
    <p:sldId id="376" r:id="rId5"/>
    <p:sldId id="275" r:id="rId6"/>
    <p:sldId id="276" r:id="rId7"/>
    <p:sldId id="297" r:id="rId8"/>
    <p:sldId id="366" r:id="rId9"/>
    <p:sldId id="368" r:id="rId10"/>
    <p:sldId id="367" r:id="rId11"/>
    <p:sldId id="298" r:id="rId12"/>
    <p:sldId id="300" r:id="rId13"/>
    <p:sldId id="299" r:id="rId14"/>
    <p:sldId id="301" r:id="rId15"/>
    <p:sldId id="302" r:id="rId16"/>
    <p:sldId id="307" r:id="rId17"/>
    <p:sldId id="306" r:id="rId18"/>
    <p:sldId id="303" r:id="rId19"/>
    <p:sldId id="304" r:id="rId20"/>
    <p:sldId id="369" r:id="rId21"/>
    <p:sldId id="370" r:id="rId22"/>
    <p:sldId id="377" r:id="rId23"/>
    <p:sldId id="378" r:id="rId24"/>
    <p:sldId id="379" r:id="rId25"/>
    <p:sldId id="380" r:id="rId26"/>
    <p:sldId id="381" r:id="rId27"/>
    <p:sldId id="382" r:id="rId28"/>
    <p:sldId id="305" r:id="rId29"/>
    <p:sldId id="372" r:id="rId30"/>
    <p:sldId id="308" r:id="rId31"/>
    <p:sldId id="310" r:id="rId32"/>
    <p:sldId id="312" r:id="rId33"/>
    <p:sldId id="311" r:id="rId34"/>
    <p:sldId id="313" r:id="rId35"/>
    <p:sldId id="340" r:id="rId36"/>
    <p:sldId id="341" r:id="rId37"/>
    <p:sldId id="343" r:id="rId38"/>
    <p:sldId id="342" r:id="rId39"/>
    <p:sldId id="315" r:id="rId40"/>
    <p:sldId id="316" r:id="rId41"/>
    <p:sldId id="344" r:id="rId42"/>
    <p:sldId id="345" r:id="rId43"/>
    <p:sldId id="317" r:id="rId44"/>
    <p:sldId id="318" r:id="rId45"/>
    <p:sldId id="314" r:id="rId46"/>
    <p:sldId id="319" r:id="rId47"/>
    <p:sldId id="321"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9E504E-1BE9-4C63-9A00-071E382F9357}" type="datetimeFigureOut">
              <a:rPr lang="en-IN" smtClean="0"/>
              <a:t>13-02-2026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CFABDA-F050-40A9-BE53-CBCE25FCC150}" type="slidenum">
              <a:rPr lang="en-IN" smtClean="0"/>
              <a:t>‹#›</a:t>
            </a:fld>
            <a:endParaRPr lang="en-IN"/>
          </a:p>
        </p:txBody>
      </p:sp>
    </p:spTree>
    <p:extLst>
      <p:ext uri="{BB962C8B-B14F-4D97-AF65-F5344CB8AC3E}">
        <p14:creationId xmlns:p14="http://schemas.microsoft.com/office/powerpoint/2010/main" val="1335499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B2F3ADF-9C3A-4785-A47F-4CC4E53BAF2F}" type="slidenum">
              <a:rPr lang="en-IN" smtClean="0"/>
              <a:t>10</a:t>
            </a:fld>
            <a:endParaRPr lang="en-IN"/>
          </a:p>
        </p:txBody>
      </p:sp>
    </p:spTree>
    <p:extLst>
      <p:ext uri="{BB962C8B-B14F-4D97-AF65-F5344CB8AC3E}">
        <p14:creationId xmlns:p14="http://schemas.microsoft.com/office/powerpoint/2010/main" val="1087916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B2F3ADF-9C3A-4785-A47F-4CC4E53BAF2F}" type="slidenum">
              <a:rPr lang="en-IN" smtClean="0"/>
              <a:t>17</a:t>
            </a:fld>
            <a:endParaRPr lang="en-IN"/>
          </a:p>
        </p:txBody>
      </p:sp>
    </p:spTree>
    <p:extLst>
      <p:ext uri="{BB962C8B-B14F-4D97-AF65-F5344CB8AC3E}">
        <p14:creationId xmlns:p14="http://schemas.microsoft.com/office/powerpoint/2010/main" val="1155939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1">
            <a:extLst>
              <a:ext uri="{FF2B5EF4-FFF2-40B4-BE49-F238E27FC236}">
                <a16:creationId xmlns:a16="http://schemas.microsoft.com/office/drawing/2014/main" id="{2463D102-B747-FDD1-252C-C8755F7AB136}"/>
              </a:ext>
            </a:extLst>
          </p:cNvPr>
          <p:cNvSpPr>
            <a:spLocks noGrp="1" noRot="1" noChangeAspect="1" noChangeArrowheads="1" noTextEdit="1"/>
          </p:cNvSpPr>
          <p:nvPr>
            <p:ph type="sldImg"/>
          </p:nvPr>
        </p:nvSpPr>
        <p:spPr>
          <a:xfrm>
            <a:off x="381000" y="695325"/>
            <a:ext cx="6096000" cy="3429000"/>
          </a:xfrm>
          <a:solidFill>
            <a:srgbClr val="FFFFFF"/>
          </a:solidFill>
          <a:ln>
            <a:solidFill>
              <a:srgbClr val="000000"/>
            </a:solidFill>
            <a:miter lim="800000"/>
            <a:headEnd/>
            <a:tailEnd/>
          </a:ln>
        </p:spPr>
      </p:sp>
      <p:sp>
        <p:nvSpPr>
          <p:cNvPr id="18435" name="Rectangle 2">
            <a:extLst>
              <a:ext uri="{FF2B5EF4-FFF2-40B4-BE49-F238E27FC236}">
                <a16:creationId xmlns:a16="http://schemas.microsoft.com/office/drawing/2014/main" id="{6F2CA8C5-A3C5-6733-7800-C6CC769F36C9}"/>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1">
            <a:extLst>
              <a:ext uri="{FF2B5EF4-FFF2-40B4-BE49-F238E27FC236}">
                <a16:creationId xmlns:a16="http://schemas.microsoft.com/office/drawing/2014/main" id="{CF4BE38A-9AFB-FAE0-C39D-CEDC099BDEAE}"/>
              </a:ext>
            </a:extLst>
          </p:cNvPr>
          <p:cNvSpPr>
            <a:spLocks noGrp="1" noRot="1" noChangeAspect="1" noChangeArrowheads="1" noTextEdit="1"/>
          </p:cNvSpPr>
          <p:nvPr>
            <p:ph type="sldImg"/>
          </p:nvPr>
        </p:nvSpPr>
        <p:spPr>
          <a:xfrm>
            <a:off x="381000" y="695325"/>
            <a:ext cx="6096000" cy="3429000"/>
          </a:xfrm>
          <a:solidFill>
            <a:srgbClr val="FFFFFF"/>
          </a:solidFill>
          <a:ln>
            <a:solidFill>
              <a:srgbClr val="000000"/>
            </a:solidFill>
            <a:miter lim="800000"/>
            <a:headEnd/>
            <a:tailEnd/>
          </a:ln>
        </p:spPr>
      </p:sp>
      <p:sp>
        <p:nvSpPr>
          <p:cNvPr id="20483" name="Rectangle 2">
            <a:extLst>
              <a:ext uri="{FF2B5EF4-FFF2-40B4-BE49-F238E27FC236}">
                <a16:creationId xmlns:a16="http://schemas.microsoft.com/office/drawing/2014/main" id="{895088CC-DCF8-8F02-3DA5-AB4F20D5F272}"/>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1">
            <a:extLst>
              <a:ext uri="{FF2B5EF4-FFF2-40B4-BE49-F238E27FC236}">
                <a16:creationId xmlns:a16="http://schemas.microsoft.com/office/drawing/2014/main" id="{8EE90F93-A97C-0F7B-A702-1C32E5234B45}"/>
              </a:ext>
            </a:extLst>
          </p:cNvPr>
          <p:cNvSpPr>
            <a:spLocks noGrp="1" noRot="1" noChangeAspect="1" noChangeArrowheads="1" noTextEdit="1"/>
          </p:cNvSpPr>
          <p:nvPr>
            <p:ph type="sldImg"/>
          </p:nvPr>
        </p:nvSpPr>
        <p:spPr>
          <a:xfrm>
            <a:off x="381000" y="695325"/>
            <a:ext cx="6096000" cy="3429000"/>
          </a:xfrm>
          <a:solidFill>
            <a:srgbClr val="FFFFFF"/>
          </a:solidFill>
          <a:ln>
            <a:solidFill>
              <a:srgbClr val="000000"/>
            </a:solidFill>
            <a:miter lim="800000"/>
            <a:headEnd/>
            <a:tailEnd/>
          </a:ln>
        </p:spPr>
      </p:sp>
      <p:sp>
        <p:nvSpPr>
          <p:cNvPr id="22531" name="Rectangle 2">
            <a:extLst>
              <a:ext uri="{FF2B5EF4-FFF2-40B4-BE49-F238E27FC236}">
                <a16:creationId xmlns:a16="http://schemas.microsoft.com/office/drawing/2014/main" id="{D622C351-A47B-C7E6-310A-7A51CB29BBF3}"/>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1">
            <a:extLst>
              <a:ext uri="{FF2B5EF4-FFF2-40B4-BE49-F238E27FC236}">
                <a16:creationId xmlns:a16="http://schemas.microsoft.com/office/drawing/2014/main" id="{EBEC27FD-6830-AA7F-6D6F-292F8DCA837E}"/>
              </a:ext>
            </a:extLst>
          </p:cNvPr>
          <p:cNvSpPr>
            <a:spLocks noGrp="1" noRot="1" noChangeAspect="1" noChangeArrowheads="1" noTextEdit="1"/>
          </p:cNvSpPr>
          <p:nvPr>
            <p:ph type="sldImg"/>
          </p:nvPr>
        </p:nvSpPr>
        <p:spPr>
          <a:xfrm>
            <a:off x="381000" y="695325"/>
            <a:ext cx="6096000" cy="3429000"/>
          </a:xfrm>
          <a:solidFill>
            <a:srgbClr val="FFFFFF"/>
          </a:solidFill>
          <a:ln>
            <a:solidFill>
              <a:srgbClr val="000000"/>
            </a:solidFill>
            <a:miter lim="800000"/>
            <a:headEnd/>
            <a:tailEnd/>
          </a:ln>
        </p:spPr>
      </p:sp>
      <p:sp>
        <p:nvSpPr>
          <p:cNvPr id="24579" name="Rectangle 2">
            <a:extLst>
              <a:ext uri="{FF2B5EF4-FFF2-40B4-BE49-F238E27FC236}">
                <a16:creationId xmlns:a16="http://schemas.microsoft.com/office/drawing/2014/main" id="{E01AAFA7-0729-F171-7E5C-F8BF0DE3091D}"/>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1">
            <a:extLst>
              <a:ext uri="{FF2B5EF4-FFF2-40B4-BE49-F238E27FC236}">
                <a16:creationId xmlns:a16="http://schemas.microsoft.com/office/drawing/2014/main" id="{61166236-B2EE-62A3-B134-0A5D9584ACE9}"/>
              </a:ext>
            </a:extLst>
          </p:cNvPr>
          <p:cNvSpPr>
            <a:spLocks noGrp="1" noRot="1" noChangeAspect="1" noChangeArrowheads="1" noTextEdit="1"/>
          </p:cNvSpPr>
          <p:nvPr>
            <p:ph type="sldImg"/>
          </p:nvPr>
        </p:nvSpPr>
        <p:spPr>
          <a:xfrm>
            <a:off x="381000" y="695325"/>
            <a:ext cx="6096000" cy="3429000"/>
          </a:xfrm>
          <a:solidFill>
            <a:srgbClr val="FFFFFF"/>
          </a:solidFill>
          <a:ln>
            <a:solidFill>
              <a:srgbClr val="000000"/>
            </a:solidFill>
            <a:miter lim="800000"/>
            <a:headEnd/>
            <a:tailEnd/>
          </a:ln>
        </p:spPr>
      </p:sp>
      <p:sp>
        <p:nvSpPr>
          <p:cNvPr id="26627" name="Rectangle 2">
            <a:extLst>
              <a:ext uri="{FF2B5EF4-FFF2-40B4-BE49-F238E27FC236}">
                <a16:creationId xmlns:a16="http://schemas.microsoft.com/office/drawing/2014/main" id="{1BC86135-5D74-7F27-0BBF-0567B2133CCE}"/>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1">
            <a:extLst>
              <a:ext uri="{FF2B5EF4-FFF2-40B4-BE49-F238E27FC236}">
                <a16:creationId xmlns:a16="http://schemas.microsoft.com/office/drawing/2014/main" id="{4A999F08-6C7F-3969-4E80-45B73A1027AC}"/>
              </a:ext>
            </a:extLst>
          </p:cNvPr>
          <p:cNvSpPr>
            <a:spLocks noGrp="1" noRot="1" noChangeAspect="1" noChangeArrowheads="1" noTextEdit="1"/>
          </p:cNvSpPr>
          <p:nvPr>
            <p:ph type="sldImg"/>
          </p:nvPr>
        </p:nvSpPr>
        <p:spPr>
          <a:xfrm>
            <a:off x="381000" y="695325"/>
            <a:ext cx="6096000" cy="3429000"/>
          </a:xfrm>
          <a:solidFill>
            <a:srgbClr val="FFFFFF"/>
          </a:solidFill>
          <a:ln>
            <a:solidFill>
              <a:srgbClr val="000000"/>
            </a:solidFill>
            <a:miter lim="800000"/>
            <a:headEnd/>
            <a:tailEnd/>
          </a:ln>
        </p:spPr>
      </p:sp>
      <p:sp>
        <p:nvSpPr>
          <p:cNvPr id="28675" name="Rectangle 2">
            <a:extLst>
              <a:ext uri="{FF2B5EF4-FFF2-40B4-BE49-F238E27FC236}">
                <a16:creationId xmlns:a16="http://schemas.microsoft.com/office/drawing/2014/main" id="{967A7EEC-E70E-791F-2ACD-D7431F6C7756}"/>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7A003-CCAB-647E-9F8B-5E70EBB301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F1B5E37-5570-23B2-C37B-D509404CE9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D10DBB0-EB3C-C71D-48D3-3074EA4C2D94}"/>
              </a:ext>
            </a:extLst>
          </p:cNvPr>
          <p:cNvSpPr>
            <a:spLocks noGrp="1"/>
          </p:cNvSpPr>
          <p:nvPr>
            <p:ph type="dt" sz="half" idx="10"/>
          </p:nvPr>
        </p:nvSpPr>
        <p:spPr/>
        <p:txBody>
          <a:bodyPr/>
          <a:lstStyle/>
          <a:p>
            <a:fld id="{5B755F08-CE70-46E6-8A26-F389DD67825C}" type="datetimeFigureOut">
              <a:rPr lang="en-IN" smtClean="0"/>
              <a:t>13-02-2026</a:t>
            </a:fld>
            <a:endParaRPr lang="en-IN"/>
          </a:p>
        </p:txBody>
      </p:sp>
      <p:sp>
        <p:nvSpPr>
          <p:cNvPr id="5" name="Footer Placeholder 4">
            <a:extLst>
              <a:ext uri="{FF2B5EF4-FFF2-40B4-BE49-F238E27FC236}">
                <a16:creationId xmlns:a16="http://schemas.microsoft.com/office/drawing/2014/main" id="{891E8B68-D4A8-4D23-1C08-E1EDCB346A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C23C2A-CB38-3415-0BDF-E398659B302D}"/>
              </a:ext>
            </a:extLst>
          </p:cNvPr>
          <p:cNvSpPr>
            <a:spLocks noGrp="1"/>
          </p:cNvSpPr>
          <p:nvPr>
            <p:ph type="sldNum" sz="quarter" idx="12"/>
          </p:nvPr>
        </p:nvSpPr>
        <p:spPr/>
        <p:txBody>
          <a:bodyPr/>
          <a:lstStyle/>
          <a:p>
            <a:fld id="{E6388CC4-5205-436C-BD95-B162EDFBE8FE}" type="slidenum">
              <a:rPr lang="en-IN" smtClean="0"/>
              <a:t>‹#›</a:t>
            </a:fld>
            <a:endParaRPr lang="en-IN"/>
          </a:p>
        </p:txBody>
      </p:sp>
    </p:spTree>
    <p:extLst>
      <p:ext uri="{BB962C8B-B14F-4D97-AF65-F5344CB8AC3E}">
        <p14:creationId xmlns:p14="http://schemas.microsoft.com/office/powerpoint/2010/main" val="1968897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4CDF-EEF1-C2C9-54BB-B95A601365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FBE427-6925-937E-6834-EADAAB09F2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968CBE-7A88-76EA-2A9B-A13DA76B0064}"/>
              </a:ext>
            </a:extLst>
          </p:cNvPr>
          <p:cNvSpPr>
            <a:spLocks noGrp="1"/>
          </p:cNvSpPr>
          <p:nvPr>
            <p:ph type="dt" sz="half" idx="10"/>
          </p:nvPr>
        </p:nvSpPr>
        <p:spPr/>
        <p:txBody>
          <a:bodyPr/>
          <a:lstStyle/>
          <a:p>
            <a:fld id="{5B755F08-CE70-46E6-8A26-F389DD67825C}" type="datetimeFigureOut">
              <a:rPr lang="en-IN" smtClean="0"/>
              <a:t>13-02-2026</a:t>
            </a:fld>
            <a:endParaRPr lang="en-IN"/>
          </a:p>
        </p:txBody>
      </p:sp>
      <p:sp>
        <p:nvSpPr>
          <p:cNvPr id="5" name="Footer Placeholder 4">
            <a:extLst>
              <a:ext uri="{FF2B5EF4-FFF2-40B4-BE49-F238E27FC236}">
                <a16:creationId xmlns:a16="http://schemas.microsoft.com/office/drawing/2014/main" id="{65DED326-C148-DBA4-1796-5C456BDBB5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71E2DB-38F3-5B42-99F4-05C89A1AD7E0}"/>
              </a:ext>
            </a:extLst>
          </p:cNvPr>
          <p:cNvSpPr>
            <a:spLocks noGrp="1"/>
          </p:cNvSpPr>
          <p:nvPr>
            <p:ph type="sldNum" sz="quarter" idx="12"/>
          </p:nvPr>
        </p:nvSpPr>
        <p:spPr/>
        <p:txBody>
          <a:bodyPr/>
          <a:lstStyle/>
          <a:p>
            <a:fld id="{E6388CC4-5205-436C-BD95-B162EDFBE8FE}" type="slidenum">
              <a:rPr lang="en-IN" smtClean="0"/>
              <a:t>‹#›</a:t>
            </a:fld>
            <a:endParaRPr lang="en-IN"/>
          </a:p>
        </p:txBody>
      </p:sp>
    </p:spTree>
    <p:extLst>
      <p:ext uri="{BB962C8B-B14F-4D97-AF65-F5344CB8AC3E}">
        <p14:creationId xmlns:p14="http://schemas.microsoft.com/office/powerpoint/2010/main" val="2266069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AE8E8-0106-8776-E28D-CD2044517B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8DBC2BF-62A8-49C0-6740-D0C6D2C8D2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123EF4-9C2E-21E8-9C75-FDCEC0542C6A}"/>
              </a:ext>
            </a:extLst>
          </p:cNvPr>
          <p:cNvSpPr>
            <a:spLocks noGrp="1"/>
          </p:cNvSpPr>
          <p:nvPr>
            <p:ph type="dt" sz="half" idx="10"/>
          </p:nvPr>
        </p:nvSpPr>
        <p:spPr/>
        <p:txBody>
          <a:bodyPr/>
          <a:lstStyle/>
          <a:p>
            <a:fld id="{5B755F08-CE70-46E6-8A26-F389DD67825C}" type="datetimeFigureOut">
              <a:rPr lang="en-IN" smtClean="0"/>
              <a:t>13-02-2026</a:t>
            </a:fld>
            <a:endParaRPr lang="en-IN"/>
          </a:p>
        </p:txBody>
      </p:sp>
      <p:sp>
        <p:nvSpPr>
          <p:cNvPr id="5" name="Footer Placeholder 4">
            <a:extLst>
              <a:ext uri="{FF2B5EF4-FFF2-40B4-BE49-F238E27FC236}">
                <a16:creationId xmlns:a16="http://schemas.microsoft.com/office/drawing/2014/main" id="{769E0E22-D1AD-C088-3391-BE65D38835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1C3EC3-A84E-B4BF-6695-5A9F9DCF7EA1}"/>
              </a:ext>
            </a:extLst>
          </p:cNvPr>
          <p:cNvSpPr>
            <a:spLocks noGrp="1"/>
          </p:cNvSpPr>
          <p:nvPr>
            <p:ph type="sldNum" sz="quarter" idx="12"/>
          </p:nvPr>
        </p:nvSpPr>
        <p:spPr/>
        <p:txBody>
          <a:bodyPr/>
          <a:lstStyle/>
          <a:p>
            <a:fld id="{E6388CC4-5205-436C-BD95-B162EDFBE8FE}" type="slidenum">
              <a:rPr lang="en-IN" smtClean="0"/>
              <a:t>‹#›</a:t>
            </a:fld>
            <a:endParaRPr lang="en-IN"/>
          </a:p>
        </p:txBody>
      </p:sp>
    </p:spTree>
    <p:extLst>
      <p:ext uri="{BB962C8B-B14F-4D97-AF65-F5344CB8AC3E}">
        <p14:creationId xmlns:p14="http://schemas.microsoft.com/office/powerpoint/2010/main" val="3948416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40391-D84C-C1CC-AEBA-FAD81A2D2F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666F3B-11B5-62F3-EAE6-B0DAA056BF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D4C459-51DE-3566-C7E0-05539F45C6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3871897-F3A7-1062-EE6E-37BAAADBE81B}"/>
              </a:ext>
            </a:extLst>
          </p:cNvPr>
          <p:cNvSpPr>
            <a:spLocks noGrp="1"/>
          </p:cNvSpPr>
          <p:nvPr>
            <p:ph type="dt" sz="half" idx="10"/>
          </p:nvPr>
        </p:nvSpPr>
        <p:spPr/>
        <p:txBody>
          <a:bodyPr/>
          <a:lstStyle/>
          <a:p>
            <a:fld id="{5B755F08-CE70-46E6-8A26-F389DD67825C}" type="datetimeFigureOut">
              <a:rPr lang="en-IN" smtClean="0"/>
              <a:t>13-02-2026</a:t>
            </a:fld>
            <a:endParaRPr lang="en-IN"/>
          </a:p>
        </p:txBody>
      </p:sp>
      <p:sp>
        <p:nvSpPr>
          <p:cNvPr id="6" name="Footer Placeholder 5">
            <a:extLst>
              <a:ext uri="{FF2B5EF4-FFF2-40B4-BE49-F238E27FC236}">
                <a16:creationId xmlns:a16="http://schemas.microsoft.com/office/drawing/2014/main" id="{106E1312-3BD3-75AA-2489-B72402EC57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14EEF4-D2BA-00FE-0D8E-1199D9AF9901}"/>
              </a:ext>
            </a:extLst>
          </p:cNvPr>
          <p:cNvSpPr>
            <a:spLocks noGrp="1"/>
          </p:cNvSpPr>
          <p:nvPr>
            <p:ph type="sldNum" sz="quarter" idx="12"/>
          </p:nvPr>
        </p:nvSpPr>
        <p:spPr/>
        <p:txBody>
          <a:bodyPr/>
          <a:lstStyle/>
          <a:p>
            <a:fld id="{E6388CC4-5205-436C-BD95-B162EDFBE8FE}" type="slidenum">
              <a:rPr lang="en-IN" smtClean="0"/>
              <a:t>‹#›</a:t>
            </a:fld>
            <a:endParaRPr lang="en-IN"/>
          </a:p>
        </p:txBody>
      </p:sp>
    </p:spTree>
    <p:extLst>
      <p:ext uri="{BB962C8B-B14F-4D97-AF65-F5344CB8AC3E}">
        <p14:creationId xmlns:p14="http://schemas.microsoft.com/office/powerpoint/2010/main" val="3675180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BD8C0-DB19-1AB7-6AE7-85E8C47BDF0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BCBB37-399D-D6DF-D2B1-104C3507FB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0F111A-30E3-BCCF-AE14-94B0C651D7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F752714-8890-8466-B8F1-A7F35B2143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64E4B9-703C-0D4D-E3DE-8F423BEA92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E9C34A8-4A69-97C2-5080-C46E7CB6ED3B}"/>
              </a:ext>
            </a:extLst>
          </p:cNvPr>
          <p:cNvSpPr>
            <a:spLocks noGrp="1"/>
          </p:cNvSpPr>
          <p:nvPr>
            <p:ph type="dt" sz="half" idx="10"/>
          </p:nvPr>
        </p:nvSpPr>
        <p:spPr/>
        <p:txBody>
          <a:bodyPr/>
          <a:lstStyle/>
          <a:p>
            <a:fld id="{5B755F08-CE70-46E6-8A26-F389DD67825C}" type="datetimeFigureOut">
              <a:rPr lang="en-IN" smtClean="0"/>
              <a:t>13-02-2026</a:t>
            </a:fld>
            <a:endParaRPr lang="en-IN"/>
          </a:p>
        </p:txBody>
      </p:sp>
      <p:sp>
        <p:nvSpPr>
          <p:cNvPr id="8" name="Footer Placeholder 7">
            <a:extLst>
              <a:ext uri="{FF2B5EF4-FFF2-40B4-BE49-F238E27FC236}">
                <a16:creationId xmlns:a16="http://schemas.microsoft.com/office/drawing/2014/main" id="{BC9456C5-DCE5-A165-CAD6-8FFC9D70309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B41987F-0831-1592-7627-6DF09FBEE28C}"/>
              </a:ext>
            </a:extLst>
          </p:cNvPr>
          <p:cNvSpPr>
            <a:spLocks noGrp="1"/>
          </p:cNvSpPr>
          <p:nvPr>
            <p:ph type="sldNum" sz="quarter" idx="12"/>
          </p:nvPr>
        </p:nvSpPr>
        <p:spPr/>
        <p:txBody>
          <a:bodyPr/>
          <a:lstStyle/>
          <a:p>
            <a:fld id="{E6388CC4-5205-436C-BD95-B162EDFBE8FE}" type="slidenum">
              <a:rPr lang="en-IN" smtClean="0"/>
              <a:t>‹#›</a:t>
            </a:fld>
            <a:endParaRPr lang="en-IN"/>
          </a:p>
        </p:txBody>
      </p:sp>
    </p:spTree>
    <p:extLst>
      <p:ext uri="{BB962C8B-B14F-4D97-AF65-F5344CB8AC3E}">
        <p14:creationId xmlns:p14="http://schemas.microsoft.com/office/powerpoint/2010/main" val="1689272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E34AF-7878-5758-3D61-46BD9F89022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32AEF4E-F69B-CA45-A0D5-E76FE6328F2E}"/>
              </a:ext>
            </a:extLst>
          </p:cNvPr>
          <p:cNvSpPr>
            <a:spLocks noGrp="1"/>
          </p:cNvSpPr>
          <p:nvPr>
            <p:ph type="dt" sz="half" idx="10"/>
          </p:nvPr>
        </p:nvSpPr>
        <p:spPr/>
        <p:txBody>
          <a:bodyPr/>
          <a:lstStyle/>
          <a:p>
            <a:fld id="{5B755F08-CE70-46E6-8A26-F389DD67825C}" type="datetimeFigureOut">
              <a:rPr lang="en-IN" smtClean="0"/>
              <a:t>13-02-2026</a:t>
            </a:fld>
            <a:endParaRPr lang="en-IN"/>
          </a:p>
        </p:txBody>
      </p:sp>
      <p:sp>
        <p:nvSpPr>
          <p:cNvPr id="4" name="Footer Placeholder 3">
            <a:extLst>
              <a:ext uri="{FF2B5EF4-FFF2-40B4-BE49-F238E27FC236}">
                <a16:creationId xmlns:a16="http://schemas.microsoft.com/office/drawing/2014/main" id="{CC8605B3-177C-0AF5-0315-42F2D3922B3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DA2E237-EEA5-B645-4347-8F6171D73FF8}"/>
              </a:ext>
            </a:extLst>
          </p:cNvPr>
          <p:cNvSpPr>
            <a:spLocks noGrp="1"/>
          </p:cNvSpPr>
          <p:nvPr>
            <p:ph type="sldNum" sz="quarter" idx="12"/>
          </p:nvPr>
        </p:nvSpPr>
        <p:spPr/>
        <p:txBody>
          <a:bodyPr/>
          <a:lstStyle/>
          <a:p>
            <a:fld id="{E6388CC4-5205-436C-BD95-B162EDFBE8FE}" type="slidenum">
              <a:rPr lang="en-IN" smtClean="0"/>
              <a:t>‹#›</a:t>
            </a:fld>
            <a:endParaRPr lang="en-IN"/>
          </a:p>
        </p:txBody>
      </p:sp>
    </p:spTree>
    <p:extLst>
      <p:ext uri="{BB962C8B-B14F-4D97-AF65-F5344CB8AC3E}">
        <p14:creationId xmlns:p14="http://schemas.microsoft.com/office/powerpoint/2010/main" val="3433551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F1C92A-9972-6B6E-98F3-8A3683338401}"/>
              </a:ext>
            </a:extLst>
          </p:cNvPr>
          <p:cNvSpPr>
            <a:spLocks noGrp="1"/>
          </p:cNvSpPr>
          <p:nvPr>
            <p:ph type="dt" sz="half" idx="10"/>
          </p:nvPr>
        </p:nvSpPr>
        <p:spPr/>
        <p:txBody>
          <a:bodyPr/>
          <a:lstStyle/>
          <a:p>
            <a:fld id="{5B755F08-CE70-46E6-8A26-F389DD67825C}" type="datetimeFigureOut">
              <a:rPr lang="en-IN" smtClean="0"/>
              <a:t>13-02-2026</a:t>
            </a:fld>
            <a:endParaRPr lang="en-IN"/>
          </a:p>
        </p:txBody>
      </p:sp>
      <p:sp>
        <p:nvSpPr>
          <p:cNvPr id="3" name="Footer Placeholder 2">
            <a:extLst>
              <a:ext uri="{FF2B5EF4-FFF2-40B4-BE49-F238E27FC236}">
                <a16:creationId xmlns:a16="http://schemas.microsoft.com/office/drawing/2014/main" id="{9A63D62D-C812-5C3B-3571-973DE7C0062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9C4FF95-3702-B621-EDC1-D3561BB55092}"/>
              </a:ext>
            </a:extLst>
          </p:cNvPr>
          <p:cNvSpPr>
            <a:spLocks noGrp="1"/>
          </p:cNvSpPr>
          <p:nvPr>
            <p:ph type="sldNum" sz="quarter" idx="12"/>
          </p:nvPr>
        </p:nvSpPr>
        <p:spPr/>
        <p:txBody>
          <a:bodyPr/>
          <a:lstStyle/>
          <a:p>
            <a:fld id="{E6388CC4-5205-436C-BD95-B162EDFBE8FE}" type="slidenum">
              <a:rPr lang="en-IN" smtClean="0"/>
              <a:t>‹#›</a:t>
            </a:fld>
            <a:endParaRPr lang="en-IN"/>
          </a:p>
        </p:txBody>
      </p:sp>
    </p:spTree>
    <p:extLst>
      <p:ext uri="{BB962C8B-B14F-4D97-AF65-F5344CB8AC3E}">
        <p14:creationId xmlns:p14="http://schemas.microsoft.com/office/powerpoint/2010/main" val="3238906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1770F-9878-5ED0-C9CA-39C5EF07E4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B79D89-41F2-CA2F-BAA0-943B231D6A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752662E-3FEE-B9EC-CFEB-4BED9E3CBE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26B020-643D-0A12-7A0D-BB128A1C7EBE}"/>
              </a:ext>
            </a:extLst>
          </p:cNvPr>
          <p:cNvSpPr>
            <a:spLocks noGrp="1"/>
          </p:cNvSpPr>
          <p:nvPr>
            <p:ph type="dt" sz="half" idx="10"/>
          </p:nvPr>
        </p:nvSpPr>
        <p:spPr/>
        <p:txBody>
          <a:bodyPr/>
          <a:lstStyle/>
          <a:p>
            <a:fld id="{5B755F08-CE70-46E6-8A26-F389DD67825C}" type="datetimeFigureOut">
              <a:rPr lang="en-IN" smtClean="0"/>
              <a:t>13-02-2026</a:t>
            </a:fld>
            <a:endParaRPr lang="en-IN"/>
          </a:p>
        </p:txBody>
      </p:sp>
      <p:sp>
        <p:nvSpPr>
          <p:cNvPr id="6" name="Footer Placeholder 5">
            <a:extLst>
              <a:ext uri="{FF2B5EF4-FFF2-40B4-BE49-F238E27FC236}">
                <a16:creationId xmlns:a16="http://schemas.microsoft.com/office/drawing/2014/main" id="{DA19906E-300F-8EB2-77B7-4E03BE39BD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06F8E9-1131-87C1-43F2-B9BAD1AAC31E}"/>
              </a:ext>
            </a:extLst>
          </p:cNvPr>
          <p:cNvSpPr>
            <a:spLocks noGrp="1"/>
          </p:cNvSpPr>
          <p:nvPr>
            <p:ph type="sldNum" sz="quarter" idx="12"/>
          </p:nvPr>
        </p:nvSpPr>
        <p:spPr/>
        <p:txBody>
          <a:bodyPr/>
          <a:lstStyle/>
          <a:p>
            <a:fld id="{E6388CC4-5205-436C-BD95-B162EDFBE8FE}" type="slidenum">
              <a:rPr lang="en-IN" smtClean="0"/>
              <a:t>‹#›</a:t>
            </a:fld>
            <a:endParaRPr lang="en-IN"/>
          </a:p>
        </p:txBody>
      </p:sp>
    </p:spTree>
    <p:extLst>
      <p:ext uri="{BB962C8B-B14F-4D97-AF65-F5344CB8AC3E}">
        <p14:creationId xmlns:p14="http://schemas.microsoft.com/office/powerpoint/2010/main" val="1594707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FA659-5D65-3D05-6735-BB7ACEF6EF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4CF4998-8054-16FE-6464-3DA31E2B85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D4EDF29-45ED-F3DA-01E3-33EA4F9764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8BF575-AED0-AE74-BA58-B2D8EBD7F4C6}"/>
              </a:ext>
            </a:extLst>
          </p:cNvPr>
          <p:cNvSpPr>
            <a:spLocks noGrp="1"/>
          </p:cNvSpPr>
          <p:nvPr>
            <p:ph type="dt" sz="half" idx="10"/>
          </p:nvPr>
        </p:nvSpPr>
        <p:spPr/>
        <p:txBody>
          <a:bodyPr/>
          <a:lstStyle/>
          <a:p>
            <a:fld id="{5B755F08-CE70-46E6-8A26-F389DD67825C}" type="datetimeFigureOut">
              <a:rPr lang="en-IN" smtClean="0"/>
              <a:t>13-02-2026</a:t>
            </a:fld>
            <a:endParaRPr lang="en-IN"/>
          </a:p>
        </p:txBody>
      </p:sp>
      <p:sp>
        <p:nvSpPr>
          <p:cNvPr id="6" name="Footer Placeholder 5">
            <a:extLst>
              <a:ext uri="{FF2B5EF4-FFF2-40B4-BE49-F238E27FC236}">
                <a16:creationId xmlns:a16="http://schemas.microsoft.com/office/drawing/2014/main" id="{99945F1A-8C18-4D41-0DFE-A1E214C06F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1A2040-688F-326E-64B2-B5AA047CC66A}"/>
              </a:ext>
            </a:extLst>
          </p:cNvPr>
          <p:cNvSpPr>
            <a:spLocks noGrp="1"/>
          </p:cNvSpPr>
          <p:nvPr>
            <p:ph type="sldNum" sz="quarter" idx="12"/>
          </p:nvPr>
        </p:nvSpPr>
        <p:spPr/>
        <p:txBody>
          <a:bodyPr/>
          <a:lstStyle/>
          <a:p>
            <a:fld id="{E6388CC4-5205-436C-BD95-B162EDFBE8FE}" type="slidenum">
              <a:rPr lang="en-IN" smtClean="0"/>
              <a:t>‹#›</a:t>
            </a:fld>
            <a:endParaRPr lang="en-IN"/>
          </a:p>
        </p:txBody>
      </p:sp>
    </p:spTree>
    <p:extLst>
      <p:ext uri="{BB962C8B-B14F-4D97-AF65-F5344CB8AC3E}">
        <p14:creationId xmlns:p14="http://schemas.microsoft.com/office/powerpoint/2010/main" val="3923990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03A15-58C3-B32C-0645-FCF10557731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00A28EB-9485-D12B-AAD3-325B655C22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9B497D-EDB6-58EC-DBE8-932CFAC7B349}"/>
              </a:ext>
            </a:extLst>
          </p:cNvPr>
          <p:cNvSpPr>
            <a:spLocks noGrp="1"/>
          </p:cNvSpPr>
          <p:nvPr>
            <p:ph type="dt" sz="half" idx="10"/>
          </p:nvPr>
        </p:nvSpPr>
        <p:spPr/>
        <p:txBody>
          <a:bodyPr/>
          <a:lstStyle/>
          <a:p>
            <a:fld id="{5B755F08-CE70-46E6-8A26-F389DD67825C}" type="datetimeFigureOut">
              <a:rPr lang="en-IN" smtClean="0"/>
              <a:t>13-02-2026</a:t>
            </a:fld>
            <a:endParaRPr lang="en-IN"/>
          </a:p>
        </p:txBody>
      </p:sp>
      <p:sp>
        <p:nvSpPr>
          <p:cNvPr id="5" name="Footer Placeholder 4">
            <a:extLst>
              <a:ext uri="{FF2B5EF4-FFF2-40B4-BE49-F238E27FC236}">
                <a16:creationId xmlns:a16="http://schemas.microsoft.com/office/drawing/2014/main" id="{50F1BF06-189C-E71D-1D97-0235C1B170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252338-3621-12AC-C067-CF3742C39BD3}"/>
              </a:ext>
            </a:extLst>
          </p:cNvPr>
          <p:cNvSpPr>
            <a:spLocks noGrp="1"/>
          </p:cNvSpPr>
          <p:nvPr>
            <p:ph type="sldNum" sz="quarter" idx="12"/>
          </p:nvPr>
        </p:nvSpPr>
        <p:spPr/>
        <p:txBody>
          <a:bodyPr/>
          <a:lstStyle/>
          <a:p>
            <a:fld id="{E6388CC4-5205-436C-BD95-B162EDFBE8FE}" type="slidenum">
              <a:rPr lang="en-IN" smtClean="0"/>
              <a:t>‹#›</a:t>
            </a:fld>
            <a:endParaRPr lang="en-IN"/>
          </a:p>
        </p:txBody>
      </p:sp>
    </p:spTree>
    <p:extLst>
      <p:ext uri="{BB962C8B-B14F-4D97-AF65-F5344CB8AC3E}">
        <p14:creationId xmlns:p14="http://schemas.microsoft.com/office/powerpoint/2010/main" val="2689120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59950B-3366-7528-17D7-3D6263F51B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D5C8AE-0136-EBA0-35A3-7972A1494D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B87B12-931C-59DD-6980-C0C1E8E64203}"/>
              </a:ext>
            </a:extLst>
          </p:cNvPr>
          <p:cNvSpPr>
            <a:spLocks noGrp="1"/>
          </p:cNvSpPr>
          <p:nvPr>
            <p:ph type="dt" sz="half" idx="10"/>
          </p:nvPr>
        </p:nvSpPr>
        <p:spPr/>
        <p:txBody>
          <a:bodyPr/>
          <a:lstStyle/>
          <a:p>
            <a:fld id="{5B755F08-CE70-46E6-8A26-F389DD67825C}" type="datetimeFigureOut">
              <a:rPr lang="en-IN" smtClean="0"/>
              <a:t>13-02-2026</a:t>
            </a:fld>
            <a:endParaRPr lang="en-IN"/>
          </a:p>
        </p:txBody>
      </p:sp>
      <p:sp>
        <p:nvSpPr>
          <p:cNvPr id="5" name="Footer Placeholder 4">
            <a:extLst>
              <a:ext uri="{FF2B5EF4-FFF2-40B4-BE49-F238E27FC236}">
                <a16:creationId xmlns:a16="http://schemas.microsoft.com/office/drawing/2014/main" id="{4281B7B4-E2D0-AFF0-FB7A-11B8DEA54D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57EBE7-FA40-C9EA-D239-13184FFDCA55}"/>
              </a:ext>
            </a:extLst>
          </p:cNvPr>
          <p:cNvSpPr>
            <a:spLocks noGrp="1"/>
          </p:cNvSpPr>
          <p:nvPr>
            <p:ph type="sldNum" sz="quarter" idx="12"/>
          </p:nvPr>
        </p:nvSpPr>
        <p:spPr/>
        <p:txBody>
          <a:bodyPr/>
          <a:lstStyle/>
          <a:p>
            <a:fld id="{E6388CC4-5205-436C-BD95-B162EDFBE8FE}" type="slidenum">
              <a:rPr lang="en-IN" smtClean="0"/>
              <a:t>‹#›</a:t>
            </a:fld>
            <a:endParaRPr lang="en-IN"/>
          </a:p>
        </p:txBody>
      </p:sp>
    </p:spTree>
    <p:extLst>
      <p:ext uri="{BB962C8B-B14F-4D97-AF65-F5344CB8AC3E}">
        <p14:creationId xmlns:p14="http://schemas.microsoft.com/office/powerpoint/2010/main" val="1729536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963A39-4186-A5B1-3D28-8DC4DE2799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B69311-C4A4-3913-E92A-C78B7C1D07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470DC1-515E-F838-867F-77DFBEE382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755F08-CE70-46E6-8A26-F389DD67825C}" type="datetimeFigureOut">
              <a:rPr lang="en-IN" smtClean="0"/>
              <a:t>13-02-2026</a:t>
            </a:fld>
            <a:endParaRPr lang="en-IN"/>
          </a:p>
        </p:txBody>
      </p:sp>
      <p:sp>
        <p:nvSpPr>
          <p:cNvPr id="5" name="Footer Placeholder 4">
            <a:extLst>
              <a:ext uri="{FF2B5EF4-FFF2-40B4-BE49-F238E27FC236}">
                <a16:creationId xmlns:a16="http://schemas.microsoft.com/office/drawing/2014/main" id="{4B82B9F7-7BF8-08D2-404F-1394A8FD51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549DFED-7C56-8621-E741-243FF9717B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388CC4-5205-436C-BD95-B162EDFBE8FE}" type="slidenum">
              <a:rPr lang="en-IN" smtClean="0"/>
              <a:t>‹#›</a:t>
            </a:fld>
            <a:endParaRPr lang="en-IN"/>
          </a:p>
        </p:txBody>
      </p:sp>
    </p:spTree>
    <p:extLst>
      <p:ext uri="{BB962C8B-B14F-4D97-AF65-F5344CB8AC3E}">
        <p14:creationId xmlns:p14="http://schemas.microsoft.com/office/powerpoint/2010/main" val="35024524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chemistry/water-pollution-control/" TargetMode="External"/><Relationship Id="rId2" Type="http://schemas.openxmlformats.org/officeDocument/2006/relationships/hyperlink" Target="https://www.geeksforgeeks.org/air-pollution/" TargetMode="External"/><Relationship Id="rId1" Type="http://schemas.openxmlformats.org/officeDocument/2006/relationships/slideLayout" Target="../slideLayouts/slideLayout7.xml"/><Relationship Id="rId4" Type="http://schemas.openxmlformats.org/officeDocument/2006/relationships/hyperlink" Target="https://www.geeksforgeeks.org/biology/deforestation-and-its-causes-class-8-biolog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B2E0E-2E4B-57C9-8DA8-695947EE3CFE}"/>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174ED69C-F64D-F0CB-B820-433784828FCF}"/>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24089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1B1D71-0FE8-C634-5B07-D02C9BFCF7D9}"/>
              </a:ext>
            </a:extLst>
          </p:cNvPr>
          <p:cNvSpPr txBox="1"/>
          <p:nvPr/>
        </p:nvSpPr>
        <p:spPr>
          <a:xfrm>
            <a:off x="377072" y="305068"/>
            <a:ext cx="11642103" cy="6247864"/>
          </a:xfrm>
          <a:prstGeom prst="rect">
            <a:avLst/>
          </a:prstGeom>
          <a:solidFill>
            <a:schemeClr val="bg1"/>
          </a:solidFill>
        </p:spPr>
        <p:txBody>
          <a:bodyPr wrap="square">
            <a:spAutoFit/>
          </a:bodyPr>
          <a:lstStyle/>
          <a:p>
            <a:pPr algn="ctr"/>
            <a:r>
              <a:rPr lang="en-US" sz="4000" dirty="0">
                <a:latin typeface="Times New Roman" panose="02020603050405020304" pitchFamily="18" charset="0"/>
                <a:cs typeface="Times New Roman" panose="02020603050405020304" pitchFamily="18" charset="0"/>
              </a:rPr>
              <a:t>Unit II (6 lectures)</a:t>
            </a:r>
          </a:p>
          <a:p>
            <a:r>
              <a:rPr lang="en-US" sz="4000" dirty="0">
                <a:latin typeface="Times New Roman" panose="02020603050405020304" pitchFamily="18" charset="0"/>
                <a:cs typeface="Times New Roman" panose="02020603050405020304" pitchFamily="18" charset="0"/>
              </a:rPr>
              <a:t>Natural resources and ecosystem : introduction to natural resources, renewable and non-renewable resources, land, water, forest and energy resources- their associated problems and remedial measures, role of individual in conservation of natural resources, ecosystem: structure and function of ecosystem, types of ecosystem, energy flow in an ecosystem: food chains and food webs, ecological pyramids, ecological succession.</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4337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CF163-CB51-4088-4072-06B971CC62D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D0C6144-1AA9-42A0-B70B-71C9708093F1}"/>
              </a:ext>
            </a:extLst>
          </p:cNvPr>
          <p:cNvSpPr txBox="1"/>
          <p:nvPr/>
        </p:nvSpPr>
        <p:spPr>
          <a:xfrm>
            <a:off x="370002" y="461443"/>
            <a:ext cx="11821998" cy="5000856"/>
          </a:xfrm>
          <a:prstGeom prst="rect">
            <a:avLst/>
          </a:prstGeom>
          <a:noFill/>
        </p:spPr>
        <p:txBody>
          <a:bodyPr wrap="square">
            <a:spAutoFit/>
          </a:bodyPr>
          <a:lstStyle/>
          <a:p>
            <a:pPr>
              <a:lnSpc>
                <a:spcPct val="150000"/>
              </a:lnSpc>
            </a:pPr>
            <a:r>
              <a:rPr lang="en-US" sz="4800" b="1" dirty="0">
                <a:solidFill>
                  <a:srgbClr val="FF0000"/>
                </a:solidFill>
                <a:latin typeface="Times New Roman" panose="02020603050405020304" pitchFamily="18" charset="0"/>
                <a:cs typeface="Times New Roman" panose="02020603050405020304" pitchFamily="18" charset="0"/>
              </a:rPr>
              <a:t>Natural resources </a:t>
            </a:r>
          </a:p>
          <a:p>
            <a:pPr marL="457200" indent="-457200">
              <a:lnSpc>
                <a:spcPct val="150000"/>
              </a:lnSpc>
              <a:buFont typeface="Wingdings" panose="05000000000000000000" pitchFamily="2" charset="2"/>
              <a:buChar char="Ø"/>
            </a:pPr>
            <a:r>
              <a:rPr lang="en-US" sz="2800" b="1" dirty="0">
                <a:solidFill>
                  <a:schemeClr val="accent5">
                    <a:lumMod val="75000"/>
                  </a:schemeClr>
                </a:solidFill>
                <a:latin typeface="Times New Roman" panose="02020603050405020304" pitchFamily="18" charset="0"/>
                <a:cs typeface="Times New Roman" panose="02020603050405020304" pitchFamily="18" charset="0"/>
              </a:rPr>
              <a:t>are resources that are drawn from nature and used with few modifications. </a:t>
            </a:r>
          </a:p>
          <a:p>
            <a:pPr marL="457200" indent="-457200">
              <a:lnSpc>
                <a:spcPct val="150000"/>
              </a:lnSpc>
              <a:buFont typeface="Wingdings" panose="05000000000000000000" pitchFamily="2" charset="2"/>
              <a:buChar char="Ø"/>
            </a:pPr>
            <a:r>
              <a:rPr lang="en-US" sz="2800" b="1" dirty="0">
                <a:solidFill>
                  <a:srgbClr val="0000FF"/>
                </a:solidFill>
                <a:latin typeface="Times New Roman" panose="02020603050405020304" pitchFamily="18" charset="0"/>
                <a:cs typeface="Times New Roman" panose="02020603050405020304" pitchFamily="18" charset="0"/>
              </a:rPr>
              <a:t>This includes the sources of valued characteristics such as commercial and industrial use, aesthetic value, scientific interest, and cultural value. </a:t>
            </a:r>
          </a:p>
          <a:p>
            <a:pPr marL="457200" indent="-457200">
              <a:lnSpc>
                <a:spcPct val="150000"/>
              </a:lnSpc>
              <a:buFont typeface="Wingdings" panose="05000000000000000000" pitchFamily="2" charset="2"/>
              <a:buChar char="Ø"/>
            </a:pPr>
            <a:r>
              <a:rPr lang="en-US" sz="2800" b="1" dirty="0">
                <a:solidFill>
                  <a:srgbClr val="002060"/>
                </a:solidFill>
                <a:latin typeface="Times New Roman" panose="02020603050405020304" pitchFamily="18" charset="0"/>
                <a:cs typeface="Times New Roman" panose="02020603050405020304" pitchFamily="18" charset="0"/>
              </a:rPr>
              <a:t>On Earth, it includes sunlight, atmosphere, water, land, all minerals along with all vegetation, and wildlife.</a:t>
            </a:r>
            <a:endParaRPr lang="en-IN" sz="28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3371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C4C983F-905F-360E-BB35-78B259D1C6FC}"/>
              </a:ext>
            </a:extLst>
          </p:cNvPr>
          <p:cNvPicPr>
            <a:picLocks noChangeAspect="1"/>
          </p:cNvPicPr>
          <p:nvPr/>
        </p:nvPicPr>
        <p:blipFill>
          <a:blip r:embed="rId2"/>
          <a:stretch>
            <a:fillRect/>
          </a:stretch>
        </p:blipFill>
        <p:spPr>
          <a:xfrm>
            <a:off x="970961" y="-229217"/>
            <a:ext cx="9653047" cy="6890278"/>
          </a:xfrm>
          <a:prstGeom prst="rect">
            <a:avLst/>
          </a:prstGeom>
        </p:spPr>
      </p:pic>
    </p:spTree>
    <p:extLst>
      <p:ext uri="{BB962C8B-B14F-4D97-AF65-F5344CB8AC3E}">
        <p14:creationId xmlns:p14="http://schemas.microsoft.com/office/powerpoint/2010/main" val="1353947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88BE7-83C8-EE6B-514C-D9A6BDA07CF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74D16E5-5550-7E10-D9E0-BF7B6464A385}"/>
              </a:ext>
            </a:extLst>
          </p:cNvPr>
          <p:cNvSpPr txBox="1"/>
          <p:nvPr/>
        </p:nvSpPr>
        <p:spPr>
          <a:xfrm>
            <a:off x="4267131" y="211444"/>
            <a:ext cx="2154757" cy="523220"/>
          </a:xfrm>
          <a:prstGeom prst="rect">
            <a:avLst/>
          </a:prstGeom>
          <a:solidFill>
            <a:schemeClr val="accent1">
              <a:lumMod val="40000"/>
              <a:lumOff val="60000"/>
            </a:schemeClr>
          </a:solidFill>
        </p:spPr>
        <p:txBody>
          <a:bodyPr wrap="none" rtlCol="0">
            <a:spAutoFit/>
          </a:bodyPr>
          <a:lstStyle/>
          <a:p>
            <a:r>
              <a:rPr lang="en-US" sz="2800" dirty="0">
                <a:latin typeface="Times New Roman" panose="02020603050405020304" pitchFamily="18" charset="0"/>
                <a:cs typeface="Times New Roman" panose="02020603050405020304" pitchFamily="18" charset="0"/>
              </a:rPr>
              <a:t>Classification</a:t>
            </a:r>
          </a:p>
        </p:txBody>
      </p:sp>
      <p:sp>
        <p:nvSpPr>
          <p:cNvPr id="7" name="TextBox 6">
            <a:extLst>
              <a:ext uri="{FF2B5EF4-FFF2-40B4-BE49-F238E27FC236}">
                <a16:creationId xmlns:a16="http://schemas.microsoft.com/office/drawing/2014/main" id="{46C97FF0-DBF2-6433-7B38-3EF3978EBFEF}"/>
              </a:ext>
            </a:extLst>
          </p:cNvPr>
          <p:cNvSpPr txBox="1"/>
          <p:nvPr/>
        </p:nvSpPr>
        <p:spPr>
          <a:xfrm>
            <a:off x="3810886" y="1655136"/>
            <a:ext cx="3067246" cy="523220"/>
          </a:xfrm>
          <a:prstGeom prst="rect">
            <a:avLst/>
          </a:prstGeom>
          <a:noFill/>
          <a:ln w="57150">
            <a:solidFill>
              <a:srgbClr val="FF0000"/>
            </a:solidFill>
          </a:ln>
        </p:spPr>
        <p:txBody>
          <a:bodyPr wrap="square">
            <a:spAutoFit/>
          </a:bodyPr>
          <a:lstStyle/>
          <a:p>
            <a:r>
              <a:rPr lang="en-US" sz="2800" dirty="0">
                <a:latin typeface="Times New Roman" panose="02020603050405020304" pitchFamily="18" charset="0"/>
                <a:cs typeface="Times New Roman" panose="02020603050405020304" pitchFamily="18" charset="0"/>
              </a:rPr>
              <a:t>the source of origin</a:t>
            </a:r>
            <a:endParaRPr lang="en-IN" sz="2800" dirty="0">
              <a:latin typeface="Times New Roman" panose="02020603050405020304" pitchFamily="18" charset="0"/>
              <a:cs typeface="Times New Roman" panose="02020603050405020304" pitchFamily="18" charset="0"/>
            </a:endParaRPr>
          </a:p>
        </p:txBody>
      </p:sp>
      <p:cxnSp>
        <p:nvCxnSpPr>
          <p:cNvPr id="15" name="Straight Arrow Connector 14">
            <a:extLst>
              <a:ext uri="{FF2B5EF4-FFF2-40B4-BE49-F238E27FC236}">
                <a16:creationId xmlns:a16="http://schemas.microsoft.com/office/drawing/2014/main" id="{BC31AFEE-50D8-3FF1-5C70-147569CEB2E9}"/>
              </a:ext>
            </a:extLst>
          </p:cNvPr>
          <p:cNvCxnSpPr>
            <a:cxnSpLocks/>
          </p:cNvCxnSpPr>
          <p:nvPr/>
        </p:nvCxnSpPr>
        <p:spPr>
          <a:xfrm>
            <a:off x="7283822" y="3939492"/>
            <a:ext cx="955205" cy="119308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Straight Arrow Connector 16">
            <a:extLst>
              <a:ext uri="{FF2B5EF4-FFF2-40B4-BE49-F238E27FC236}">
                <a16:creationId xmlns:a16="http://schemas.microsoft.com/office/drawing/2014/main" id="{81968233-8A0E-0164-756C-F2C580DE1BAC}"/>
              </a:ext>
            </a:extLst>
          </p:cNvPr>
          <p:cNvCxnSpPr>
            <a:cxnSpLocks/>
          </p:cNvCxnSpPr>
          <p:nvPr/>
        </p:nvCxnSpPr>
        <p:spPr>
          <a:xfrm>
            <a:off x="5283675" y="734664"/>
            <a:ext cx="0" cy="8923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C5045DCE-D39D-4B12-D2BB-3F2C067F5AF8}"/>
              </a:ext>
            </a:extLst>
          </p:cNvPr>
          <p:cNvCxnSpPr>
            <a:cxnSpLocks/>
          </p:cNvCxnSpPr>
          <p:nvPr/>
        </p:nvCxnSpPr>
        <p:spPr>
          <a:xfrm>
            <a:off x="5986021" y="2229762"/>
            <a:ext cx="886485" cy="112076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5D6C8040-77FC-F4B6-0A81-2C43A64BE88D}"/>
              </a:ext>
            </a:extLst>
          </p:cNvPr>
          <p:cNvCxnSpPr>
            <a:cxnSpLocks/>
          </p:cNvCxnSpPr>
          <p:nvPr/>
        </p:nvCxnSpPr>
        <p:spPr>
          <a:xfrm flipH="1">
            <a:off x="4524866" y="2164613"/>
            <a:ext cx="433633" cy="83311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E1448398-57EC-33AD-ACDE-1F626A4ECDF9}"/>
              </a:ext>
            </a:extLst>
          </p:cNvPr>
          <p:cNvSpPr txBox="1"/>
          <p:nvPr/>
        </p:nvSpPr>
        <p:spPr>
          <a:xfrm>
            <a:off x="2903456" y="2997724"/>
            <a:ext cx="2380219" cy="707886"/>
          </a:xfrm>
          <a:prstGeom prst="rect">
            <a:avLst/>
          </a:prstGeom>
          <a:solidFill>
            <a:schemeClr val="accent6">
              <a:lumMod val="60000"/>
              <a:lumOff val="40000"/>
            </a:schemeClr>
          </a:solidFill>
          <a:ln w="38100">
            <a:solidFill>
              <a:schemeClr val="accent6">
                <a:lumMod val="50000"/>
              </a:schemeClr>
            </a:solidFill>
          </a:ln>
        </p:spPr>
        <p:txBody>
          <a:bodyPr wrap="square">
            <a:spAutoFit/>
          </a:bodyPr>
          <a:lstStyle/>
          <a:p>
            <a:r>
              <a:rPr lang="en-US" sz="4000" dirty="0">
                <a:latin typeface="Times New Roman" panose="02020603050405020304" pitchFamily="18" charset="0"/>
                <a:cs typeface="Times New Roman" panose="02020603050405020304" pitchFamily="18" charset="0"/>
              </a:rPr>
              <a:t>Biotic</a:t>
            </a:r>
            <a:endParaRPr lang="en-IN" sz="4000" dirty="0"/>
          </a:p>
        </p:txBody>
      </p:sp>
      <p:sp>
        <p:nvSpPr>
          <p:cNvPr id="26" name="TextBox 25">
            <a:extLst>
              <a:ext uri="{FF2B5EF4-FFF2-40B4-BE49-F238E27FC236}">
                <a16:creationId xmlns:a16="http://schemas.microsoft.com/office/drawing/2014/main" id="{0B0CE637-6FDF-2765-DA16-F0087360292E}"/>
              </a:ext>
            </a:extLst>
          </p:cNvPr>
          <p:cNvSpPr txBox="1"/>
          <p:nvPr/>
        </p:nvSpPr>
        <p:spPr>
          <a:xfrm>
            <a:off x="6413458" y="3337548"/>
            <a:ext cx="1740728" cy="584775"/>
          </a:xfrm>
          <a:prstGeom prst="rect">
            <a:avLst/>
          </a:prstGeom>
          <a:solidFill>
            <a:schemeClr val="accent4">
              <a:lumMod val="60000"/>
              <a:lumOff val="40000"/>
            </a:schemeClr>
          </a:solidFill>
          <a:ln w="38100">
            <a:solidFill>
              <a:schemeClr val="tx1"/>
            </a:solidFill>
          </a:ln>
        </p:spPr>
        <p:txBody>
          <a:bodyPr wrap="square">
            <a:spAutoFit/>
          </a:bodyPr>
          <a:lstStyle/>
          <a:p>
            <a:r>
              <a:rPr lang="en-US" sz="3200" dirty="0">
                <a:latin typeface="Times New Roman" panose="02020603050405020304" pitchFamily="18" charset="0"/>
                <a:cs typeface="Times New Roman" panose="02020603050405020304" pitchFamily="18" charset="0"/>
              </a:rPr>
              <a:t>Abiotic</a:t>
            </a:r>
            <a:endParaRPr lang="en-IN" sz="3200" dirty="0"/>
          </a:p>
        </p:txBody>
      </p:sp>
      <p:sp>
        <p:nvSpPr>
          <p:cNvPr id="4" name="TextBox 3">
            <a:extLst>
              <a:ext uri="{FF2B5EF4-FFF2-40B4-BE49-F238E27FC236}">
                <a16:creationId xmlns:a16="http://schemas.microsoft.com/office/drawing/2014/main" id="{D662214A-41EF-882A-DB0A-C3C8E699303F}"/>
              </a:ext>
            </a:extLst>
          </p:cNvPr>
          <p:cNvSpPr txBox="1"/>
          <p:nvPr/>
        </p:nvSpPr>
        <p:spPr>
          <a:xfrm>
            <a:off x="1054236" y="4982394"/>
            <a:ext cx="3546044" cy="1569660"/>
          </a:xfrm>
          <a:prstGeom prst="rect">
            <a:avLst/>
          </a:prstGeom>
          <a:solidFill>
            <a:schemeClr val="accent1">
              <a:lumMod val="40000"/>
              <a:lumOff val="60000"/>
            </a:schemeClr>
          </a:solidFill>
          <a:ln w="57150">
            <a:solidFill>
              <a:schemeClr val="accent1">
                <a:lumMod val="50000"/>
              </a:schemeClr>
            </a:solidFill>
          </a:ln>
        </p:spPr>
        <p:txBody>
          <a:bodyPr wrap="square">
            <a:spAutoFit/>
          </a:bodyPr>
          <a:lstStyle/>
          <a:p>
            <a:r>
              <a:rPr lang="en-US" sz="3200" dirty="0">
                <a:latin typeface="Times New Roman" panose="02020603050405020304" pitchFamily="18" charset="0"/>
                <a:cs typeface="Times New Roman" panose="02020603050405020304" pitchFamily="18" charset="0"/>
              </a:rPr>
              <a:t>flora and fauna, fisheries, livestock, Fossil fuels </a:t>
            </a:r>
            <a:endParaRPr lang="en-IN" sz="3200" dirty="0"/>
          </a:p>
        </p:txBody>
      </p:sp>
      <p:sp>
        <p:nvSpPr>
          <p:cNvPr id="8" name="TextBox 7">
            <a:extLst>
              <a:ext uri="{FF2B5EF4-FFF2-40B4-BE49-F238E27FC236}">
                <a16:creationId xmlns:a16="http://schemas.microsoft.com/office/drawing/2014/main" id="{CDFAE8EB-A4DB-26D2-D3C9-5F26174DE84B}"/>
              </a:ext>
            </a:extLst>
          </p:cNvPr>
          <p:cNvSpPr txBox="1"/>
          <p:nvPr/>
        </p:nvSpPr>
        <p:spPr>
          <a:xfrm>
            <a:off x="7015811" y="5132576"/>
            <a:ext cx="3985269" cy="954107"/>
          </a:xfrm>
          <a:prstGeom prst="rect">
            <a:avLst/>
          </a:prstGeom>
          <a:solidFill>
            <a:schemeClr val="accent2">
              <a:lumMod val="40000"/>
              <a:lumOff val="60000"/>
            </a:schemeClr>
          </a:solidFill>
          <a:ln w="57150">
            <a:solidFill>
              <a:srgbClr val="AF0921"/>
            </a:solidFill>
          </a:ln>
        </p:spPr>
        <p:txBody>
          <a:bodyPr wrap="square">
            <a:spAutoFit/>
          </a:bodyPr>
          <a:lstStyle/>
          <a:p>
            <a:r>
              <a:rPr lang="en-IN" sz="2800" b="0" i="0" dirty="0">
                <a:solidFill>
                  <a:srgbClr val="202122"/>
                </a:solidFill>
                <a:effectLst/>
                <a:latin typeface="Arial" panose="020B0604020202020204" pitchFamily="34" charset="0"/>
              </a:rPr>
              <a:t>non-living and </a:t>
            </a:r>
            <a:r>
              <a:rPr lang="en-IN" sz="2800" b="0" i="0" dirty="0">
                <a:effectLst/>
                <a:latin typeface="Arial" panose="020B0604020202020204" pitchFamily="34" charset="0"/>
              </a:rPr>
              <a:t>inorganic material</a:t>
            </a:r>
            <a:endParaRPr lang="en-IN" sz="2800" dirty="0"/>
          </a:p>
        </p:txBody>
      </p:sp>
      <p:cxnSp>
        <p:nvCxnSpPr>
          <p:cNvPr id="16" name="Straight Arrow Connector 15">
            <a:extLst>
              <a:ext uri="{FF2B5EF4-FFF2-40B4-BE49-F238E27FC236}">
                <a16:creationId xmlns:a16="http://schemas.microsoft.com/office/drawing/2014/main" id="{6AA26EDD-6862-C676-0475-57CCCC94C809}"/>
              </a:ext>
            </a:extLst>
          </p:cNvPr>
          <p:cNvCxnSpPr>
            <a:cxnSpLocks/>
          </p:cNvCxnSpPr>
          <p:nvPr/>
        </p:nvCxnSpPr>
        <p:spPr>
          <a:xfrm flipH="1">
            <a:off x="3440784" y="3814094"/>
            <a:ext cx="652781" cy="10972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680658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077C0-16D8-E51E-3D7F-5BED990706D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D513FAE-4B60-EA54-F2E2-C6CBFCF7A867}"/>
              </a:ext>
            </a:extLst>
          </p:cNvPr>
          <p:cNvSpPr txBox="1"/>
          <p:nvPr/>
        </p:nvSpPr>
        <p:spPr>
          <a:xfrm>
            <a:off x="2632436" y="0"/>
            <a:ext cx="7812462" cy="523220"/>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Renewable and non-renewable resources</a:t>
            </a:r>
          </a:p>
        </p:txBody>
      </p:sp>
      <p:graphicFrame>
        <p:nvGraphicFramePr>
          <p:cNvPr id="6" name="Table 5">
            <a:extLst>
              <a:ext uri="{FF2B5EF4-FFF2-40B4-BE49-F238E27FC236}">
                <a16:creationId xmlns:a16="http://schemas.microsoft.com/office/drawing/2014/main" id="{C645F922-28C3-A023-41FD-6E34A3D90663}"/>
              </a:ext>
            </a:extLst>
          </p:cNvPr>
          <p:cNvGraphicFramePr>
            <a:graphicFrameLocks noGrp="1"/>
          </p:cNvGraphicFramePr>
          <p:nvPr/>
        </p:nvGraphicFramePr>
        <p:xfrm>
          <a:off x="364503" y="523220"/>
          <a:ext cx="11324734" cy="6217920"/>
        </p:xfrm>
        <a:graphic>
          <a:graphicData uri="http://schemas.openxmlformats.org/drawingml/2006/table">
            <a:tbl>
              <a:tblPr firstRow="1" bandRow="1">
                <a:tableStyleId>{5DA37D80-6434-44D0-A028-1B22A696006F}</a:tableStyleId>
              </a:tblPr>
              <a:tblGrid>
                <a:gridCol w="770517">
                  <a:extLst>
                    <a:ext uri="{9D8B030D-6E8A-4147-A177-3AD203B41FA5}">
                      <a16:colId xmlns:a16="http://schemas.microsoft.com/office/drawing/2014/main" val="4270572180"/>
                    </a:ext>
                  </a:extLst>
                </a:gridCol>
                <a:gridCol w="1579900">
                  <a:extLst>
                    <a:ext uri="{9D8B030D-6E8A-4147-A177-3AD203B41FA5}">
                      <a16:colId xmlns:a16="http://schemas.microsoft.com/office/drawing/2014/main" val="3286607819"/>
                    </a:ext>
                  </a:extLst>
                </a:gridCol>
                <a:gridCol w="4416309">
                  <a:extLst>
                    <a:ext uri="{9D8B030D-6E8A-4147-A177-3AD203B41FA5}">
                      <a16:colId xmlns:a16="http://schemas.microsoft.com/office/drawing/2014/main" val="1055511363"/>
                    </a:ext>
                  </a:extLst>
                </a:gridCol>
                <a:gridCol w="4558008">
                  <a:extLst>
                    <a:ext uri="{9D8B030D-6E8A-4147-A177-3AD203B41FA5}">
                      <a16:colId xmlns:a16="http://schemas.microsoft.com/office/drawing/2014/main" val="3922797425"/>
                    </a:ext>
                  </a:extLst>
                </a:gridCol>
              </a:tblGrid>
              <a:tr h="370840">
                <a:tc>
                  <a:txBody>
                    <a:bodyPr/>
                    <a:lstStyle/>
                    <a:p>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Times New Roman" panose="02020603050405020304" pitchFamily="18" charset="0"/>
                          <a:ea typeface="+mn-ea"/>
                          <a:cs typeface="Times New Roman" panose="02020603050405020304" pitchFamily="18" charset="0"/>
                        </a:rPr>
                        <a:t>Characteristics</a:t>
                      </a:r>
                    </a:p>
                    <a:p>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Renewable energy resources</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Non-Renewable energy resources</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95455423"/>
                  </a:ext>
                </a:extLst>
              </a:tr>
              <a:tr h="370840">
                <a:tc>
                  <a:txBody>
                    <a:bodyPr/>
                    <a:lstStyle/>
                    <a:p>
                      <a:r>
                        <a:rPr lang="en-US" sz="1800" dirty="0">
                          <a:latin typeface="Times New Roman" panose="02020603050405020304" pitchFamily="18" charset="0"/>
                          <a:cs typeface="Times New Roman" panose="02020603050405020304" pitchFamily="18" charset="0"/>
                        </a:rPr>
                        <a:t>1</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err="1">
                          <a:latin typeface="Times New Roman" panose="02020603050405020304" pitchFamily="18" charset="0"/>
                          <a:cs typeface="Times New Roman" panose="02020603050405020304" pitchFamily="18" charset="0"/>
                        </a:rPr>
                        <a:t>Defination</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Natural resources that can be replenished in a human timescale.</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Natural resources that cannot be replenished in a human timescale</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03625710"/>
                  </a:ext>
                </a:extLst>
              </a:tr>
              <a:tr h="370840">
                <a:tc>
                  <a:txBody>
                    <a:bodyPr/>
                    <a:lstStyle/>
                    <a:p>
                      <a:r>
                        <a:rPr lang="en-US" sz="1800" dirty="0">
                          <a:latin typeface="Times New Roman" panose="02020603050405020304" pitchFamily="18" charset="0"/>
                          <a:cs typeface="Times New Roman" panose="02020603050405020304" pitchFamily="18" charset="0"/>
                        </a:rPr>
                        <a:t>2</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formation</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Formed through natural processes, such as the Sun's energy and wind, that can be replenished quickly</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Formed through slow geological processes, such as the fossilization of plants and animals, that cannot be duplicated in a human timescale</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63435303"/>
                  </a:ext>
                </a:extLst>
              </a:tr>
              <a:tr h="370840">
                <a:tc>
                  <a:txBody>
                    <a:bodyPr/>
                    <a:lstStyle/>
                    <a:p>
                      <a:r>
                        <a:rPr lang="en-US" sz="1800" dirty="0">
                          <a:latin typeface="Times New Roman" panose="02020603050405020304" pitchFamily="18" charset="0"/>
                          <a:cs typeface="Times New Roman" panose="02020603050405020304" pitchFamily="18" charset="0"/>
                        </a:rPr>
                        <a:t>3</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Examples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Solar Energy, Wind Energy, Hydro Energy, Geothermal Energy, Bioenergy</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dirty="0">
                        <a:latin typeface="Times New Roman" panose="02020603050405020304" pitchFamily="18" charset="0"/>
                        <a:cs typeface="Times New Roman" panose="02020603050405020304" pitchFamily="18" charset="0"/>
                      </a:endParaRPr>
                    </a:p>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Coal, Oil, Natural gas, Iron, Copper,  Uranium</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48578495"/>
                  </a:ext>
                </a:extLst>
              </a:tr>
              <a:tr h="370840">
                <a:tc>
                  <a:txBody>
                    <a:bodyPr/>
                    <a:lstStyle/>
                    <a:p>
                      <a:r>
                        <a:rPr lang="en-US" sz="1800" dirty="0">
                          <a:latin typeface="Times New Roman" panose="02020603050405020304" pitchFamily="18" charset="0"/>
                          <a:cs typeface="Times New Roman" panose="02020603050405020304" pitchFamily="18" charset="0"/>
                        </a:rPr>
                        <a:t>4</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Supply</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Unlimited supply as long as the natural processes do not get disrupted</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Limited Supply, Cannot be Replenished</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45833951"/>
                  </a:ext>
                </a:extLst>
              </a:tr>
              <a:tr h="370840">
                <a:tc>
                  <a:txBody>
                    <a:bodyPr/>
                    <a:lstStyle/>
                    <a:p>
                      <a:r>
                        <a:rPr lang="en-US" sz="1800" dirty="0">
                          <a:latin typeface="Times New Roman" panose="02020603050405020304" pitchFamily="18" charset="0"/>
                          <a:cs typeface="Times New Roman" panose="02020603050405020304" pitchFamily="18" charset="0"/>
                        </a:rPr>
                        <a:t>5</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Environmental impacts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Generally low, as long as they are managed sustainably</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Can be significant, including </a:t>
                      </a:r>
                      <a:r>
                        <a:rPr lang="en-US" sz="1800" b="0" i="0" u="sng" kern="1200" dirty="0">
                          <a:solidFill>
                            <a:schemeClr val="tx1"/>
                          </a:solidFill>
                          <a:effectLst/>
                          <a:latin typeface="Times New Roman" panose="02020603050405020304" pitchFamily="18" charset="0"/>
                          <a:ea typeface="+mn-ea"/>
                          <a:cs typeface="Times New Roman" panose="02020603050405020304" pitchFamily="18" charset="0"/>
                          <a:hlinkClick r:id="rId2"/>
                        </a:rPr>
                        <a:t>Air Pollution</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and </a:t>
                      </a:r>
                      <a:r>
                        <a:rPr lang="en-US" sz="1800" b="0" i="0" u="sng" kern="1200" dirty="0">
                          <a:solidFill>
                            <a:schemeClr val="tx1"/>
                          </a:solidFill>
                          <a:effectLst/>
                          <a:latin typeface="Times New Roman" panose="02020603050405020304" pitchFamily="18" charset="0"/>
                          <a:ea typeface="+mn-ea"/>
                          <a:cs typeface="Times New Roman" panose="02020603050405020304" pitchFamily="18" charset="0"/>
                          <a:hlinkClick r:id="rId3"/>
                        </a:rPr>
                        <a:t>Water Pollution</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Greenhouse gas emissions, </a:t>
                      </a:r>
                      <a:r>
                        <a:rPr lang="en-US" sz="1800" b="0" i="0" u="sng" kern="1200" dirty="0">
                          <a:solidFill>
                            <a:schemeClr val="tx1"/>
                          </a:solidFill>
                          <a:effectLst/>
                          <a:latin typeface="Times New Roman" panose="02020603050405020304" pitchFamily="18" charset="0"/>
                          <a:ea typeface="+mn-ea"/>
                          <a:cs typeface="Times New Roman" panose="02020603050405020304" pitchFamily="18" charset="0"/>
                          <a:hlinkClick r:id="rId4"/>
                        </a:rPr>
                        <a:t>Deforestation</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and Soil erosion.</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41596614"/>
                  </a:ext>
                </a:extLst>
              </a:tr>
              <a:tr h="370840">
                <a:tc>
                  <a:txBody>
                    <a:bodyPr/>
                    <a:lstStyle/>
                    <a:p>
                      <a:r>
                        <a:rPr lang="en-US" sz="1800" dirty="0">
                          <a:latin typeface="Times New Roman" panose="02020603050405020304" pitchFamily="18" charset="0"/>
                          <a:cs typeface="Times New Roman" panose="02020603050405020304" pitchFamily="18" charset="0"/>
                        </a:rPr>
                        <a:t>6</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Energy Intensity</a:t>
                      </a:r>
                      <a:endParaRPr lang="en-IN" sz="1800" b="0"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Low, as they are formed through natural processes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High, as significant energy is required to extract and process them</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45523149"/>
                  </a:ext>
                </a:extLst>
              </a:tr>
              <a:tr h="370840">
                <a:tc>
                  <a:txBody>
                    <a:bodyPr/>
                    <a:lstStyle/>
                    <a:p>
                      <a:r>
                        <a:rPr lang="en-US" sz="1800" dirty="0">
                          <a:latin typeface="Times New Roman" panose="02020603050405020304" pitchFamily="18" charset="0"/>
                          <a:cs typeface="Times New Roman" panose="02020603050405020304" pitchFamily="18" charset="0"/>
                        </a:rPr>
                        <a:t>7</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Cost</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Very expensive</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Cheap as compared to renewable resources but cost can increase over time if the resources become scarce</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0233844"/>
                  </a:ext>
                </a:extLst>
              </a:tr>
            </a:tbl>
          </a:graphicData>
        </a:graphic>
      </p:graphicFrame>
    </p:spTree>
    <p:extLst>
      <p:ext uri="{BB962C8B-B14F-4D97-AF65-F5344CB8AC3E}">
        <p14:creationId xmlns:p14="http://schemas.microsoft.com/office/powerpoint/2010/main" val="4101591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15472A31-FD03-EC9C-F294-5BC7B60F608E}"/>
              </a:ext>
            </a:extLst>
          </p:cNvPr>
          <p:cNvGraphicFramePr>
            <a:graphicFrameLocks noGrp="1"/>
          </p:cNvGraphicFramePr>
          <p:nvPr/>
        </p:nvGraphicFramePr>
        <p:xfrm>
          <a:off x="696799" y="458738"/>
          <a:ext cx="11324734" cy="2895600"/>
        </p:xfrm>
        <a:graphic>
          <a:graphicData uri="http://schemas.openxmlformats.org/drawingml/2006/table">
            <a:tbl>
              <a:tblPr firstRow="1" bandRow="1">
                <a:tableStyleId>{5DA37D80-6434-44D0-A028-1B22A696006F}</a:tableStyleId>
              </a:tblPr>
              <a:tblGrid>
                <a:gridCol w="632381">
                  <a:extLst>
                    <a:ext uri="{9D8B030D-6E8A-4147-A177-3AD203B41FA5}">
                      <a16:colId xmlns:a16="http://schemas.microsoft.com/office/drawing/2014/main" val="1827377197"/>
                    </a:ext>
                  </a:extLst>
                </a:gridCol>
                <a:gridCol w="2130457">
                  <a:extLst>
                    <a:ext uri="{9D8B030D-6E8A-4147-A177-3AD203B41FA5}">
                      <a16:colId xmlns:a16="http://schemas.microsoft.com/office/drawing/2014/main" val="3477791565"/>
                    </a:ext>
                  </a:extLst>
                </a:gridCol>
                <a:gridCol w="4003888">
                  <a:extLst>
                    <a:ext uri="{9D8B030D-6E8A-4147-A177-3AD203B41FA5}">
                      <a16:colId xmlns:a16="http://schemas.microsoft.com/office/drawing/2014/main" val="1237211154"/>
                    </a:ext>
                  </a:extLst>
                </a:gridCol>
                <a:gridCol w="4558008">
                  <a:extLst>
                    <a:ext uri="{9D8B030D-6E8A-4147-A177-3AD203B41FA5}">
                      <a16:colId xmlns:a16="http://schemas.microsoft.com/office/drawing/2014/main" val="1135428111"/>
                    </a:ext>
                  </a:extLst>
                </a:gridCol>
              </a:tblGrid>
              <a:tr h="370840">
                <a:tc>
                  <a:txBody>
                    <a:bodyPr/>
                    <a:lstStyle/>
                    <a:p>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Times New Roman" panose="02020603050405020304" pitchFamily="18" charset="0"/>
                          <a:ea typeface="+mn-ea"/>
                          <a:cs typeface="Times New Roman" panose="02020603050405020304" pitchFamily="18" charset="0"/>
                        </a:rPr>
                        <a:t>Characteristics</a:t>
                      </a:r>
                    </a:p>
                    <a:p>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Renewable energy resources</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Non-Renewable energy resources</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40887118"/>
                  </a:ext>
                </a:extLst>
              </a:tr>
              <a:tr h="0">
                <a:tc>
                  <a:txBody>
                    <a:bodyPr/>
                    <a:lstStyle/>
                    <a:p>
                      <a:r>
                        <a:rPr lang="en-US" sz="1800" dirty="0">
                          <a:latin typeface="Times New Roman" panose="02020603050405020304" pitchFamily="18" charset="0"/>
                          <a:cs typeface="Times New Roman" panose="02020603050405020304" pitchFamily="18" charset="0"/>
                        </a:rPr>
                        <a:t>8</a:t>
                      </a:r>
                      <a:endParaRPr lang="en-IN" sz="1800" dirty="0">
                        <a:latin typeface="Times New Roman" panose="02020603050405020304" pitchFamily="18" charset="0"/>
                        <a:cs typeface="Times New Roman" panose="02020603050405020304" pitchFamily="18" charset="0"/>
                      </a:endParaRPr>
                    </a:p>
                  </a:txBody>
                  <a:tcPr/>
                </a:tc>
                <a:tc>
                  <a:txBody>
                    <a:bodyPr/>
                    <a:lstStyle/>
                    <a:p>
                      <a:pPr algn="ctr" fontAlgn="ctr"/>
                      <a:r>
                        <a:rPr lang="en-IN" sz="2400" b="1" dirty="0">
                          <a:effectLst/>
                          <a:latin typeface="Times New Roman" panose="02020603050405020304" pitchFamily="18" charset="0"/>
                          <a:cs typeface="Times New Roman" panose="02020603050405020304" pitchFamily="18" charset="0"/>
                        </a:rPr>
                        <a:t>Long-term Sustainability </a:t>
                      </a:r>
                      <a:endParaRPr lang="en-IN" sz="2400" b="0" dirty="0">
                        <a:effectLst/>
                        <a:latin typeface="Times New Roman" panose="02020603050405020304" pitchFamily="18" charset="0"/>
                        <a:cs typeface="Times New Roman" panose="02020603050405020304" pitchFamily="18" charset="0"/>
                      </a:endParaRPr>
                    </a:p>
                  </a:txBody>
                  <a:tcPr marL="76200" marR="76200" marT="106680" marB="106680" anchor="ctr"/>
                </a:tc>
                <a:tc>
                  <a:txBody>
                    <a:bodyPr/>
                    <a:lstStyle/>
                    <a:p>
                      <a:pPr algn="ctr" fontAlgn="ctr"/>
                      <a:r>
                        <a:rPr lang="en-IN" sz="2400" b="0" dirty="0">
                          <a:effectLst/>
                          <a:latin typeface="Times New Roman" panose="02020603050405020304" pitchFamily="18" charset="0"/>
                          <a:cs typeface="Times New Roman" panose="02020603050405020304" pitchFamily="18" charset="0"/>
                        </a:rPr>
                        <a:t>High</a:t>
                      </a:r>
                    </a:p>
                  </a:txBody>
                  <a:tcPr marL="76200" marR="76200" marT="106680" marB="106680" anchor="ctr"/>
                </a:tc>
                <a:tc>
                  <a:txBody>
                    <a:bodyPr/>
                    <a:lstStyle/>
                    <a:p>
                      <a:pPr algn="ctr" fontAlgn="ctr"/>
                      <a:r>
                        <a:rPr lang="en-IN" sz="2400" b="0" dirty="0">
                          <a:effectLst/>
                          <a:latin typeface="Times New Roman" panose="02020603050405020304" pitchFamily="18" charset="0"/>
                          <a:cs typeface="Times New Roman" panose="02020603050405020304" pitchFamily="18" charset="0"/>
                        </a:rPr>
                        <a:t>Low</a:t>
                      </a:r>
                    </a:p>
                  </a:txBody>
                  <a:tcPr marL="76200" marR="76200" marT="106680" marB="106680" anchor="ctr"/>
                </a:tc>
                <a:extLst>
                  <a:ext uri="{0D108BD9-81ED-4DB2-BD59-A6C34878D82A}">
                    <a16:rowId xmlns:a16="http://schemas.microsoft.com/office/drawing/2014/main" val="1060198204"/>
                  </a:ext>
                </a:extLst>
              </a:tr>
              <a:tr h="370840">
                <a:tc>
                  <a:txBody>
                    <a:bodyPr/>
                    <a:lstStyle/>
                    <a:p>
                      <a:r>
                        <a:rPr lang="en-US" sz="1800" dirty="0">
                          <a:latin typeface="Times New Roman" panose="02020603050405020304" pitchFamily="18" charset="0"/>
                          <a:cs typeface="Times New Roman" panose="02020603050405020304" pitchFamily="18" charset="0"/>
                        </a:rPr>
                        <a:t>9</a:t>
                      </a:r>
                      <a:endParaRPr lang="en-IN" sz="1800" dirty="0">
                        <a:latin typeface="Times New Roman" panose="02020603050405020304" pitchFamily="18" charset="0"/>
                        <a:cs typeface="Times New Roman" panose="02020603050405020304" pitchFamily="18" charset="0"/>
                      </a:endParaRPr>
                    </a:p>
                  </a:txBody>
                  <a:tcPr/>
                </a:tc>
                <a:tc>
                  <a:txBody>
                    <a:bodyPr/>
                    <a:lstStyle/>
                    <a:p>
                      <a:pPr algn="ctr" fontAlgn="ctr"/>
                      <a:r>
                        <a:rPr lang="en-IN" sz="2400" b="1" dirty="0">
                          <a:effectLst/>
                          <a:latin typeface="Times New Roman" panose="02020603050405020304" pitchFamily="18" charset="0"/>
                          <a:cs typeface="Times New Roman" panose="02020603050405020304" pitchFamily="18" charset="0"/>
                        </a:rPr>
                        <a:t>Economic Significance</a:t>
                      </a:r>
                      <a:endParaRPr lang="en-IN" sz="2400" b="0" dirty="0">
                        <a:effectLst/>
                        <a:latin typeface="Times New Roman" panose="02020603050405020304" pitchFamily="18" charset="0"/>
                        <a:cs typeface="Times New Roman" panose="02020603050405020304" pitchFamily="18" charset="0"/>
                      </a:endParaRPr>
                    </a:p>
                  </a:txBody>
                  <a:tcPr marL="76200" marR="76200" marT="106680" marB="106680" anchor="ctr"/>
                </a:tc>
                <a:tc>
                  <a:txBody>
                    <a:bodyPr/>
                    <a:lstStyle/>
                    <a:p>
                      <a:pPr algn="ctr" fontAlgn="ctr"/>
                      <a:r>
                        <a:rPr lang="en-US" sz="2400" b="0" dirty="0">
                          <a:effectLst/>
                          <a:latin typeface="Times New Roman" panose="02020603050405020304" pitchFamily="18" charset="0"/>
                          <a:cs typeface="Times New Roman" panose="02020603050405020304" pitchFamily="18" charset="0"/>
                        </a:rPr>
                        <a:t>Their demand is increasing with time</a:t>
                      </a:r>
                    </a:p>
                  </a:txBody>
                  <a:tcPr marL="76200" marR="76200" marT="106680" marB="106680" anchor="ctr"/>
                </a:tc>
                <a:tc>
                  <a:txBody>
                    <a:bodyPr/>
                    <a:lstStyle/>
                    <a:p>
                      <a:pPr algn="ctr" fontAlgn="ctr"/>
                      <a:r>
                        <a:rPr lang="en-US" sz="2400" b="0" dirty="0">
                          <a:effectLst/>
                          <a:latin typeface="Times New Roman" panose="02020603050405020304" pitchFamily="18" charset="0"/>
                          <a:cs typeface="Times New Roman" panose="02020603050405020304" pitchFamily="18" charset="0"/>
                        </a:rPr>
                        <a:t>Already a huge demand as non-renewable resources provide energy and raw materials</a:t>
                      </a:r>
                    </a:p>
                  </a:txBody>
                  <a:tcPr marL="76200" marR="76200" marT="106680" marB="106680" anchor="ctr"/>
                </a:tc>
                <a:extLst>
                  <a:ext uri="{0D108BD9-81ED-4DB2-BD59-A6C34878D82A}">
                    <a16:rowId xmlns:a16="http://schemas.microsoft.com/office/drawing/2014/main" val="3794312507"/>
                  </a:ext>
                </a:extLst>
              </a:tr>
            </a:tbl>
          </a:graphicData>
        </a:graphic>
      </p:graphicFrame>
    </p:spTree>
    <p:extLst>
      <p:ext uri="{BB962C8B-B14F-4D97-AF65-F5344CB8AC3E}">
        <p14:creationId xmlns:p14="http://schemas.microsoft.com/office/powerpoint/2010/main" val="4024090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D8D7C8-9B02-1861-26F3-D3F84937DA5A}"/>
              </a:ext>
            </a:extLst>
          </p:cNvPr>
          <p:cNvSpPr txBox="1"/>
          <p:nvPr/>
        </p:nvSpPr>
        <p:spPr>
          <a:xfrm>
            <a:off x="98981" y="226243"/>
            <a:ext cx="11994037" cy="6478184"/>
          </a:xfrm>
          <a:prstGeom prst="rect">
            <a:avLst/>
          </a:prstGeom>
          <a:noFill/>
        </p:spPr>
        <p:txBody>
          <a:bodyPr wrap="square">
            <a:spAutoFit/>
          </a:bodyPr>
          <a:lstStyle/>
          <a:p>
            <a:pPr>
              <a:lnSpc>
                <a:spcPct val="150000"/>
              </a:lnSpc>
            </a:pPr>
            <a:r>
              <a:rPr lang="en-US" sz="2800" dirty="0">
                <a:latin typeface="Times New Roman" panose="02020603050405020304" pitchFamily="18" charset="0"/>
                <a:cs typeface="Times New Roman" panose="02020603050405020304" pitchFamily="18" charset="0"/>
              </a:rPr>
              <a:t>Land Resources</a:t>
            </a:r>
          </a:p>
          <a:p>
            <a:pPr marL="457200" indent="-457200">
              <a:lnSpc>
                <a:spcPct val="150000"/>
              </a:lnSpc>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Land is a crucial resource for humans and provides biotic resources for plants and animals.</a:t>
            </a:r>
          </a:p>
          <a:p>
            <a:pPr marL="457200" indent="-457200">
              <a:lnSpc>
                <a:spcPct val="150000"/>
              </a:lnSpc>
              <a:buFont typeface="Wingdings" panose="05000000000000000000" pitchFamily="2" charset="2"/>
              <a:buChar char="Ø"/>
            </a:pPr>
            <a:r>
              <a:rPr lang="en-US" sz="2800" b="1" dirty="0">
                <a:solidFill>
                  <a:schemeClr val="accent2">
                    <a:lumMod val="50000"/>
                  </a:schemeClr>
                </a:solidFill>
                <a:latin typeface="Times New Roman" panose="02020603050405020304" pitchFamily="18" charset="0"/>
                <a:cs typeface="Times New Roman" panose="02020603050405020304" pitchFamily="18" charset="0"/>
              </a:rPr>
              <a:t>Soil composition, groundwater availability, and local climate are the basis of land utilization and development.</a:t>
            </a:r>
          </a:p>
          <a:p>
            <a:pPr marL="457200" indent="-457200">
              <a:lnSpc>
                <a:spcPct val="150000"/>
              </a:lnSpc>
              <a:buFont typeface="Wingdings" panose="05000000000000000000" pitchFamily="2" charset="2"/>
              <a:buChar char="Ø"/>
            </a:pPr>
            <a:r>
              <a:rPr lang="en-US" sz="2800" b="1" dirty="0">
                <a:solidFill>
                  <a:srgbClr val="0000FF"/>
                </a:solidFill>
                <a:latin typeface="Times New Roman" panose="02020603050405020304" pitchFamily="18" charset="0"/>
                <a:cs typeface="Times New Roman" panose="02020603050405020304" pitchFamily="18" charset="0"/>
              </a:rPr>
              <a:t>Minerals, groundwater, and other hidden resources can bring development to industrial complexes, mining sites, tourist centers, settlements, and other land uses.</a:t>
            </a:r>
          </a:p>
          <a:p>
            <a:pPr>
              <a:lnSpc>
                <a:spcPct val="150000"/>
              </a:lnSpc>
            </a:pPr>
            <a:r>
              <a:rPr lang="en-US" sz="2800" b="1" dirty="0">
                <a:solidFill>
                  <a:srgbClr val="FF0000"/>
                </a:solidFill>
                <a:latin typeface="Times New Roman" panose="02020603050405020304" pitchFamily="18" charset="0"/>
                <a:cs typeface="Times New Roman" panose="02020603050405020304" pitchFamily="18" charset="0"/>
              </a:rPr>
              <a:t>Land use varies from region to region and over time, depending on physical and human factors.</a:t>
            </a:r>
          </a:p>
        </p:txBody>
      </p:sp>
    </p:spTree>
    <p:extLst>
      <p:ext uri="{BB962C8B-B14F-4D97-AF65-F5344CB8AC3E}">
        <p14:creationId xmlns:p14="http://schemas.microsoft.com/office/powerpoint/2010/main" val="1745847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764347-0BBF-4EDC-09E6-1340597FCEDC}"/>
              </a:ext>
            </a:extLst>
          </p:cNvPr>
          <p:cNvPicPr>
            <a:picLocks noChangeAspect="1"/>
          </p:cNvPicPr>
          <p:nvPr/>
        </p:nvPicPr>
        <p:blipFill>
          <a:blip r:embed="rId2"/>
          <a:stretch>
            <a:fillRect/>
          </a:stretch>
        </p:blipFill>
        <p:spPr>
          <a:xfrm>
            <a:off x="1659118" y="-146352"/>
            <a:ext cx="8382142" cy="6754542"/>
          </a:xfrm>
          <a:prstGeom prst="rect">
            <a:avLst/>
          </a:prstGeom>
        </p:spPr>
      </p:pic>
    </p:spTree>
    <p:extLst>
      <p:ext uri="{BB962C8B-B14F-4D97-AF65-F5344CB8AC3E}">
        <p14:creationId xmlns:p14="http://schemas.microsoft.com/office/powerpoint/2010/main" val="3082075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1A7565-5913-317A-AA94-2FB151A9FBC0}"/>
              </a:ext>
            </a:extLst>
          </p:cNvPr>
          <p:cNvSpPr txBox="1"/>
          <p:nvPr/>
        </p:nvSpPr>
        <p:spPr>
          <a:xfrm>
            <a:off x="131975" y="643455"/>
            <a:ext cx="12060025" cy="5174493"/>
          </a:xfrm>
          <a:prstGeom prst="rect">
            <a:avLst/>
          </a:prstGeom>
          <a:solidFill>
            <a:srgbClr val="FFCCFF"/>
          </a:solidFill>
        </p:spPr>
        <p:txBody>
          <a:bodyPr wrap="square">
            <a:spAutoFit/>
          </a:bodyPr>
          <a:lstStyle/>
          <a:p>
            <a:pPr>
              <a:lnSpc>
                <a:spcPct val="150000"/>
              </a:lnSpc>
            </a:pPr>
            <a:r>
              <a:rPr lang="en-US" sz="3200" b="1" dirty="0">
                <a:latin typeface="Times New Roman" panose="02020603050405020304" pitchFamily="18" charset="0"/>
                <a:cs typeface="Times New Roman" panose="02020603050405020304" pitchFamily="18" charset="0"/>
              </a:rPr>
              <a:t>India’s land use pattern </a:t>
            </a:r>
          </a:p>
          <a:p>
            <a:pPr marL="457200" indent="-457200">
              <a:lnSpc>
                <a:spcPct val="150000"/>
              </a:lnSpc>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46% of the total geographic area being net sown, </a:t>
            </a:r>
          </a:p>
          <a:p>
            <a:pPr marL="457200" indent="-457200">
              <a:lnSpc>
                <a:spcPct val="150000"/>
              </a:lnSpc>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22% forest cover, </a:t>
            </a:r>
          </a:p>
          <a:p>
            <a:pPr marL="457200" indent="-457200">
              <a:lnSpc>
                <a:spcPct val="150000"/>
              </a:lnSpc>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8.5% barren and un-culturable waste land, </a:t>
            </a:r>
          </a:p>
          <a:p>
            <a:pPr marL="457200" indent="-457200">
              <a:lnSpc>
                <a:spcPct val="150000"/>
              </a:lnSpc>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5.5% non-agricultural uses, and </a:t>
            </a:r>
          </a:p>
          <a:p>
            <a:pPr marL="457200" indent="-457200">
              <a:lnSpc>
                <a:spcPct val="150000"/>
              </a:lnSpc>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the remaining area being used for tree crops, grooves, permanent pastures, and grazing lands.</a:t>
            </a:r>
          </a:p>
        </p:txBody>
      </p:sp>
    </p:spTree>
    <p:extLst>
      <p:ext uri="{BB962C8B-B14F-4D97-AF65-F5344CB8AC3E}">
        <p14:creationId xmlns:p14="http://schemas.microsoft.com/office/powerpoint/2010/main" val="2297392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7BCC6B-7FD6-8080-4827-9FE34B9CD4A5}"/>
              </a:ext>
            </a:extLst>
          </p:cNvPr>
          <p:cNvSpPr txBox="1"/>
          <p:nvPr/>
        </p:nvSpPr>
        <p:spPr>
          <a:xfrm>
            <a:off x="202676" y="92028"/>
            <a:ext cx="11989324" cy="4978735"/>
          </a:xfrm>
          <a:prstGeom prst="rect">
            <a:avLst/>
          </a:prstGeom>
          <a:noFill/>
        </p:spPr>
        <p:txBody>
          <a:bodyPr wrap="square">
            <a:spAutoFit/>
          </a:bodyPr>
          <a:lstStyle/>
          <a:p>
            <a:pPr algn="just">
              <a:lnSpc>
                <a:spcPct val="150000"/>
              </a:lnSpc>
            </a:pPr>
            <a:r>
              <a:rPr lang="en-US" sz="3600" b="1" dirty="0">
                <a:latin typeface="Times New Roman" panose="02020603050405020304" pitchFamily="18" charset="0"/>
                <a:cs typeface="Times New Roman" panose="02020603050405020304" pitchFamily="18" charset="0"/>
              </a:rPr>
              <a:t>Forest Resources </a:t>
            </a:r>
          </a:p>
          <a:p>
            <a:pPr algn="just">
              <a:lnSpc>
                <a:spcPct val="150000"/>
              </a:lnSpc>
            </a:pPr>
            <a:r>
              <a:rPr lang="en-US" sz="3600" b="1" dirty="0">
                <a:solidFill>
                  <a:srgbClr val="FF0000"/>
                </a:solidFill>
                <a:latin typeface="Times New Roman" panose="02020603050405020304" pitchFamily="18" charset="0"/>
                <a:cs typeface="Times New Roman" panose="02020603050405020304" pitchFamily="18" charset="0"/>
              </a:rPr>
              <a:t>Forests are vast areas dominated by trees and other vegetation, playing a critical role in maintaining the ecological balance and supporting a diverse range of species. </a:t>
            </a:r>
          </a:p>
          <a:p>
            <a:pPr algn="just">
              <a:lnSpc>
                <a:spcPct val="150000"/>
              </a:lnSpc>
            </a:pPr>
            <a:r>
              <a:rPr lang="en-US" sz="3600" b="1" dirty="0">
                <a:solidFill>
                  <a:schemeClr val="accent6">
                    <a:lumMod val="75000"/>
                  </a:schemeClr>
                </a:solidFill>
                <a:latin typeface="Times New Roman" panose="02020603050405020304" pitchFamily="18" charset="0"/>
                <a:cs typeface="Times New Roman" panose="02020603050405020304" pitchFamily="18" charset="0"/>
              </a:rPr>
              <a:t>They cover approximately 31% of  the Earth's land area and are integral to the health of our planet. </a:t>
            </a:r>
          </a:p>
        </p:txBody>
      </p:sp>
    </p:spTree>
    <p:extLst>
      <p:ext uri="{BB962C8B-B14F-4D97-AF65-F5344CB8AC3E}">
        <p14:creationId xmlns:p14="http://schemas.microsoft.com/office/powerpoint/2010/main" val="97145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6380F5-997F-F6BF-FE51-66128FA4B2A9}"/>
              </a:ext>
            </a:extLst>
          </p:cNvPr>
          <p:cNvSpPr txBox="1"/>
          <p:nvPr/>
        </p:nvSpPr>
        <p:spPr>
          <a:xfrm>
            <a:off x="197963" y="-266243"/>
            <a:ext cx="11994037" cy="6651821"/>
          </a:xfrm>
          <a:prstGeom prst="rect">
            <a:avLst/>
          </a:prstGeom>
          <a:noFill/>
        </p:spPr>
        <p:txBody>
          <a:bodyPr wrap="square">
            <a:spAutoFit/>
          </a:bodyPr>
          <a:lstStyle/>
          <a:p>
            <a:pPr>
              <a:lnSpc>
                <a:spcPct val="150000"/>
              </a:lnSpc>
            </a:pPr>
            <a:r>
              <a:rPr lang="en-US" sz="3200" dirty="0">
                <a:latin typeface="Times New Roman" panose="02020603050405020304" pitchFamily="18" charset="0"/>
                <a:cs typeface="Times New Roman" panose="02020603050405020304" pitchFamily="18" charset="0"/>
              </a:rPr>
              <a:t>Forests provide numerous ecosystem services, including: </a:t>
            </a:r>
          </a:p>
          <a:p>
            <a:pPr>
              <a:lnSpc>
                <a:spcPct val="150000"/>
              </a:lnSpc>
            </a:pPr>
            <a:r>
              <a:rPr lang="en-US" sz="3200" dirty="0">
                <a:latin typeface="Times New Roman" panose="02020603050405020304" pitchFamily="18" charset="0"/>
                <a:cs typeface="Times New Roman" panose="02020603050405020304" pitchFamily="18" charset="0"/>
              </a:rPr>
              <a:t>1. </a:t>
            </a:r>
            <a:r>
              <a:rPr lang="en-US" sz="3200" b="1" dirty="0">
                <a:latin typeface="Times New Roman" panose="02020603050405020304" pitchFamily="18" charset="0"/>
                <a:cs typeface="Times New Roman" panose="02020603050405020304" pitchFamily="18" charset="0"/>
              </a:rPr>
              <a:t>Carbon Sequestration</a:t>
            </a:r>
            <a:r>
              <a:rPr lang="en-US" sz="3200" dirty="0">
                <a:latin typeface="Times New Roman" panose="02020603050405020304" pitchFamily="18" charset="0"/>
                <a:cs typeface="Times New Roman" panose="02020603050405020304" pitchFamily="18" charset="0"/>
              </a:rPr>
              <a:t>: </a:t>
            </a:r>
            <a:r>
              <a:rPr lang="en-US" sz="3200" b="1" dirty="0">
                <a:solidFill>
                  <a:srgbClr val="002060"/>
                </a:solidFill>
                <a:latin typeface="Times New Roman" panose="02020603050405020304" pitchFamily="18" charset="0"/>
                <a:cs typeface="Times New Roman" panose="02020603050405020304" pitchFamily="18" charset="0"/>
              </a:rPr>
              <a:t>Forests act as significant carbon sinks, absorbing carbon dioxide from the atmosphere during photosynthesis and storing it in biomass and soil. This process helps mitigate climate change by reducing greenhouse gases. </a:t>
            </a:r>
          </a:p>
          <a:p>
            <a:pPr>
              <a:lnSpc>
                <a:spcPct val="150000"/>
              </a:lnSpc>
            </a:pPr>
            <a:r>
              <a:rPr lang="en-US" sz="3200" dirty="0">
                <a:latin typeface="Times New Roman" panose="02020603050405020304" pitchFamily="18" charset="0"/>
                <a:cs typeface="Times New Roman" panose="02020603050405020304" pitchFamily="18" charset="0"/>
              </a:rPr>
              <a:t>2. </a:t>
            </a:r>
            <a:r>
              <a:rPr lang="en-US" sz="3200" b="1" dirty="0">
                <a:latin typeface="Times New Roman" panose="02020603050405020304" pitchFamily="18" charset="0"/>
                <a:cs typeface="Times New Roman" panose="02020603050405020304" pitchFamily="18" charset="0"/>
              </a:rPr>
              <a:t>Water Regulation</a:t>
            </a:r>
            <a:r>
              <a:rPr lang="en-US" sz="3200" dirty="0">
                <a:latin typeface="Times New Roman" panose="02020603050405020304" pitchFamily="18" charset="0"/>
                <a:cs typeface="Times New Roman" panose="02020603050405020304" pitchFamily="18" charset="0"/>
              </a:rPr>
              <a:t>: </a:t>
            </a:r>
            <a:r>
              <a:rPr lang="en-US" sz="3200" b="1" dirty="0">
                <a:solidFill>
                  <a:srgbClr val="C00000"/>
                </a:solidFill>
                <a:latin typeface="Times New Roman" panose="02020603050405020304" pitchFamily="18" charset="0"/>
                <a:cs typeface="Times New Roman" panose="02020603050405020304" pitchFamily="18" charset="0"/>
              </a:rPr>
              <a:t>Forests regulate water cycles by preventing soil erosion, protecting watersheds, and ensuring a steady supply of clean water. Trees release water vapor through transpiration, contributing to cloud formation and rainfall. </a:t>
            </a:r>
          </a:p>
        </p:txBody>
      </p:sp>
    </p:spTree>
    <p:extLst>
      <p:ext uri="{BB962C8B-B14F-4D97-AF65-F5344CB8AC3E}">
        <p14:creationId xmlns:p14="http://schemas.microsoft.com/office/powerpoint/2010/main" val="3883388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53E9BF-9616-D650-034D-EE9AA3221152}"/>
              </a:ext>
            </a:extLst>
          </p:cNvPr>
          <p:cNvSpPr txBox="1"/>
          <p:nvPr/>
        </p:nvSpPr>
        <p:spPr>
          <a:xfrm>
            <a:off x="395925" y="103089"/>
            <a:ext cx="11585543" cy="5174493"/>
          </a:xfrm>
          <a:prstGeom prst="rect">
            <a:avLst/>
          </a:prstGeom>
          <a:noFill/>
        </p:spPr>
        <p:txBody>
          <a:bodyPr wrap="square">
            <a:spAutoFit/>
          </a:bodyPr>
          <a:lstStyle/>
          <a:p>
            <a:pPr>
              <a:lnSpc>
                <a:spcPct val="150000"/>
              </a:lnSpc>
            </a:pPr>
            <a:r>
              <a:rPr lang="en-US" sz="3200" dirty="0">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Biodiversity</a:t>
            </a:r>
            <a:r>
              <a:rPr lang="en-US" sz="3200" dirty="0">
                <a:latin typeface="Times New Roman" panose="02020603050405020304" pitchFamily="18" charset="0"/>
                <a:cs typeface="Times New Roman" panose="02020603050405020304" pitchFamily="18" charset="0"/>
              </a:rPr>
              <a:t>: </a:t>
            </a:r>
            <a:r>
              <a:rPr lang="en-US" sz="3200" b="1" dirty="0">
                <a:solidFill>
                  <a:srgbClr val="C00000"/>
                </a:solidFill>
                <a:latin typeface="Times New Roman" panose="02020603050405020304" pitchFamily="18" charset="0"/>
                <a:cs typeface="Times New Roman" panose="02020603050405020304" pitchFamily="18" charset="0"/>
              </a:rPr>
              <a:t>Forests are home to a vast array of flora and fauna, many of which are unique and endangered. They serve as genetic reservoirs, providing resources for medicine and agriculture. </a:t>
            </a:r>
          </a:p>
          <a:p>
            <a:pPr>
              <a:lnSpc>
                <a:spcPct val="150000"/>
              </a:lnSpc>
            </a:pPr>
            <a:r>
              <a:rPr lang="en-US" sz="3200" dirty="0">
                <a:latin typeface="Times New Roman" panose="02020603050405020304" pitchFamily="18" charset="0"/>
                <a:cs typeface="Times New Roman" panose="02020603050405020304" pitchFamily="18" charset="0"/>
              </a:rPr>
              <a:t>4. </a:t>
            </a:r>
            <a:r>
              <a:rPr lang="en-US" sz="3200" b="1" dirty="0">
                <a:latin typeface="Times New Roman" panose="02020603050405020304" pitchFamily="18" charset="0"/>
                <a:cs typeface="Times New Roman" panose="02020603050405020304" pitchFamily="18" charset="0"/>
              </a:rPr>
              <a:t>Climate Regulation</a:t>
            </a:r>
            <a:r>
              <a:rPr lang="en-US" sz="3200" dirty="0">
                <a:latin typeface="Times New Roman" panose="02020603050405020304" pitchFamily="18" charset="0"/>
                <a:cs typeface="Times New Roman" panose="02020603050405020304" pitchFamily="18" charset="0"/>
              </a:rPr>
              <a:t>: </a:t>
            </a:r>
            <a:r>
              <a:rPr lang="en-US" sz="3200" b="1" dirty="0">
                <a:solidFill>
                  <a:srgbClr val="0000FF"/>
                </a:solidFill>
                <a:latin typeface="Times New Roman" panose="02020603050405020304" pitchFamily="18" charset="0"/>
                <a:cs typeface="Times New Roman" panose="02020603050405020304" pitchFamily="18" charset="0"/>
              </a:rPr>
              <a:t>By moderating temperatures and weather patterns, forests play a crucial role in maintaining the Earth's climate balance. </a:t>
            </a:r>
          </a:p>
        </p:txBody>
      </p:sp>
    </p:spTree>
    <p:extLst>
      <p:ext uri="{BB962C8B-B14F-4D97-AF65-F5344CB8AC3E}">
        <p14:creationId xmlns:p14="http://schemas.microsoft.com/office/powerpoint/2010/main" val="277745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460CC-4866-AB03-32DE-88F0A8D9AA76}"/>
              </a:ext>
            </a:extLst>
          </p:cNvPr>
          <p:cNvSpPr txBox="1"/>
          <p:nvPr/>
        </p:nvSpPr>
        <p:spPr>
          <a:xfrm>
            <a:off x="373929" y="367894"/>
            <a:ext cx="11444141" cy="2219838"/>
          </a:xfrm>
          <a:prstGeom prst="rect">
            <a:avLst/>
          </a:prstGeom>
          <a:noFill/>
        </p:spPr>
        <p:txBody>
          <a:bodyPr wrap="square">
            <a:spAutoFit/>
          </a:bodyPr>
          <a:lstStyle/>
          <a:p>
            <a:pPr>
              <a:lnSpc>
                <a:spcPct val="150000"/>
              </a:lnSpc>
            </a:pPr>
            <a:r>
              <a:rPr lang="en-US" sz="3200" dirty="0">
                <a:latin typeface="Times New Roman" panose="02020603050405020304" pitchFamily="18" charset="0"/>
                <a:cs typeface="Times New Roman" panose="02020603050405020304" pitchFamily="18" charset="0"/>
              </a:rPr>
              <a:t>5. </a:t>
            </a:r>
            <a:r>
              <a:rPr lang="en-US" sz="3200" b="1" dirty="0">
                <a:latin typeface="Times New Roman" panose="02020603050405020304" pitchFamily="18" charset="0"/>
                <a:cs typeface="Times New Roman" panose="02020603050405020304" pitchFamily="18" charset="0"/>
              </a:rPr>
              <a:t>Provision of Resources</a:t>
            </a:r>
            <a:r>
              <a:rPr lang="en-US" sz="3200" dirty="0">
                <a:latin typeface="Times New Roman" panose="02020603050405020304" pitchFamily="18" charset="0"/>
                <a:cs typeface="Times New Roman" panose="02020603050405020304" pitchFamily="18" charset="0"/>
              </a:rPr>
              <a:t>: </a:t>
            </a:r>
            <a:r>
              <a:rPr lang="en-US" sz="3200" b="1" dirty="0">
                <a:solidFill>
                  <a:schemeClr val="accent2">
                    <a:lumMod val="50000"/>
                  </a:schemeClr>
                </a:solidFill>
                <a:latin typeface="Times New Roman" panose="02020603050405020304" pitchFamily="18" charset="0"/>
                <a:cs typeface="Times New Roman" panose="02020603050405020304" pitchFamily="18" charset="0"/>
              </a:rPr>
              <a:t>Forests provide essential resources such as timber, fuel wood, medicinal plants, and food. Many communities depend on these resources for their livelihoods. </a:t>
            </a:r>
          </a:p>
        </p:txBody>
      </p:sp>
    </p:spTree>
    <p:extLst>
      <p:ext uri="{BB962C8B-B14F-4D97-AF65-F5344CB8AC3E}">
        <p14:creationId xmlns:p14="http://schemas.microsoft.com/office/powerpoint/2010/main" val="4212650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45EBDB-6C14-3BA7-7782-C1A4D4DC543B}"/>
              </a:ext>
            </a:extLst>
          </p:cNvPr>
          <p:cNvSpPr txBox="1"/>
          <p:nvPr/>
        </p:nvSpPr>
        <p:spPr>
          <a:xfrm>
            <a:off x="468198" y="138748"/>
            <a:ext cx="11255604" cy="1077218"/>
          </a:xfrm>
          <a:prstGeom prst="rect">
            <a:avLst/>
          </a:prstGeom>
          <a:noFill/>
        </p:spPr>
        <p:txBody>
          <a:bodyPr wrap="square">
            <a:spAutoFit/>
          </a:bodyPr>
          <a:lstStyle/>
          <a:p>
            <a:r>
              <a:rPr lang="en-US" sz="3200" dirty="0">
                <a:latin typeface="Times New Roman" panose="02020603050405020304" pitchFamily="18" charset="0"/>
                <a:cs typeface="Times New Roman" panose="02020603050405020304" pitchFamily="18" charset="0"/>
              </a:rPr>
              <a:t>forest and energy resources- their associated problems and remedial measures</a:t>
            </a:r>
            <a:endParaRPr lang="en-IN" sz="3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53E370E-10D9-D639-9B38-88CE49172E29}"/>
              </a:ext>
            </a:extLst>
          </p:cNvPr>
          <p:cNvPicPr>
            <a:picLocks noChangeAspect="1"/>
          </p:cNvPicPr>
          <p:nvPr/>
        </p:nvPicPr>
        <p:blipFill>
          <a:blip r:embed="rId2"/>
          <a:stretch>
            <a:fillRect/>
          </a:stretch>
        </p:blipFill>
        <p:spPr>
          <a:xfrm>
            <a:off x="2139884" y="801254"/>
            <a:ext cx="8417135" cy="5759802"/>
          </a:xfrm>
          <a:prstGeom prst="rect">
            <a:avLst/>
          </a:prstGeom>
        </p:spPr>
      </p:pic>
    </p:spTree>
    <p:extLst>
      <p:ext uri="{BB962C8B-B14F-4D97-AF65-F5344CB8AC3E}">
        <p14:creationId xmlns:p14="http://schemas.microsoft.com/office/powerpoint/2010/main" val="2490425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7ADFFE-4207-1CAF-BEF0-099D60C38B48}"/>
              </a:ext>
            </a:extLst>
          </p:cNvPr>
          <p:cNvPicPr>
            <a:picLocks noChangeAspect="1"/>
          </p:cNvPicPr>
          <p:nvPr/>
        </p:nvPicPr>
        <p:blipFill>
          <a:blip r:embed="rId2"/>
          <a:stretch>
            <a:fillRect/>
          </a:stretch>
        </p:blipFill>
        <p:spPr>
          <a:xfrm>
            <a:off x="0" y="-1"/>
            <a:ext cx="12192000" cy="6858001"/>
          </a:xfrm>
          <a:prstGeom prst="rect">
            <a:avLst/>
          </a:prstGeom>
        </p:spPr>
      </p:pic>
    </p:spTree>
    <p:extLst>
      <p:ext uri="{BB962C8B-B14F-4D97-AF65-F5344CB8AC3E}">
        <p14:creationId xmlns:p14="http://schemas.microsoft.com/office/powerpoint/2010/main" val="750031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C811DB-2ED7-8D44-94DD-0AB2E8141712}"/>
              </a:ext>
            </a:extLst>
          </p:cNvPr>
          <p:cNvSpPr txBox="1"/>
          <p:nvPr/>
        </p:nvSpPr>
        <p:spPr>
          <a:xfrm>
            <a:off x="1244338" y="-99826"/>
            <a:ext cx="8964892" cy="6970306"/>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Their associated problems</a:t>
            </a:r>
          </a:p>
          <a:p>
            <a:pPr marL="342900" indent="-342900">
              <a:lnSpc>
                <a:spcPct val="150000"/>
              </a:lnSpc>
              <a:buAutoNum type="arabicPeriod"/>
            </a:pPr>
            <a:r>
              <a:rPr lang="en-US" sz="2800" b="1" dirty="0">
                <a:solidFill>
                  <a:schemeClr val="accent5"/>
                </a:solidFill>
                <a:latin typeface="Times New Roman" panose="02020603050405020304" pitchFamily="18" charset="0"/>
                <a:cs typeface="Times New Roman" panose="02020603050405020304" pitchFamily="18" charset="0"/>
              </a:rPr>
              <a:t>Inadequate and Dwindling Forest Cover:</a:t>
            </a:r>
          </a:p>
          <a:p>
            <a:pPr marL="342900" indent="-342900">
              <a:lnSpc>
                <a:spcPct val="150000"/>
              </a:lnSpc>
              <a:buFontTx/>
              <a:buAutoNum type="arabicPeriod"/>
            </a:pPr>
            <a:r>
              <a:rPr lang="en-IN" sz="2800" b="1" dirty="0">
                <a:solidFill>
                  <a:srgbClr val="0000FF"/>
                </a:solidFill>
                <a:latin typeface="Times New Roman" panose="02020603050405020304" pitchFamily="18" charset="0"/>
                <a:cs typeface="Times New Roman" panose="02020603050405020304" pitchFamily="18" charset="0"/>
              </a:rPr>
              <a:t>Low Productivity:</a:t>
            </a:r>
          </a:p>
          <a:p>
            <a:pPr marL="342900" indent="-342900">
              <a:lnSpc>
                <a:spcPct val="150000"/>
              </a:lnSpc>
              <a:buFontTx/>
              <a:buAutoNum type="arabicPeriod"/>
            </a:pPr>
            <a:r>
              <a:rPr lang="en-US" sz="2800" b="1" dirty="0">
                <a:solidFill>
                  <a:srgbClr val="00B050"/>
                </a:solidFill>
                <a:latin typeface="Times New Roman" panose="02020603050405020304" pitchFamily="18" charset="0"/>
                <a:cs typeface="Times New Roman" panose="02020603050405020304" pitchFamily="18" charset="0"/>
              </a:rPr>
              <a:t>Nature of Forests and their Uneconomical Utilization:</a:t>
            </a:r>
          </a:p>
          <a:p>
            <a:pPr marL="342900" indent="-342900">
              <a:lnSpc>
                <a:spcPct val="150000"/>
              </a:lnSpc>
              <a:buFontTx/>
              <a:buAutoNum type="arabicPeriod"/>
            </a:pPr>
            <a:r>
              <a:rPr lang="en-IN" sz="2800" b="1" dirty="0">
                <a:solidFill>
                  <a:srgbClr val="FF0000"/>
                </a:solidFill>
                <a:latin typeface="Times New Roman" panose="02020603050405020304" pitchFamily="18" charset="0"/>
                <a:cs typeface="Times New Roman" panose="02020603050405020304" pitchFamily="18" charset="0"/>
              </a:rPr>
              <a:t>Forest Fires:</a:t>
            </a:r>
          </a:p>
          <a:p>
            <a:pPr marL="342900" indent="-342900">
              <a:lnSpc>
                <a:spcPct val="150000"/>
              </a:lnSpc>
              <a:buFontTx/>
              <a:buAutoNum type="arabicPeriod"/>
            </a:pPr>
            <a:r>
              <a:rPr lang="en-US" sz="2800" b="1" dirty="0">
                <a:solidFill>
                  <a:srgbClr val="0000FF"/>
                </a:solidFill>
                <a:latin typeface="Times New Roman" panose="02020603050405020304" pitchFamily="18" charset="0"/>
                <a:cs typeface="Times New Roman" panose="02020603050405020304" pitchFamily="18" charset="0"/>
              </a:rPr>
              <a:t>Plant Diseases, Insects and Pests:</a:t>
            </a:r>
          </a:p>
          <a:p>
            <a:pPr marL="342900" indent="-342900">
              <a:lnSpc>
                <a:spcPct val="150000"/>
              </a:lnSpc>
              <a:buFontTx/>
              <a:buAutoNum type="arabicPeriod"/>
            </a:pPr>
            <a:r>
              <a:rPr lang="en-US" sz="2800" b="1" dirty="0">
                <a:solidFill>
                  <a:srgbClr val="0070C0"/>
                </a:solidFill>
                <a:latin typeface="Times New Roman" panose="02020603050405020304" pitchFamily="18" charset="0"/>
                <a:cs typeface="Times New Roman" panose="02020603050405020304" pitchFamily="18" charset="0"/>
              </a:rPr>
              <a:t>obsolete Methods of Lumbering and Sawing</a:t>
            </a:r>
          </a:p>
          <a:p>
            <a:pPr marL="342900" indent="-342900">
              <a:lnSpc>
                <a:spcPct val="150000"/>
              </a:lnSpc>
              <a:buFontTx/>
              <a:buAutoNum type="arabicPeriod"/>
            </a:pPr>
            <a:r>
              <a:rPr lang="en-US" sz="2800" b="1" dirty="0">
                <a:solidFill>
                  <a:schemeClr val="accent5">
                    <a:lumMod val="75000"/>
                  </a:schemeClr>
                </a:solidFill>
                <a:latin typeface="Times New Roman" panose="02020603050405020304" pitchFamily="18" charset="0"/>
                <a:cs typeface="Times New Roman" panose="02020603050405020304" pitchFamily="18" charset="0"/>
              </a:rPr>
              <a:t>Lack of Commercial Forests</a:t>
            </a:r>
          </a:p>
          <a:p>
            <a:pPr marL="342900" indent="-342900">
              <a:lnSpc>
                <a:spcPct val="150000"/>
              </a:lnSpc>
              <a:buFontTx/>
              <a:buAutoNum type="arabicPeriod"/>
            </a:pPr>
            <a:r>
              <a:rPr lang="en-IN" sz="2800" b="1" dirty="0">
                <a:solidFill>
                  <a:srgbClr val="0000FF"/>
                </a:solidFill>
                <a:latin typeface="Times New Roman" panose="02020603050405020304" pitchFamily="18" charset="0"/>
                <a:cs typeface="Times New Roman" panose="02020603050405020304" pitchFamily="18" charset="0"/>
              </a:rPr>
              <a:t>Lack of Scientific Techniques</a:t>
            </a:r>
            <a:r>
              <a:rPr lang="en-IN" sz="2800" b="1" dirty="0">
                <a:latin typeface="Times New Roman" panose="02020603050405020304" pitchFamily="18" charset="0"/>
                <a:cs typeface="Times New Roman" panose="02020603050405020304" pitchFamily="18" charset="0"/>
              </a:rPr>
              <a:t>:</a:t>
            </a:r>
          </a:p>
          <a:p>
            <a:pPr marL="342900" indent="-342900">
              <a:lnSpc>
                <a:spcPct val="150000"/>
              </a:lnSpc>
              <a:buFontTx/>
              <a:buAutoNum type="arabicPeriod"/>
            </a:pPr>
            <a:r>
              <a:rPr lang="en-US" sz="2800" b="1" dirty="0">
                <a:latin typeface="Times New Roman" panose="02020603050405020304" pitchFamily="18" charset="0"/>
                <a:cs typeface="Times New Roman" panose="02020603050405020304" pitchFamily="18" charset="0"/>
              </a:rPr>
              <a:t>Undue Concessions to Tribals and Local People:</a:t>
            </a:r>
          </a:p>
          <a:p>
            <a:pPr marL="342900" indent="-342900">
              <a:lnSpc>
                <a:spcPct val="150000"/>
              </a:lnSpc>
              <a:buFontTx/>
              <a:buAutoNum type="arabicPeriod"/>
            </a:pPr>
            <a:r>
              <a:rPr lang="en-US" sz="2800" b="1" dirty="0">
                <a:solidFill>
                  <a:srgbClr val="FF0000"/>
                </a:solidFill>
                <a:latin typeface="Times New Roman" panose="02020603050405020304" pitchFamily="18" charset="0"/>
                <a:cs typeface="Times New Roman" panose="02020603050405020304" pitchFamily="18" charset="0"/>
              </a:rPr>
              <a:t>Rapid Industrialization and urbanization</a:t>
            </a:r>
            <a:endParaRPr lang="en-IN" dirty="0">
              <a:solidFill>
                <a:srgbClr val="FF0000"/>
              </a:solidFill>
            </a:endParaRPr>
          </a:p>
        </p:txBody>
      </p:sp>
    </p:spTree>
    <p:extLst>
      <p:ext uri="{BB962C8B-B14F-4D97-AF65-F5344CB8AC3E}">
        <p14:creationId xmlns:p14="http://schemas.microsoft.com/office/powerpoint/2010/main" val="2355587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E08E12-E657-94F7-2A53-076379FC8033}"/>
              </a:ext>
            </a:extLst>
          </p:cNvPr>
          <p:cNvSpPr txBox="1"/>
          <p:nvPr/>
        </p:nvSpPr>
        <p:spPr>
          <a:xfrm>
            <a:off x="260022" y="335845"/>
            <a:ext cx="11671955" cy="5539978"/>
          </a:xfrm>
          <a:prstGeom prst="rect">
            <a:avLst/>
          </a:prstGeom>
          <a:solidFill>
            <a:schemeClr val="accent6">
              <a:lumMod val="20000"/>
              <a:lumOff val="80000"/>
            </a:schemeClr>
          </a:solidFill>
        </p:spPr>
        <p:txBody>
          <a:bodyPr wrap="square">
            <a:spAutoFit/>
          </a:bodyPr>
          <a:lstStyle/>
          <a:p>
            <a:pPr>
              <a:lnSpc>
                <a:spcPct val="150000"/>
              </a:lnSpc>
            </a:pPr>
            <a:r>
              <a:rPr lang="en-US" sz="2800" b="1" dirty="0">
                <a:latin typeface="Times New Roman" panose="02020603050405020304" pitchFamily="18" charset="0"/>
                <a:cs typeface="Times New Roman" panose="02020603050405020304" pitchFamily="18" charset="0"/>
              </a:rPr>
              <a:t>At present there is an urgent need of undertaking silvicultural operations on a large scale. This can be done through the following measures:</a:t>
            </a:r>
          </a:p>
          <a:p>
            <a:pPr marL="514350" indent="-514350">
              <a:lnSpc>
                <a:spcPct val="150000"/>
              </a:lnSpc>
              <a:buAutoNum type="arabicPeriod"/>
            </a:pPr>
            <a:r>
              <a:rPr lang="en-US" sz="2800" b="1" dirty="0">
                <a:solidFill>
                  <a:srgbClr val="FF0000"/>
                </a:solidFill>
                <a:latin typeface="Times New Roman" panose="02020603050405020304" pitchFamily="18" charset="0"/>
                <a:cs typeface="Times New Roman" panose="02020603050405020304" pitchFamily="18" charset="0"/>
              </a:rPr>
              <a:t>Intensive development schemes for afforestation should be adopted. </a:t>
            </a:r>
          </a:p>
          <a:p>
            <a:pPr marL="514350" indent="-514350">
              <a:lnSpc>
                <a:spcPct val="150000"/>
              </a:lnSpc>
              <a:buAutoNum type="arabicPeriod"/>
            </a:pPr>
            <a:r>
              <a:rPr lang="en-US" sz="2800" b="1" dirty="0">
                <a:latin typeface="Times New Roman" panose="02020603050405020304" pitchFamily="18" charset="0"/>
                <a:cs typeface="Times New Roman" panose="02020603050405020304" pitchFamily="18" charset="0"/>
              </a:rPr>
              <a:t>High yielding varieties should be planted in suitable areas.</a:t>
            </a:r>
          </a:p>
          <a:p>
            <a:pPr>
              <a:lnSpc>
                <a:spcPct val="150000"/>
              </a:lnSpc>
            </a:pPr>
            <a:r>
              <a:rPr lang="en-US" sz="2800" b="1" dirty="0">
                <a:latin typeface="Times New Roman" panose="02020603050405020304" pitchFamily="18" charset="0"/>
                <a:cs typeface="Times New Roman" panose="02020603050405020304" pitchFamily="18" charset="0"/>
              </a:rPr>
              <a:t>3. </a:t>
            </a:r>
            <a:r>
              <a:rPr lang="en-US" sz="2800" b="1" dirty="0">
                <a:solidFill>
                  <a:srgbClr val="0000FF"/>
                </a:solidFill>
                <a:latin typeface="Times New Roman" panose="02020603050405020304" pitchFamily="18" charset="0"/>
                <a:cs typeface="Times New Roman" panose="02020603050405020304" pitchFamily="18" charset="0"/>
              </a:rPr>
              <a:t>Improved techniques of logging and extraction should be used.</a:t>
            </a:r>
          </a:p>
          <a:p>
            <a:pPr>
              <a:lnSpc>
                <a:spcPct val="150000"/>
              </a:lnSpc>
            </a:pPr>
            <a:r>
              <a:rPr lang="en-US" sz="2800" b="1" dirty="0">
                <a:latin typeface="Times New Roman" panose="02020603050405020304" pitchFamily="18" charset="0"/>
                <a:cs typeface="Times New Roman" panose="02020603050405020304" pitchFamily="18" charset="0"/>
              </a:rPr>
              <a:t>4. Proper transport facilities should be provided to remote and inaccessible forest areas.</a:t>
            </a:r>
          </a:p>
          <a:p>
            <a:pPr>
              <a:lnSpc>
                <a:spcPct val="150000"/>
              </a:lnSpc>
            </a:pPr>
            <a:r>
              <a:rPr lang="en-US" sz="2800" b="1" dirty="0">
                <a:latin typeface="Times New Roman" panose="02020603050405020304" pitchFamily="18" charset="0"/>
                <a:cs typeface="Times New Roman" panose="02020603050405020304" pitchFamily="18" charset="0"/>
              </a:rPr>
              <a:t>5. </a:t>
            </a:r>
            <a:r>
              <a:rPr lang="en-US" sz="2800" b="1" dirty="0">
                <a:solidFill>
                  <a:srgbClr val="FF0000"/>
                </a:solidFill>
                <a:latin typeface="Times New Roman" panose="02020603050405020304" pitchFamily="18" charset="0"/>
                <a:cs typeface="Times New Roman" panose="02020603050405020304" pitchFamily="18" charset="0"/>
              </a:rPr>
              <a:t>Saw mills should get uninterrupted power supply.</a:t>
            </a:r>
          </a:p>
          <a:p>
            <a:endParaRPr lang="en-US" dirty="0"/>
          </a:p>
        </p:txBody>
      </p:sp>
    </p:spTree>
    <p:extLst>
      <p:ext uri="{BB962C8B-B14F-4D97-AF65-F5344CB8AC3E}">
        <p14:creationId xmlns:p14="http://schemas.microsoft.com/office/powerpoint/2010/main" val="572425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420C0F-9F17-0935-1C8A-7DD22B7A6798}"/>
              </a:ext>
            </a:extLst>
          </p:cNvPr>
          <p:cNvSpPr txBox="1"/>
          <p:nvPr/>
        </p:nvSpPr>
        <p:spPr>
          <a:xfrm>
            <a:off x="160255" y="497226"/>
            <a:ext cx="11871489" cy="5693866"/>
          </a:xfrm>
          <a:prstGeom prst="rect">
            <a:avLst/>
          </a:prstGeom>
          <a:solidFill>
            <a:schemeClr val="accent6">
              <a:lumMod val="20000"/>
              <a:lumOff val="80000"/>
            </a:schemeClr>
          </a:solidFill>
        </p:spPr>
        <p:txBody>
          <a:bodyPr wrap="square">
            <a:spAutoFit/>
          </a:bodyPr>
          <a:lstStyle/>
          <a:p>
            <a:r>
              <a:rPr lang="en-US" sz="2800" dirty="0">
                <a:latin typeface="Times New Roman" panose="02020603050405020304" pitchFamily="18" charset="0"/>
                <a:cs typeface="Times New Roman" panose="02020603050405020304" pitchFamily="18" charset="0"/>
              </a:rPr>
              <a:t>5. </a:t>
            </a:r>
            <a:r>
              <a:rPr lang="en-US" sz="2800" b="1" dirty="0">
                <a:latin typeface="Times New Roman" panose="02020603050405020304" pitchFamily="18" charset="0"/>
                <a:cs typeface="Times New Roman" panose="02020603050405020304" pitchFamily="18" charset="0"/>
              </a:rPr>
              <a:t>Latest techniques of seasoning and preservation are necessary to avoid wastage.</a:t>
            </a:r>
          </a:p>
          <a:p>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6. Proper arrangements to save forests from fires and plant diseases can go a long way to solve several problems.</a:t>
            </a:r>
          </a:p>
          <a:p>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7. A thorough inventory of forest resources is necessary to make an accurate assessment of our forest resources and make plans for their proper use.</a:t>
            </a:r>
          </a:p>
          <a:p>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8. Shifting cultivation should be discouraged and tribals depending on this type of cultivation should be provided with alternate sources of livelihood.</a:t>
            </a:r>
          </a:p>
          <a:p>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9. People associated with forest protection should be properly trained.</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6053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4D63F54-78D1-EBD3-154E-91F1312DB03A}"/>
              </a:ext>
            </a:extLst>
          </p:cNvPr>
          <p:cNvPicPr>
            <a:picLocks noChangeAspect="1"/>
          </p:cNvPicPr>
          <p:nvPr/>
        </p:nvPicPr>
        <p:blipFill>
          <a:blip r:embed="rId2"/>
          <a:stretch>
            <a:fillRect/>
          </a:stretch>
        </p:blipFill>
        <p:spPr>
          <a:xfrm>
            <a:off x="1159497" y="-273377"/>
            <a:ext cx="9376528" cy="7032396"/>
          </a:xfrm>
          <a:prstGeom prst="rect">
            <a:avLst/>
          </a:prstGeom>
        </p:spPr>
      </p:pic>
    </p:spTree>
    <p:extLst>
      <p:ext uri="{BB962C8B-B14F-4D97-AF65-F5344CB8AC3E}">
        <p14:creationId xmlns:p14="http://schemas.microsoft.com/office/powerpoint/2010/main" val="309008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CC236A5-F0CD-3457-CAF3-3BF3534666EB}"/>
              </a:ext>
            </a:extLst>
          </p:cNvPr>
          <p:cNvPicPr>
            <a:picLocks noChangeAspect="1"/>
          </p:cNvPicPr>
          <p:nvPr/>
        </p:nvPicPr>
        <p:blipFill>
          <a:blip r:embed="rId2"/>
          <a:stretch>
            <a:fillRect/>
          </a:stretch>
        </p:blipFill>
        <p:spPr>
          <a:xfrm>
            <a:off x="2979376" y="0"/>
            <a:ext cx="6455313" cy="6787299"/>
          </a:xfrm>
          <a:prstGeom prst="rect">
            <a:avLst/>
          </a:prstGeom>
        </p:spPr>
      </p:pic>
    </p:spTree>
    <p:extLst>
      <p:ext uri="{BB962C8B-B14F-4D97-AF65-F5344CB8AC3E}">
        <p14:creationId xmlns:p14="http://schemas.microsoft.com/office/powerpoint/2010/main" val="2531748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1">
            <a:extLst>
              <a:ext uri="{FF2B5EF4-FFF2-40B4-BE49-F238E27FC236}">
                <a16:creationId xmlns:a16="http://schemas.microsoft.com/office/drawing/2014/main" id="{1F082F5D-C2CF-0633-61F9-31BCFC2E87A1}"/>
              </a:ext>
            </a:extLst>
          </p:cNvPr>
          <p:cNvSpPr txBox="1">
            <a:spLocks noChangeArrowheads="1"/>
          </p:cNvSpPr>
          <p:nvPr/>
        </p:nvSpPr>
        <p:spPr bwMode="auto">
          <a:xfrm>
            <a:off x="1981200" y="1844675"/>
            <a:ext cx="82296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3200">
                <a:solidFill>
                  <a:srgbClr val="003E07"/>
                </a:solidFill>
                <a:latin typeface="Bahnschrift" panose="020B0502040204020203" pitchFamily="34" charset="0"/>
                <a:ea typeface="Microsoft YaHei" panose="020B0503020204020204" pitchFamily="34" charset="-122"/>
              </a:defRPr>
            </a:lvl1pPr>
            <a:lvl2pPr>
              <a:spcBef>
                <a:spcPts val="7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a:solidFill>
                  <a:srgbClr val="4F6228"/>
                </a:solidFill>
                <a:latin typeface="Bahnschrift" panose="020B0502040204020203" pitchFamily="34" charset="0"/>
                <a:ea typeface="Microsoft YaHei" panose="020B0503020204020204" pitchFamily="34" charset="-122"/>
              </a:defRPr>
            </a:lvl2pPr>
            <a:lvl3pPr>
              <a:spcBef>
                <a:spcPts val="6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77933C"/>
                </a:solidFill>
                <a:latin typeface="Bahnschrift" panose="020B0502040204020203" pitchFamily="34" charset="0"/>
                <a:ea typeface="Microsoft YaHei" panose="020B0503020204020204" pitchFamily="34" charset="-122"/>
                <a:cs typeface="Times New Roman" panose="02020603050405020304" pitchFamily="18" charset="0"/>
              </a:defRPr>
            </a:lvl3pPr>
            <a:lvl4pPr>
              <a:spcBef>
                <a:spcPts val="5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4pPr>
            <a:lvl5pPr>
              <a:spcBef>
                <a:spcPts val="5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9pPr>
          </a:lstStyle>
          <a:p>
            <a:pPr algn="ctr">
              <a:spcBef>
                <a:spcPct val="0"/>
              </a:spcBef>
              <a:buClrTx/>
              <a:buFontTx/>
              <a:buNone/>
            </a:pPr>
            <a:r>
              <a:rPr lang="en-US" altLang="en-US" sz="8000" b="1">
                <a:solidFill>
                  <a:srgbClr val="FF0000"/>
                </a:solidFill>
                <a:latin typeface="Bahnschrift Light" panose="020B0502040204020203" pitchFamily="34" charset="0"/>
              </a:rPr>
              <a:t>Problems associated with water resource</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1">
            <a:extLst>
              <a:ext uri="{FF2B5EF4-FFF2-40B4-BE49-F238E27FC236}">
                <a16:creationId xmlns:a16="http://schemas.microsoft.com/office/drawing/2014/main" id="{BAA89442-9592-C39F-F839-5C80B287B9DE}"/>
              </a:ext>
            </a:extLst>
          </p:cNvPr>
          <p:cNvSpPr txBox="1">
            <a:spLocks noChangeArrowheads="1"/>
          </p:cNvSpPr>
          <p:nvPr/>
        </p:nvSpPr>
        <p:spPr bwMode="auto">
          <a:xfrm>
            <a:off x="1981200" y="160337"/>
            <a:ext cx="8229600" cy="3902615"/>
          </a:xfrm>
          <a:prstGeom prst="rect">
            <a:avLst/>
          </a:prstGeom>
          <a:solidFill>
            <a:srgbClr val="002060"/>
          </a:solidFill>
          <a:ln>
            <a:noFill/>
          </a:ln>
        </p:spPr>
        <p:txBody>
          <a:bodyPr anchor="ctr"/>
          <a:lstStyle>
            <a:lvl1pPr>
              <a:spcBef>
                <a:spcPts val="8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3200">
                <a:solidFill>
                  <a:srgbClr val="003E07"/>
                </a:solidFill>
                <a:latin typeface="Bahnschrift" panose="020B0502040204020203" pitchFamily="34" charset="0"/>
                <a:ea typeface="Microsoft YaHei" panose="020B0503020204020204" pitchFamily="34" charset="-122"/>
              </a:defRPr>
            </a:lvl1pPr>
            <a:lvl2pPr>
              <a:spcBef>
                <a:spcPts val="7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a:solidFill>
                  <a:srgbClr val="4F6228"/>
                </a:solidFill>
                <a:latin typeface="Bahnschrift" panose="020B0502040204020203" pitchFamily="34" charset="0"/>
                <a:ea typeface="Microsoft YaHei" panose="020B0503020204020204" pitchFamily="34" charset="-122"/>
              </a:defRPr>
            </a:lvl2pPr>
            <a:lvl3pPr>
              <a:spcBef>
                <a:spcPts val="6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77933C"/>
                </a:solidFill>
                <a:latin typeface="Bahnschrift" panose="020B0502040204020203" pitchFamily="34" charset="0"/>
                <a:ea typeface="Microsoft YaHei" panose="020B0503020204020204" pitchFamily="34" charset="-122"/>
                <a:cs typeface="Times New Roman" panose="02020603050405020304" pitchFamily="18" charset="0"/>
              </a:defRPr>
            </a:lvl3pPr>
            <a:lvl4pPr>
              <a:spcBef>
                <a:spcPts val="5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4pPr>
            <a:lvl5pPr>
              <a:spcBef>
                <a:spcPts val="5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9pPr>
          </a:lstStyle>
          <a:p>
            <a:pPr>
              <a:spcBef>
                <a:spcPct val="0"/>
              </a:spcBef>
              <a:buClrTx/>
              <a:buFontTx/>
              <a:buNone/>
            </a:pPr>
            <a:r>
              <a:rPr lang="en-US" altLang="en-US" sz="4400" dirty="0">
                <a:solidFill>
                  <a:srgbClr val="C3D69B"/>
                </a:solidFill>
                <a:latin typeface="Bahnschrift Light" panose="020B0502040204020203" pitchFamily="34" charset="0"/>
              </a:rPr>
              <a:t>1. </a:t>
            </a:r>
            <a:r>
              <a:rPr lang="en-US" altLang="en-US" sz="6600" dirty="0">
                <a:solidFill>
                  <a:srgbClr val="C3D69B"/>
                </a:solidFill>
                <a:latin typeface="Bahnschrift Light" panose="020B0502040204020203" pitchFamily="34" charset="0"/>
              </a:rPr>
              <a:t>Indiscriminate and unsustainable water usage</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1">
            <a:extLst>
              <a:ext uri="{FF2B5EF4-FFF2-40B4-BE49-F238E27FC236}">
                <a16:creationId xmlns:a16="http://schemas.microsoft.com/office/drawing/2014/main" id="{9A20935E-40BF-B0D1-1AFE-D43E13D39DCC}"/>
              </a:ext>
            </a:extLst>
          </p:cNvPr>
          <p:cNvSpPr txBox="1">
            <a:spLocks noChangeArrowheads="1"/>
          </p:cNvSpPr>
          <p:nvPr/>
        </p:nvSpPr>
        <p:spPr bwMode="auto">
          <a:xfrm>
            <a:off x="329939" y="491127"/>
            <a:ext cx="7918516" cy="1143000"/>
          </a:xfrm>
          <a:prstGeom prst="rect">
            <a:avLst/>
          </a:prstGeom>
          <a:solidFill>
            <a:schemeClr val="tx2">
              <a:lumMod val="40000"/>
              <a:lumOff val="60000"/>
            </a:schemeClr>
          </a:solidFill>
          <a:ln>
            <a:noFill/>
          </a:ln>
        </p:spPr>
        <p:txBody>
          <a:bodyPr anchor="ctr"/>
          <a:lstStyle>
            <a:lvl1pPr>
              <a:spcBef>
                <a:spcPts val="8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3200">
                <a:solidFill>
                  <a:srgbClr val="003E07"/>
                </a:solidFill>
                <a:latin typeface="Bahnschrift" panose="020B0502040204020203" pitchFamily="34" charset="0"/>
                <a:ea typeface="Microsoft YaHei" panose="020B0503020204020204" pitchFamily="34" charset="-122"/>
              </a:defRPr>
            </a:lvl1pPr>
            <a:lvl2pPr>
              <a:spcBef>
                <a:spcPts val="7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a:solidFill>
                  <a:srgbClr val="4F6228"/>
                </a:solidFill>
                <a:latin typeface="Bahnschrift" panose="020B0502040204020203" pitchFamily="34" charset="0"/>
                <a:ea typeface="Microsoft YaHei" panose="020B0503020204020204" pitchFamily="34" charset="-122"/>
              </a:defRPr>
            </a:lvl2pPr>
            <a:lvl3pPr>
              <a:spcBef>
                <a:spcPts val="6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77933C"/>
                </a:solidFill>
                <a:latin typeface="Bahnschrift" panose="020B0502040204020203" pitchFamily="34" charset="0"/>
                <a:ea typeface="Microsoft YaHei" panose="020B0503020204020204" pitchFamily="34" charset="-122"/>
                <a:cs typeface="Times New Roman" panose="02020603050405020304" pitchFamily="18" charset="0"/>
              </a:defRPr>
            </a:lvl3pPr>
            <a:lvl4pPr>
              <a:spcBef>
                <a:spcPts val="5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4pPr>
            <a:lvl5pPr>
              <a:spcBef>
                <a:spcPts val="5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9pPr>
          </a:lstStyle>
          <a:p>
            <a:pPr>
              <a:spcBef>
                <a:spcPct val="0"/>
              </a:spcBef>
              <a:buClrTx/>
              <a:buFontTx/>
              <a:buNone/>
            </a:pPr>
            <a:r>
              <a:rPr lang="en-US" altLang="en-US" sz="4400" b="1" dirty="0">
                <a:solidFill>
                  <a:schemeClr val="tx1"/>
                </a:solidFill>
                <a:latin typeface="Bahnschrift Light" panose="020B0502040204020203" pitchFamily="34" charset="0"/>
              </a:rPr>
              <a:t>2. Pollution and Contamination </a:t>
            </a:r>
          </a:p>
        </p:txBody>
      </p:sp>
      <p:sp>
        <p:nvSpPr>
          <p:cNvPr id="21507" name="Rectangle 1">
            <a:extLst>
              <a:ext uri="{FF2B5EF4-FFF2-40B4-BE49-F238E27FC236}">
                <a16:creationId xmlns:a16="http://schemas.microsoft.com/office/drawing/2014/main" id="{4B2D24F5-9509-6B6B-230F-E453B2DA3BEF}"/>
              </a:ext>
            </a:extLst>
          </p:cNvPr>
          <p:cNvSpPr>
            <a:spLocks noChangeArrowheads="1"/>
          </p:cNvSpPr>
          <p:nvPr/>
        </p:nvSpPr>
        <p:spPr bwMode="auto">
          <a:xfrm>
            <a:off x="329938" y="2059364"/>
            <a:ext cx="7752253" cy="3139321"/>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ts val="600"/>
              </a:spcBef>
              <a:spcAft>
                <a:spcPts val="600"/>
              </a:spcAft>
              <a:buClr>
                <a:srgbClr val="000000"/>
              </a:buClr>
              <a:buSzPct val="100000"/>
              <a:buFont typeface="Times New Roman" panose="02020603050405020304" pitchFamily="18" charset="0"/>
              <a:buChar char="•"/>
            </a:pPr>
            <a:r>
              <a:rPr lang="en-GB" altLang="en-US" sz="2800" dirty="0"/>
              <a:t> Industrial waste discharge into rivers and lakes </a:t>
            </a:r>
          </a:p>
          <a:p>
            <a:pPr>
              <a:spcBef>
                <a:spcPts val="600"/>
              </a:spcBef>
              <a:spcAft>
                <a:spcPts val="600"/>
              </a:spcAft>
              <a:buClr>
                <a:srgbClr val="000000"/>
              </a:buClr>
              <a:buSzPct val="100000"/>
              <a:buFont typeface="Times New Roman" panose="02020603050405020304" pitchFamily="18" charset="0"/>
              <a:buChar char="•"/>
            </a:pPr>
            <a:r>
              <a:rPr lang="en-GB" altLang="en-US" sz="2800" dirty="0"/>
              <a:t> Agricultural runoff containing pesticides and fertilizers </a:t>
            </a:r>
          </a:p>
          <a:p>
            <a:pPr>
              <a:spcBef>
                <a:spcPts val="600"/>
              </a:spcBef>
              <a:spcAft>
                <a:spcPts val="600"/>
              </a:spcAft>
              <a:buClr>
                <a:srgbClr val="000000"/>
              </a:buClr>
              <a:buSzPct val="100000"/>
              <a:buFont typeface="Times New Roman" panose="02020603050405020304" pitchFamily="18" charset="0"/>
              <a:buChar char="•"/>
            </a:pPr>
            <a:r>
              <a:rPr lang="en-GB" altLang="en-US" sz="2800" dirty="0"/>
              <a:t> Sewage and domestic waste contamination </a:t>
            </a:r>
          </a:p>
          <a:p>
            <a:pPr>
              <a:spcBef>
                <a:spcPts val="600"/>
              </a:spcBef>
              <a:spcAft>
                <a:spcPts val="600"/>
              </a:spcAft>
              <a:buClr>
                <a:srgbClr val="000000"/>
              </a:buClr>
              <a:buSzPct val="100000"/>
              <a:buFont typeface="Times New Roman" panose="02020603050405020304" pitchFamily="18" charset="0"/>
              <a:buChar char="•"/>
            </a:pPr>
            <a:r>
              <a:rPr lang="en-GB" altLang="en-US" sz="2800" dirty="0"/>
              <a:t> Chemical pollutants making water unsafe for drinking </a:t>
            </a:r>
          </a:p>
        </p:txBody>
      </p:sp>
      <p:pic>
        <p:nvPicPr>
          <p:cNvPr id="21508" name="Picture 3" descr="Industrial Water Pollution and It's Effects - Daiki Axis">
            <a:extLst>
              <a:ext uri="{FF2B5EF4-FFF2-40B4-BE49-F238E27FC236}">
                <a16:creationId xmlns:a16="http://schemas.microsoft.com/office/drawing/2014/main" id="{50A986B1-79B3-4D38-7BFA-A33EDCA099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2193" y="1634127"/>
            <a:ext cx="3703637" cy="217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5" descr="World Bank Says Water Pollution Weighs on Global Economic Growth - OERLive">
            <a:extLst>
              <a:ext uri="{FF2B5EF4-FFF2-40B4-BE49-F238E27FC236}">
                <a16:creationId xmlns:a16="http://schemas.microsoft.com/office/drawing/2014/main" id="{FE9B6FDA-D856-0A2B-A99C-C634411DD6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2192" y="3924301"/>
            <a:ext cx="3703637" cy="222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1">
            <a:extLst>
              <a:ext uri="{FF2B5EF4-FFF2-40B4-BE49-F238E27FC236}">
                <a16:creationId xmlns:a16="http://schemas.microsoft.com/office/drawing/2014/main" id="{57B6E13C-D761-DE5C-6352-48E3C18AD50D}"/>
              </a:ext>
            </a:extLst>
          </p:cNvPr>
          <p:cNvSpPr txBox="1">
            <a:spLocks noChangeArrowheads="1"/>
          </p:cNvSpPr>
          <p:nvPr/>
        </p:nvSpPr>
        <p:spPr bwMode="auto">
          <a:xfrm>
            <a:off x="838986" y="457201"/>
            <a:ext cx="9988909"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3200">
                <a:solidFill>
                  <a:srgbClr val="003E07"/>
                </a:solidFill>
                <a:latin typeface="Bahnschrift" panose="020B0502040204020203" pitchFamily="34" charset="0"/>
                <a:ea typeface="Microsoft YaHei" panose="020B0503020204020204" pitchFamily="34" charset="-122"/>
              </a:defRPr>
            </a:lvl1pPr>
            <a:lvl2pPr>
              <a:spcBef>
                <a:spcPts val="7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a:solidFill>
                  <a:srgbClr val="4F6228"/>
                </a:solidFill>
                <a:latin typeface="Bahnschrift" panose="020B0502040204020203" pitchFamily="34" charset="0"/>
                <a:ea typeface="Microsoft YaHei" panose="020B0503020204020204" pitchFamily="34" charset="-122"/>
              </a:defRPr>
            </a:lvl2pPr>
            <a:lvl3pPr>
              <a:spcBef>
                <a:spcPts val="6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77933C"/>
                </a:solidFill>
                <a:latin typeface="Bahnschrift" panose="020B0502040204020203" pitchFamily="34" charset="0"/>
                <a:ea typeface="Microsoft YaHei" panose="020B0503020204020204" pitchFamily="34" charset="-122"/>
                <a:cs typeface="Times New Roman" panose="02020603050405020304" pitchFamily="18" charset="0"/>
              </a:defRPr>
            </a:lvl3pPr>
            <a:lvl4pPr>
              <a:spcBef>
                <a:spcPts val="5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4pPr>
            <a:lvl5pPr>
              <a:spcBef>
                <a:spcPts val="5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9pPr>
          </a:lstStyle>
          <a:p>
            <a:pPr>
              <a:spcBef>
                <a:spcPct val="0"/>
              </a:spcBef>
              <a:buClrTx/>
              <a:buFontTx/>
              <a:buNone/>
            </a:pPr>
            <a:r>
              <a:rPr lang="en-US" altLang="en-US" sz="4400" b="1" dirty="0">
                <a:solidFill>
                  <a:srgbClr val="C3D69B"/>
                </a:solidFill>
                <a:latin typeface="Bahnschrift Light" panose="020B0502040204020203" pitchFamily="34" charset="0"/>
              </a:rPr>
              <a:t>3. Over exploitation of ground water</a:t>
            </a:r>
          </a:p>
        </p:txBody>
      </p:sp>
      <p:sp>
        <p:nvSpPr>
          <p:cNvPr id="23555" name="Text Box 2">
            <a:extLst>
              <a:ext uri="{FF2B5EF4-FFF2-40B4-BE49-F238E27FC236}">
                <a16:creationId xmlns:a16="http://schemas.microsoft.com/office/drawing/2014/main" id="{3064A8CC-2BA7-5F8F-6F20-2517F1B212BE}"/>
              </a:ext>
            </a:extLst>
          </p:cNvPr>
          <p:cNvSpPr txBox="1">
            <a:spLocks noChangeArrowheads="1"/>
          </p:cNvSpPr>
          <p:nvPr/>
        </p:nvSpPr>
        <p:spPr bwMode="auto">
          <a:xfrm>
            <a:off x="838986" y="2129632"/>
            <a:ext cx="6114264" cy="3347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30200" indent="-330200">
              <a:spcBef>
                <a:spcPts val="800"/>
              </a:spcBef>
              <a:buClr>
                <a:srgbClr val="000000"/>
              </a:buClr>
              <a:buSzPct val="100000"/>
              <a:buFont typeface="Times New Roman" panose="02020603050405020304" pitchFamily="18" charset="0"/>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sz="3200">
                <a:solidFill>
                  <a:srgbClr val="003E07"/>
                </a:solidFill>
                <a:latin typeface="Bahnschrift" panose="020B0502040204020203" pitchFamily="34" charset="0"/>
                <a:ea typeface="Microsoft YaHei" panose="020B0503020204020204" pitchFamily="34" charset="-122"/>
              </a:defRPr>
            </a:lvl1pPr>
            <a:lvl2pPr>
              <a:spcBef>
                <a:spcPts val="700"/>
              </a:spcBef>
              <a:buClr>
                <a:srgbClr val="000000"/>
              </a:buClr>
              <a:buSzPct val="100000"/>
              <a:buFont typeface="Times New Roman" panose="02020603050405020304" pitchFamily="18" charset="0"/>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sz="2800">
                <a:solidFill>
                  <a:srgbClr val="4F6228"/>
                </a:solidFill>
                <a:latin typeface="Bahnschrift" panose="020B0502040204020203" pitchFamily="34" charset="0"/>
                <a:ea typeface="Microsoft YaHei" panose="020B0503020204020204" pitchFamily="34" charset="-122"/>
              </a:defRPr>
            </a:lvl2pPr>
            <a:lvl3pPr>
              <a:spcBef>
                <a:spcPts val="600"/>
              </a:spcBef>
              <a:buClr>
                <a:srgbClr val="000000"/>
              </a:buClr>
              <a:buSzPct val="100000"/>
              <a:buFont typeface="Times New Roman" panose="02020603050405020304" pitchFamily="18" charset="0"/>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sz="2400">
                <a:solidFill>
                  <a:srgbClr val="77933C"/>
                </a:solidFill>
                <a:latin typeface="Bahnschrift" panose="020B0502040204020203" pitchFamily="34" charset="0"/>
                <a:ea typeface="Microsoft YaHei" panose="020B0503020204020204" pitchFamily="34" charset="-122"/>
                <a:cs typeface="Times New Roman" panose="02020603050405020304" pitchFamily="18" charset="0"/>
              </a:defRPr>
            </a:lvl3pPr>
            <a:lvl4pPr>
              <a:spcBef>
                <a:spcPts val="500"/>
              </a:spcBef>
              <a:buClr>
                <a:srgbClr val="000000"/>
              </a:buClr>
              <a:buSzPct val="100000"/>
              <a:buFont typeface="Times New Roman" panose="02020603050405020304" pitchFamily="18" charset="0"/>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sz="200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4pPr>
            <a:lvl5pPr>
              <a:spcBef>
                <a:spcPts val="500"/>
              </a:spcBef>
              <a:buClr>
                <a:srgbClr val="000000"/>
              </a:buClr>
              <a:buSzPct val="100000"/>
              <a:buFont typeface="Times New Roman" panose="02020603050405020304" pitchFamily="18" charset="0"/>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9pPr>
          </a:lstStyle>
          <a:p>
            <a:pPr>
              <a:buClr>
                <a:srgbClr val="77933C"/>
              </a:buClr>
              <a:buFont typeface="Wingdings" panose="05000000000000000000" pitchFamily="2" charset="2"/>
              <a:buChar char=""/>
            </a:pPr>
            <a:r>
              <a:rPr lang="en-US" altLang="en-US" sz="2800" dirty="0"/>
              <a:t>Ground subsidence</a:t>
            </a:r>
          </a:p>
          <a:p>
            <a:pPr>
              <a:buClr>
                <a:srgbClr val="77933C"/>
              </a:buClr>
              <a:buFont typeface="Wingdings" panose="05000000000000000000" pitchFamily="2" charset="2"/>
              <a:buChar char=""/>
            </a:pPr>
            <a:r>
              <a:rPr lang="en-US" altLang="en-US" sz="2800" dirty="0"/>
              <a:t>Lowering water table</a:t>
            </a:r>
          </a:p>
          <a:p>
            <a:pPr>
              <a:buClr>
                <a:srgbClr val="77933C"/>
              </a:buClr>
              <a:buFont typeface="Wingdings" panose="05000000000000000000" pitchFamily="2" charset="2"/>
              <a:buChar char=""/>
            </a:pPr>
            <a:r>
              <a:rPr lang="en-US" altLang="en-US" sz="2800" dirty="0"/>
              <a:t>Reduced surface water flow</a:t>
            </a:r>
          </a:p>
          <a:p>
            <a:pPr>
              <a:buClr>
                <a:srgbClr val="77933C"/>
              </a:buClr>
              <a:buFont typeface="Wingdings" panose="05000000000000000000" pitchFamily="2" charset="2"/>
              <a:buChar char=""/>
            </a:pPr>
            <a:r>
              <a:rPr lang="en-US" altLang="en-US" sz="2800" dirty="0"/>
              <a:t>Increased power consumption</a:t>
            </a:r>
          </a:p>
          <a:p>
            <a:pPr>
              <a:buClr>
                <a:srgbClr val="77933C"/>
              </a:buClr>
              <a:buFont typeface="Wingdings" panose="05000000000000000000" pitchFamily="2" charset="2"/>
              <a:buChar char=""/>
            </a:pPr>
            <a:r>
              <a:rPr lang="en-US" altLang="en-US" sz="2800" dirty="0"/>
              <a:t>Water logging</a:t>
            </a:r>
          </a:p>
          <a:p>
            <a:pPr>
              <a:buClr>
                <a:srgbClr val="77933C"/>
              </a:buClr>
              <a:buFont typeface="Wingdings" panose="05000000000000000000" pitchFamily="2" charset="2"/>
              <a:buChar char=""/>
            </a:pPr>
            <a:r>
              <a:rPr lang="en-US" altLang="en-US" sz="2800" dirty="0"/>
              <a:t>Ground water pollution</a:t>
            </a:r>
          </a:p>
          <a:p>
            <a:pPr marL="0" indent="0">
              <a:buClr>
                <a:srgbClr val="77933C"/>
              </a:buClr>
              <a:buNone/>
            </a:pPr>
            <a:endParaRPr lang="en-US" altLang="en-US" sz="2800" dirty="0"/>
          </a:p>
        </p:txBody>
      </p:sp>
      <p:pic>
        <p:nvPicPr>
          <p:cNvPr id="23556" name="Picture 3">
            <a:extLst>
              <a:ext uri="{FF2B5EF4-FFF2-40B4-BE49-F238E27FC236}">
                <a16:creationId xmlns:a16="http://schemas.microsoft.com/office/drawing/2014/main" id="{E0E99758-5122-5822-76C4-C86F7BB292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5501" y="2057401"/>
            <a:ext cx="3128963" cy="19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23557" name="Picture 4">
            <a:extLst>
              <a:ext uri="{FF2B5EF4-FFF2-40B4-BE49-F238E27FC236}">
                <a16:creationId xmlns:a16="http://schemas.microsoft.com/office/drawing/2014/main" id="{37178C3D-43A5-E016-D9FA-9BBDE1D951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7551" y="4392613"/>
            <a:ext cx="3109913"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1">
            <a:extLst>
              <a:ext uri="{FF2B5EF4-FFF2-40B4-BE49-F238E27FC236}">
                <a16:creationId xmlns:a16="http://schemas.microsoft.com/office/drawing/2014/main" id="{CBC08E9B-DED1-288C-9889-4FE19C5D8225}"/>
              </a:ext>
            </a:extLst>
          </p:cNvPr>
          <p:cNvSpPr txBox="1">
            <a:spLocks noChangeArrowheads="1"/>
          </p:cNvSpPr>
          <p:nvPr/>
        </p:nvSpPr>
        <p:spPr bwMode="auto">
          <a:xfrm>
            <a:off x="282804" y="76201"/>
            <a:ext cx="8229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3200">
                <a:solidFill>
                  <a:srgbClr val="003E07"/>
                </a:solidFill>
                <a:latin typeface="Bahnschrift" panose="020B0502040204020203" pitchFamily="34" charset="0"/>
                <a:ea typeface="Microsoft YaHei" panose="020B0503020204020204" pitchFamily="34" charset="-122"/>
              </a:defRPr>
            </a:lvl1pPr>
            <a:lvl2pPr>
              <a:spcBef>
                <a:spcPts val="7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a:solidFill>
                  <a:srgbClr val="4F6228"/>
                </a:solidFill>
                <a:latin typeface="Bahnschrift" panose="020B0502040204020203" pitchFamily="34" charset="0"/>
                <a:ea typeface="Microsoft YaHei" panose="020B0503020204020204" pitchFamily="34" charset="-122"/>
              </a:defRPr>
            </a:lvl2pPr>
            <a:lvl3pPr>
              <a:spcBef>
                <a:spcPts val="6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77933C"/>
                </a:solidFill>
                <a:latin typeface="Bahnschrift" panose="020B0502040204020203" pitchFamily="34" charset="0"/>
                <a:ea typeface="Microsoft YaHei" panose="020B0503020204020204" pitchFamily="34" charset="-122"/>
                <a:cs typeface="Times New Roman" panose="02020603050405020304" pitchFamily="18" charset="0"/>
              </a:defRPr>
            </a:lvl3pPr>
            <a:lvl4pPr>
              <a:spcBef>
                <a:spcPts val="5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4pPr>
            <a:lvl5pPr>
              <a:spcBef>
                <a:spcPts val="5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9pPr>
          </a:lstStyle>
          <a:p>
            <a:pPr>
              <a:spcBef>
                <a:spcPct val="0"/>
              </a:spcBef>
              <a:buClrTx/>
              <a:buFontTx/>
              <a:buNone/>
            </a:pPr>
            <a:r>
              <a:rPr lang="en-US" altLang="en-US" sz="5400" b="1" dirty="0">
                <a:solidFill>
                  <a:srgbClr val="C3D69B"/>
                </a:solidFill>
                <a:latin typeface="Bahnschrift Light" panose="020B0502040204020203" pitchFamily="34" charset="0"/>
              </a:rPr>
              <a:t>4. Climate Change Impact</a:t>
            </a:r>
          </a:p>
        </p:txBody>
      </p:sp>
      <p:sp>
        <p:nvSpPr>
          <p:cNvPr id="25603" name="Rectangle 1">
            <a:extLst>
              <a:ext uri="{FF2B5EF4-FFF2-40B4-BE49-F238E27FC236}">
                <a16:creationId xmlns:a16="http://schemas.microsoft.com/office/drawing/2014/main" id="{7FB58195-1124-59C3-4EC6-F8346D1579AA}"/>
              </a:ext>
            </a:extLst>
          </p:cNvPr>
          <p:cNvSpPr>
            <a:spLocks noChangeArrowheads="1"/>
          </p:cNvSpPr>
          <p:nvPr/>
        </p:nvSpPr>
        <p:spPr bwMode="auto">
          <a:xfrm>
            <a:off x="282804" y="1646239"/>
            <a:ext cx="6784747" cy="449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ts val="600"/>
              </a:spcBef>
              <a:spcAft>
                <a:spcPts val="600"/>
              </a:spcAft>
              <a:buFont typeface="Arial" panose="020B0604020202020204" pitchFamily="34" charset="0"/>
              <a:buChar char="•"/>
            </a:pPr>
            <a:r>
              <a:rPr lang="en-US" altLang="en-US" sz="3200" dirty="0"/>
              <a:t> Irregular rainfall patterns affecting water availability </a:t>
            </a:r>
          </a:p>
          <a:p>
            <a:pPr>
              <a:spcBef>
                <a:spcPts val="600"/>
              </a:spcBef>
              <a:spcAft>
                <a:spcPts val="600"/>
              </a:spcAft>
              <a:buFont typeface="Arial" panose="020B0604020202020204" pitchFamily="34" charset="0"/>
              <a:buChar char="•"/>
            </a:pPr>
            <a:r>
              <a:rPr lang="en-US" altLang="en-US" sz="3200" dirty="0"/>
              <a:t> Increased frequency of floods and droughts</a:t>
            </a:r>
          </a:p>
          <a:p>
            <a:pPr>
              <a:spcBef>
                <a:spcPts val="600"/>
              </a:spcBef>
              <a:spcAft>
                <a:spcPts val="600"/>
              </a:spcAft>
              <a:buFont typeface="Arial" panose="020B0604020202020204" pitchFamily="34" charset="0"/>
              <a:buChar char="•"/>
            </a:pPr>
            <a:r>
              <a:rPr lang="en-US" altLang="en-US" sz="3200" dirty="0"/>
              <a:t> Melting glaciers affecting river water supply</a:t>
            </a:r>
          </a:p>
          <a:p>
            <a:pPr>
              <a:spcBef>
                <a:spcPts val="600"/>
              </a:spcBef>
              <a:spcAft>
                <a:spcPts val="600"/>
              </a:spcAft>
              <a:buFont typeface="Arial" panose="020B0604020202020204" pitchFamily="34" charset="0"/>
              <a:buChar char="•"/>
            </a:pPr>
            <a:r>
              <a:rPr lang="en-US" altLang="en-US" sz="3200" dirty="0"/>
              <a:t> Rising sea levels causing saltwater intrusion</a:t>
            </a:r>
          </a:p>
        </p:txBody>
      </p:sp>
      <p:pic>
        <p:nvPicPr>
          <p:cNvPr id="25604" name="Picture 2" descr="Madhya Pradesh gets highly uneven rainfall as 2021 rainy season ends- The  Week">
            <a:extLst>
              <a:ext uri="{FF2B5EF4-FFF2-40B4-BE49-F238E27FC236}">
                <a16:creationId xmlns:a16="http://schemas.microsoft.com/office/drawing/2014/main" id="{8A8A0FFF-2D46-6F18-D54F-13E9990909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8593" y="1411289"/>
            <a:ext cx="4152900" cy="239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6" descr="Melting glaciers have been shifting the Earth's poles since 1995, new study  suggests – Physics World">
            <a:extLst>
              <a:ext uri="{FF2B5EF4-FFF2-40B4-BE49-F238E27FC236}">
                <a16:creationId xmlns:a16="http://schemas.microsoft.com/office/drawing/2014/main" id="{2F24F82B-50FA-DD27-FA6F-DA57D361B0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1716" y="3974308"/>
            <a:ext cx="4148137" cy="232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1">
            <a:extLst>
              <a:ext uri="{FF2B5EF4-FFF2-40B4-BE49-F238E27FC236}">
                <a16:creationId xmlns:a16="http://schemas.microsoft.com/office/drawing/2014/main" id="{B65B1CEE-27F9-393E-1793-309C4A6B2B00}"/>
              </a:ext>
            </a:extLst>
          </p:cNvPr>
          <p:cNvSpPr txBox="1">
            <a:spLocks noChangeArrowheads="1"/>
          </p:cNvSpPr>
          <p:nvPr/>
        </p:nvSpPr>
        <p:spPr bwMode="auto">
          <a:xfrm>
            <a:off x="566721" y="130805"/>
            <a:ext cx="8229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3200">
                <a:solidFill>
                  <a:srgbClr val="003E07"/>
                </a:solidFill>
                <a:latin typeface="Bahnschrift" panose="020B0502040204020203" pitchFamily="34" charset="0"/>
                <a:ea typeface="Microsoft YaHei" panose="020B0503020204020204" pitchFamily="34" charset="-122"/>
              </a:defRPr>
            </a:lvl1pPr>
            <a:lvl2pPr>
              <a:spcBef>
                <a:spcPts val="7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a:solidFill>
                  <a:srgbClr val="4F6228"/>
                </a:solidFill>
                <a:latin typeface="Bahnschrift" panose="020B0502040204020203" pitchFamily="34" charset="0"/>
                <a:ea typeface="Microsoft YaHei" panose="020B0503020204020204" pitchFamily="34" charset="-122"/>
              </a:defRPr>
            </a:lvl2pPr>
            <a:lvl3pPr>
              <a:spcBef>
                <a:spcPts val="6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77933C"/>
                </a:solidFill>
                <a:latin typeface="Bahnschrift" panose="020B0502040204020203" pitchFamily="34" charset="0"/>
                <a:ea typeface="Microsoft YaHei" panose="020B0503020204020204" pitchFamily="34" charset="-122"/>
                <a:cs typeface="Times New Roman" panose="02020603050405020304" pitchFamily="18" charset="0"/>
              </a:defRPr>
            </a:lvl3pPr>
            <a:lvl4pPr>
              <a:spcBef>
                <a:spcPts val="5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4pPr>
            <a:lvl5pPr>
              <a:spcBef>
                <a:spcPts val="500"/>
              </a:spcBef>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i="1">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defRPr>
            </a:lvl9pPr>
          </a:lstStyle>
          <a:p>
            <a:pPr>
              <a:spcBef>
                <a:spcPct val="0"/>
              </a:spcBef>
              <a:buClrTx/>
              <a:buFontTx/>
              <a:buNone/>
            </a:pPr>
            <a:r>
              <a:rPr lang="en-US" altLang="en-US" sz="5400" b="1" dirty="0">
                <a:solidFill>
                  <a:srgbClr val="C3D69B"/>
                </a:solidFill>
                <a:latin typeface="Bahnschrift Light" panose="020B0502040204020203" pitchFamily="34" charset="0"/>
              </a:rPr>
              <a:t>5. Infrastructure Issues</a:t>
            </a:r>
          </a:p>
        </p:txBody>
      </p:sp>
      <p:sp>
        <p:nvSpPr>
          <p:cNvPr id="27651" name="Rectangle 2">
            <a:extLst>
              <a:ext uri="{FF2B5EF4-FFF2-40B4-BE49-F238E27FC236}">
                <a16:creationId xmlns:a16="http://schemas.microsoft.com/office/drawing/2014/main" id="{5D4BD36D-B8AF-6BD9-0EAF-F6FA8D313B29}"/>
              </a:ext>
            </a:extLst>
          </p:cNvPr>
          <p:cNvSpPr>
            <a:spLocks noChangeArrowheads="1"/>
          </p:cNvSpPr>
          <p:nvPr/>
        </p:nvSpPr>
        <p:spPr bwMode="auto">
          <a:xfrm>
            <a:off x="292231" y="2165727"/>
            <a:ext cx="7447175" cy="3139321"/>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spcBef>
                <a:spcPts val="600"/>
              </a:spcBef>
              <a:spcAft>
                <a:spcPts val="600"/>
              </a:spcAft>
              <a:buClr>
                <a:srgbClr val="000000"/>
              </a:buClr>
              <a:buSzPct val="100000"/>
              <a:buFont typeface="Times New Roman" panose="02020603050405020304" pitchFamily="18" charset="0"/>
              <a:buChar char="•"/>
            </a:pPr>
            <a:r>
              <a:rPr lang="en-GB" altLang="en-US" sz="2800" dirty="0"/>
              <a:t> Inadequate water supply systems  in rural and urban areas </a:t>
            </a:r>
          </a:p>
          <a:p>
            <a:pPr algn="just">
              <a:spcBef>
                <a:spcPts val="600"/>
              </a:spcBef>
              <a:spcAft>
                <a:spcPts val="600"/>
              </a:spcAft>
              <a:buClr>
                <a:srgbClr val="000000"/>
              </a:buClr>
              <a:buSzPct val="100000"/>
              <a:buFont typeface="Times New Roman" panose="02020603050405020304" pitchFamily="18" charset="0"/>
              <a:buChar char="•"/>
            </a:pPr>
            <a:r>
              <a:rPr lang="en-GB" altLang="en-US" sz="2800" dirty="0"/>
              <a:t> Poor water storage and distribution facilities </a:t>
            </a:r>
          </a:p>
          <a:p>
            <a:pPr algn="just">
              <a:spcBef>
                <a:spcPts val="600"/>
              </a:spcBef>
              <a:spcAft>
                <a:spcPts val="600"/>
              </a:spcAft>
              <a:buClr>
                <a:srgbClr val="000000"/>
              </a:buClr>
              <a:buSzPct val="100000"/>
              <a:buFont typeface="Times New Roman" panose="02020603050405020304" pitchFamily="18" charset="0"/>
              <a:buChar char="•"/>
            </a:pPr>
            <a:r>
              <a:rPr lang="en-GB" altLang="en-US" sz="2800" dirty="0"/>
              <a:t> Leakage and wastage in water distribution networks </a:t>
            </a:r>
          </a:p>
          <a:p>
            <a:pPr algn="just">
              <a:spcBef>
                <a:spcPts val="600"/>
              </a:spcBef>
              <a:spcAft>
                <a:spcPts val="600"/>
              </a:spcAft>
              <a:buClr>
                <a:srgbClr val="000000"/>
              </a:buClr>
              <a:buSzPct val="100000"/>
              <a:buFont typeface="Times New Roman" panose="02020603050405020304" pitchFamily="18" charset="0"/>
              <a:buChar char="•"/>
            </a:pPr>
            <a:r>
              <a:rPr lang="en-GB" altLang="en-US" sz="2800" dirty="0"/>
              <a:t> Lack of proper sewage treatment plants </a:t>
            </a:r>
          </a:p>
        </p:txBody>
      </p:sp>
      <p:pic>
        <p:nvPicPr>
          <p:cNvPr id="27652" name="Picture 4" descr="Sydney Water trials acoustic sensors for leaks, saves 9000 megalitres -  News - IoT Hub">
            <a:extLst>
              <a:ext uri="{FF2B5EF4-FFF2-40B4-BE49-F238E27FC236}">
                <a16:creationId xmlns:a16="http://schemas.microsoft.com/office/drawing/2014/main" id="{21AAF97E-CB5D-A190-943B-360E5A2AD9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4950" y="3735388"/>
            <a:ext cx="3997325" cy="239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6" descr="As Tamil Nadu reels under water crisis, political blame game continues |  10-point guide - India Today">
            <a:extLst>
              <a:ext uri="{FF2B5EF4-FFF2-40B4-BE49-F238E27FC236}">
                <a16:creationId xmlns:a16="http://schemas.microsoft.com/office/drawing/2014/main" id="{5B2E41AC-71A5-38D3-5E44-CC7D6CBB26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0825" y="1349555"/>
            <a:ext cx="3981450" cy="219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62397B-C758-3620-F87E-954309560F0E}"/>
              </a:ext>
            </a:extLst>
          </p:cNvPr>
          <p:cNvSpPr txBox="1"/>
          <p:nvPr/>
        </p:nvSpPr>
        <p:spPr>
          <a:xfrm>
            <a:off x="0" y="183033"/>
            <a:ext cx="11849493" cy="6478184"/>
          </a:xfrm>
          <a:prstGeom prst="rect">
            <a:avLst/>
          </a:prstGeom>
          <a:solidFill>
            <a:srgbClr val="66FFFF"/>
          </a:solidFill>
        </p:spPr>
        <p:txBody>
          <a:bodyPr wrap="square">
            <a:spAutoFit/>
          </a:bodyPr>
          <a:lstStyle/>
          <a:p>
            <a:pPr>
              <a:lnSpc>
                <a:spcPct val="150000"/>
              </a:lnSpc>
            </a:pPr>
            <a:r>
              <a:rPr lang="en-US" sz="2800" dirty="0">
                <a:latin typeface="Times New Roman" panose="02020603050405020304" pitchFamily="18" charset="0"/>
                <a:cs typeface="Times New Roman" panose="02020603050405020304" pitchFamily="18" charset="0"/>
              </a:rPr>
              <a:t>Individuals play a crucial role in conserving natural resources through sustainable practices</a:t>
            </a:r>
          </a:p>
          <a:p>
            <a:pPr>
              <a:lnSpc>
                <a:spcPct val="150000"/>
              </a:lnSpc>
            </a:pPr>
            <a:r>
              <a:rPr lang="en-US" sz="2800" b="1" dirty="0">
                <a:latin typeface="Times New Roman" panose="02020603050405020304" pitchFamily="18" charset="0"/>
                <a:cs typeface="Times New Roman" panose="02020603050405020304" pitchFamily="18" charset="0"/>
              </a:rPr>
              <a:t>Water Conservation</a:t>
            </a:r>
          </a:p>
          <a:p>
            <a:pPr>
              <a:lnSpc>
                <a:spcPct val="150000"/>
              </a:lnSpc>
            </a:pPr>
            <a:r>
              <a:rPr lang="en-US" sz="2800" b="1" dirty="0">
                <a:latin typeface="Times New Roman" panose="02020603050405020304" pitchFamily="18" charset="0"/>
                <a:cs typeface="Times New Roman" panose="02020603050405020304" pitchFamily="18" charset="0"/>
              </a:rPr>
              <a:t>Fix Leaks: </a:t>
            </a:r>
            <a:r>
              <a:rPr lang="en-US" sz="2800" dirty="0">
                <a:latin typeface="Times New Roman" panose="02020603050405020304" pitchFamily="18" charset="0"/>
                <a:cs typeface="Times New Roman" panose="02020603050405020304" pitchFamily="18" charset="0"/>
              </a:rPr>
              <a:t>Promptly repair leaks in taps and toilets to prevent water wastage. </a:t>
            </a:r>
          </a:p>
          <a:p>
            <a:pPr>
              <a:lnSpc>
                <a:spcPct val="150000"/>
              </a:lnSpc>
            </a:pPr>
            <a:r>
              <a:rPr lang="en-US" sz="2800" b="1" dirty="0">
                <a:latin typeface="Times New Roman" panose="02020603050405020304" pitchFamily="18" charset="0"/>
                <a:cs typeface="Times New Roman" panose="02020603050405020304" pitchFamily="18" charset="0"/>
              </a:rPr>
              <a:t>Efficient Usage: </a:t>
            </a:r>
            <a:r>
              <a:rPr lang="en-US" sz="2800" dirty="0">
                <a:latin typeface="Times New Roman" panose="02020603050405020304" pitchFamily="18" charset="0"/>
                <a:cs typeface="Times New Roman" panose="02020603050405020304" pitchFamily="18" charset="0"/>
              </a:rPr>
              <a:t>Avoid leaving taps running while brushing teeth or washing dishes. </a:t>
            </a:r>
          </a:p>
          <a:p>
            <a:pPr>
              <a:lnSpc>
                <a:spcPct val="150000"/>
              </a:lnSpc>
            </a:pPr>
            <a:r>
              <a:rPr lang="en-US" sz="2800" b="1" dirty="0">
                <a:latin typeface="Times New Roman" panose="02020603050405020304" pitchFamily="18" charset="0"/>
                <a:cs typeface="Times New Roman" panose="02020603050405020304" pitchFamily="18" charset="0"/>
              </a:rPr>
              <a:t>Rainwater Harvesting:</a:t>
            </a:r>
            <a:r>
              <a:rPr lang="en-US" sz="2800" dirty="0">
                <a:latin typeface="Times New Roman" panose="02020603050405020304" pitchFamily="18" charset="0"/>
                <a:cs typeface="Times New Roman" panose="02020603050405020304" pitchFamily="18" charset="0"/>
              </a:rPr>
              <a:t> Install systems to collect rainwater for gardening and other non-potable uses. </a:t>
            </a:r>
          </a:p>
          <a:p>
            <a:pPr>
              <a:lnSpc>
                <a:spcPct val="150000"/>
              </a:lnSpc>
            </a:pPr>
            <a:r>
              <a:rPr lang="en-US" sz="2800" b="1" dirty="0">
                <a:latin typeface="Times New Roman" panose="02020603050405020304" pitchFamily="18" charset="0"/>
                <a:cs typeface="Times New Roman" panose="02020603050405020304" pitchFamily="18" charset="0"/>
              </a:rPr>
              <a:t>Irrigation Practices: </a:t>
            </a:r>
            <a:r>
              <a:rPr lang="en-US" sz="2800" dirty="0">
                <a:latin typeface="Times New Roman" panose="02020603050405020304" pitchFamily="18" charset="0"/>
                <a:cs typeface="Times New Roman" panose="02020603050405020304" pitchFamily="18" charset="0"/>
              </a:rPr>
              <a:t>Use drip irrigation and other efficient watering methods to minimize evaporation losses. </a:t>
            </a:r>
          </a:p>
        </p:txBody>
      </p:sp>
    </p:spTree>
    <p:extLst>
      <p:ext uri="{BB962C8B-B14F-4D97-AF65-F5344CB8AC3E}">
        <p14:creationId xmlns:p14="http://schemas.microsoft.com/office/powerpoint/2010/main" val="4459242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A10E91B-1563-29F2-C07D-9EA922C3FF2C}"/>
              </a:ext>
            </a:extLst>
          </p:cNvPr>
          <p:cNvPicPr>
            <a:picLocks noChangeAspect="1"/>
          </p:cNvPicPr>
          <p:nvPr/>
        </p:nvPicPr>
        <p:blipFill>
          <a:blip r:embed="rId2"/>
          <a:stretch>
            <a:fillRect/>
          </a:stretch>
        </p:blipFill>
        <p:spPr>
          <a:xfrm>
            <a:off x="2290713" y="557208"/>
            <a:ext cx="7892981" cy="5956714"/>
          </a:xfrm>
          <a:prstGeom prst="rect">
            <a:avLst/>
          </a:prstGeom>
        </p:spPr>
      </p:pic>
      <p:sp>
        <p:nvSpPr>
          <p:cNvPr id="3" name="TextBox 2">
            <a:extLst>
              <a:ext uri="{FF2B5EF4-FFF2-40B4-BE49-F238E27FC236}">
                <a16:creationId xmlns:a16="http://schemas.microsoft.com/office/drawing/2014/main" id="{96F2323C-40EF-36CA-7796-ED9590B4CE1D}"/>
              </a:ext>
            </a:extLst>
          </p:cNvPr>
          <p:cNvSpPr txBox="1"/>
          <p:nvPr/>
        </p:nvSpPr>
        <p:spPr>
          <a:xfrm>
            <a:off x="4260917" y="5128183"/>
            <a:ext cx="6080288" cy="769441"/>
          </a:xfrm>
          <a:prstGeom prst="rect">
            <a:avLst/>
          </a:prstGeom>
          <a:solidFill>
            <a:srgbClr val="FFFF00"/>
          </a:solidFill>
        </p:spPr>
        <p:txBody>
          <a:bodyPr wrap="square" rtlCol="0">
            <a:spAutoFit/>
          </a:bodyPr>
          <a:lstStyle/>
          <a:p>
            <a:r>
              <a:rPr lang="en-US" sz="4400" dirty="0">
                <a:latin typeface="Times New Roman" panose="02020603050405020304" pitchFamily="18" charset="0"/>
                <a:cs typeface="Times New Roman" panose="02020603050405020304" pitchFamily="18" charset="0"/>
              </a:rPr>
              <a:t>ENERGY RESOURCES</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91729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F86E0E-0722-8723-7D0C-68178128AC20}"/>
              </a:ext>
            </a:extLst>
          </p:cNvPr>
          <p:cNvSpPr txBox="1"/>
          <p:nvPr/>
        </p:nvSpPr>
        <p:spPr>
          <a:xfrm>
            <a:off x="279662" y="303371"/>
            <a:ext cx="11632676" cy="4401205"/>
          </a:xfrm>
          <a:prstGeom prst="rect">
            <a:avLst/>
          </a:prstGeom>
          <a:solidFill>
            <a:schemeClr val="accent2">
              <a:lumMod val="20000"/>
              <a:lumOff val="80000"/>
            </a:schemeClr>
          </a:solidFill>
        </p:spPr>
        <p:txBody>
          <a:bodyPr wrap="square">
            <a:spAutoFit/>
          </a:bodyPr>
          <a:lstStyle/>
          <a:p>
            <a:r>
              <a:rPr lang="en-US" sz="2800" dirty="0">
                <a:latin typeface="Times New Roman" panose="02020603050405020304" pitchFamily="18" charset="0"/>
                <a:cs typeface="Times New Roman" panose="02020603050405020304" pitchFamily="18" charset="0"/>
              </a:rPr>
              <a:t>2. Energy Conservation</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Turn Off Appliances</a:t>
            </a:r>
            <a:r>
              <a:rPr lang="en-US" sz="2800" dirty="0">
                <a:latin typeface="Times New Roman" panose="02020603050405020304" pitchFamily="18" charset="0"/>
                <a:cs typeface="Times New Roman" panose="02020603050405020304" pitchFamily="18" charset="0"/>
              </a:rPr>
              <a:t>: Switch off lights, fans, and electronic devices when not in use to save energy. </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Use Natural Resources: </a:t>
            </a:r>
            <a:r>
              <a:rPr lang="en-US" sz="2800" dirty="0">
                <a:latin typeface="Times New Roman" panose="02020603050405020304" pitchFamily="18" charset="0"/>
                <a:cs typeface="Times New Roman" panose="02020603050405020304" pitchFamily="18" charset="0"/>
              </a:rPr>
              <a:t>Take advantage of natural light and heat; for example, dry clothes in the sun and use solar cookers when possible. </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Energy-Efficient Appliances:</a:t>
            </a:r>
            <a:r>
              <a:rPr lang="en-US" sz="2800" dirty="0">
                <a:latin typeface="Times New Roman" panose="02020603050405020304" pitchFamily="18" charset="0"/>
                <a:cs typeface="Times New Roman" panose="02020603050405020304" pitchFamily="18" charset="0"/>
              </a:rPr>
              <a:t> Invest in energy-efficient appliances to reduce overall energy consumption</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04202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9ADBC6-2E84-E1CF-152E-BAF6DAA34E51}"/>
              </a:ext>
            </a:extLst>
          </p:cNvPr>
          <p:cNvSpPr txBox="1"/>
          <p:nvPr/>
        </p:nvSpPr>
        <p:spPr>
          <a:xfrm>
            <a:off x="329939" y="366623"/>
            <a:ext cx="11566688" cy="5693866"/>
          </a:xfrm>
          <a:prstGeom prst="rect">
            <a:avLst/>
          </a:prstGeom>
          <a:solidFill>
            <a:schemeClr val="accent4">
              <a:lumMod val="40000"/>
              <a:lumOff val="60000"/>
            </a:schemeClr>
          </a:solidFill>
        </p:spPr>
        <p:txBody>
          <a:bodyPr wrap="square">
            <a:spAutoFit/>
          </a:bodyPr>
          <a:lstStyle/>
          <a:p>
            <a:r>
              <a:rPr lang="en-US" dirty="0"/>
              <a:t> </a:t>
            </a:r>
            <a:r>
              <a:rPr lang="en-US" sz="2800" b="1" dirty="0">
                <a:latin typeface="Times New Roman" panose="02020603050405020304" pitchFamily="18" charset="0"/>
                <a:cs typeface="Times New Roman" panose="02020603050405020304" pitchFamily="18" charset="0"/>
              </a:rPr>
              <a:t>Education and Advocacy</a:t>
            </a:r>
          </a:p>
          <a:p>
            <a:r>
              <a:rPr lang="en-US" sz="2800" b="1" dirty="0">
                <a:latin typeface="Times New Roman" panose="02020603050405020304" pitchFamily="18" charset="0"/>
                <a:cs typeface="Times New Roman" panose="02020603050405020304" pitchFamily="18" charset="0"/>
              </a:rPr>
              <a:t>Raise Awareness: </a:t>
            </a:r>
            <a:r>
              <a:rPr lang="en-US" sz="2800" dirty="0">
                <a:latin typeface="Times New Roman" panose="02020603050405020304" pitchFamily="18" charset="0"/>
                <a:cs typeface="Times New Roman" panose="02020603050405020304" pitchFamily="18" charset="0"/>
              </a:rPr>
              <a:t>Educate others about the importance of conservation and sustainable practices. Share knowledge within your community to inspire collective action. </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Support Conservation Policies: </a:t>
            </a:r>
            <a:r>
              <a:rPr lang="en-US" sz="2800" dirty="0">
                <a:latin typeface="Times New Roman" panose="02020603050405020304" pitchFamily="18" charset="0"/>
                <a:cs typeface="Times New Roman" panose="02020603050405020304" pitchFamily="18" charset="0"/>
              </a:rPr>
              <a:t>Advocate for policies that promote conservation and sustainable resource management at local and national levels.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By adopting these practices, individuals can significantly contribute to the conservation of natural resources, ensuring their availability for future generations and promoting a healthier environment. Every small action counts, and collective efforts can lead to substantial positive changes in resource management and environmental sustainability.</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7787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30C355-59C0-394D-E69B-EEDAD29317AD}"/>
              </a:ext>
            </a:extLst>
          </p:cNvPr>
          <p:cNvPicPr>
            <a:picLocks noChangeAspect="1"/>
          </p:cNvPicPr>
          <p:nvPr/>
        </p:nvPicPr>
        <p:blipFill>
          <a:blip r:embed="rId2"/>
          <a:stretch>
            <a:fillRect/>
          </a:stretch>
        </p:blipFill>
        <p:spPr>
          <a:xfrm>
            <a:off x="868257" y="810705"/>
            <a:ext cx="11086016" cy="5552388"/>
          </a:xfrm>
          <a:prstGeom prst="rect">
            <a:avLst/>
          </a:prstGeom>
        </p:spPr>
      </p:pic>
    </p:spTree>
    <p:extLst>
      <p:ext uri="{BB962C8B-B14F-4D97-AF65-F5344CB8AC3E}">
        <p14:creationId xmlns:p14="http://schemas.microsoft.com/office/powerpoint/2010/main" val="1084840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0FC017-91C4-F1FF-E91B-2CDC054059D6}"/>
              </a:ext>
            </a:extLst>
          </p:cNvPr>
          <p:cNvSpPr txBox="1"/>
          <p:nvPr/>
        </p:nvSpPr>
        <p:spPr>
          <a:xfrm>
            <a:off x="0" y="179459"/>
            <a:ext cx="12212425" cy="6262740"/>
          </a:xfrm>
          <a:prstGeom prst="rect">
            <a:avLst/>
          </a:prstGeom>
          <a:solidFill>
            <a:schemeClr val="accent4">
              <a:lumMod val="20000"/>
              <a:lumOff val="80000"/>
            </a:schemeClr>
          </a:solidFill>
        </p:spPr>
        <p:txBody>
          <a:bodyPr wrap="square">
            <a:spAutoFit/>
          </a:bodyPr>
          <a:lstStyle/>
          <a:p>
            <a:r>
              <a:rPr lang="en-US" sz="2800" dirty="0">
                <a:latin typeface="Times New Roman" panose="02020603050405020304" pitchFamily="18" charset="0"/>
                <a:cs typeface="Times New Roman" panose="02020603050405020304" pitchFamily="18" charset="0"/>
              </a:rPr>
              <a:t>Functions of Ecosystem</a:t>
            </a:r>
          </a:p>
          <a:p>
            <a:pPr>
              <a:lnSpc>
                <a:spcPct val="150000"/>
              </a:lnSpc>
            </a:pPr>
            <a:r>
              <a:rPr lang="en-US" sz="2800" dirty="0">
                <a:latin typeface="Times New Roman" panose="02020603050405020304" pitchFamily="18" charset="0"/>
                <a:cs typeface="Times New Roman" panose="02020603050405020304" pitchFamily="18" charset="0"/>
              </a:rPr>
              <a:t>The functions of the ecosystem are as follows:</a:t>
            </a:r>
          </a:p>
          <a:p>
            <a:pPr marL="457200" indent="-457200">
              <a:lnSpc>
                <a:spcPct val="150000"/>
              </a:lnSpc>
              <a:buFont typeface="Wingdings" panose="05000000000000000000" pitchFamily="2" charset="2"/>
              <a:buChar char="Ø"/>
            </a:pPr>
            <a:r>
              <a:rPr lang="en-US" sz="2800" b="1" dirty="0">
                <a:solidFill>
                  <a:srgbClr val="FF0000"/>
                </a:solidFill>
                <a:latin typeface="Times New Roman" panose="02020603050405020304" pitchFamily="18" charset="0"/>
                <a:cs typeface="Times New Roman" panose="02020603050405020304" pitchFamily="18" charset="0"/>
              </a:rPr>
              <a:t>It regulates the essential ecological processes, supports life systems and renders stability.</a:t>
            </a:r>
          </a:p>
          <a:p>
            <a:pPr marL="457200" indent="-457200">
              <a:lnSpc>
                <a:spcPct val="150000"/>
              </a:lnSpc>
              <a:buFont typeface="Wingdings" panose="05000000000000000000" pitchFamily="2" charset="2"/>
              <a:buChar char="Ø"/>
            </a:pPr>
            <a:r>
              <a:rPr lang="en-US" sz="2800" b="1" dirty="0">
                <a:solidFill>
                  <a:srgbClr val="0000FF"/>
                </a:solidFill>
                <a:latin typeface="Times New Roman" panose="02020603050405020304" pitchFamily="18" charset="0"/>
                <a:cs typeface="Times New Roman" panose="02020603050405020304" pitchFamily="18" charset="0"/>
              </a:rPr>
              <a:t>It is also responsible for the cycling of nutrients between biotic and abiotic components.</a:t>
            </a:r>
          </a:p>
          <a:p>
            <a:pPr marL="457200" indent="-457200">
              <a:lnSpc>
                <a:spcPct val="150000"/>
              </a:lnSpc>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It maintains a balance among the various trophic levels in the ecosystem.</a:t>
            </a:r>
          </a:p>
          <a:p>
            <a:pPr marL="457200" indent="-457200">
              <a:lnSpc>
                <a:spcPct val="150000"/>
              </a:lnSpc>
              <a:buFont typeface="Wingdings" panose="05000000000000000000" pitchFamily="2" charset="2"/>
              <a:buChar char="Ø"/>
            </a:pPr>
            <a:r>
              <a:rPr lang="en-US" sz="2800" b="1" dirty="0">
                <a:solidFill>
                  <a:schemeClr val="accent6">
                    <a:lumMod val="75000"/>
                  </a:schemeClr>
                </a:solidFill>
                <a:latin typeface="Times New Roman" panose="02020603050405020304" pitchFamily="18" charset="0"/>
                <a:cs typeface="Times New Roman" panose="02020603050405020304" pitchFamily="18" charset="0"/>
              </a:rPr>
              <a:t>It cycles the minerals through the biosphere.</a:t>
            </a:r>
          </a:p>
          <a:p>
            <a:pPr marL="457200" indent="-457200">
              <a:lnSpc>
                <a:spcPct val="150000"/>
              </a:lnSpc>
              <a:buFont typeface="Wingdings" panose="05000000000000000000" pitchFamily="2" charset="2"/>
              <a:buChar char="Ø"/>
            </a:pPr>
            <a:r>
              <a:rPr lang="en-US" sz="2800" b="1" dirty="0">
                <a:solidFill>
                  <a:srgbClr val="0000FF"/>
                </a:solidFill>
                <a:latin typeface="Times New Roman" panose="02020603050405020304" pitchFamily="18" charset="0"/>
                <a:cs typeface="Times New Roman" panose="02020603050405020304" pitchFamily="18" charset="0"/>
              </a:rPr>
              <a:t>The abiotic components help in the synthesis of organic components that involve the exchange of energy.</a:t>
            </a:r>
            <a:endParaRPr lang="en-IN" sz="2800" b="1" dirty="0">
              <a:solidFill>
                <a:srgbClr val="0000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72837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4BD1F-266D-50B4-4707-90F26F2CA52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337633D-33B2-8ADB-3EDB-0B057EA87C65}"/>
              </a:ext>
            </a:extLst>
          </p:cNvPr>
          <p:cNvPicPr>
            <a:picLocks noChangeAspect="1"/>
          </p:cNvPicPr>
          <p:nvPr/>
        </p:nvPicPr>
        <p:blipFill>
          <a:blip r:embed="rId2"/>
          <a:stretch>
            <a:fillRect/>
          </a:stretch>
        </p:blipFill>
        <p:spPr>
          <a:xfrm>
            <a:off x="1282045" y="575173"/>
            <a:ext cx="9651995" cy="5721931"/>
          </a:xfrm>
          <a:prstGeom prst="rect">
            <a:avLst/>
          </a:prstGeom>
        </p:spPr>
      </p:pic>
    </p:spTree>
    <p:extLst>
      <p:ext uri="{BB962C8B-B14F-4D97-AF65-F5344CB8AC3E}">
        <p14:creationId xmlns:p14="http://schemas.microsoft.com/office/powerpoint/2010/main" val="2568880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811EEA-1106-BC5A-CCC5-2EE12BFE5321}"/>
              </a:ext>
            </a:extLst>
          </p:cNvPr>
          <p:cNvSpPr txBox="1"/>
          <p:nvPr/>
        </p:nvSpPr>
        <p:spPr>
          <a:xfrm>
            <a:off x="604887" y="328407"/>
            <a:ext cx="10982225" cy="6201185"/>
          </a:xfrm>
          <a:prstGeom prst="rect">
            <a:avLst/>
          </a:prstGeom>
          <a:solidFill>
            <a:schemeClr val="accent2">
              <a:lumMod val="20000"/>
              <a:lumOff val="80000"/>
            </a:schemeClr>
          </a:solidFill>
        </p:spPr>
        <p:txBody>
          <a:bodyPr wrap="square">
            <a:spAutoFit/>
          </a:bodyPr>
          <a:lstStyle/>
          <a:p>
            <a:pPr marL="457200" indent="-457200"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 </a:t>
            </a:r>
            <a:r>
              <a:rPr lang="en-US" sz="4400" b="1" dirty="0">
                <a:latin typeface="Times New Roman" panose="02020603050405020304" pitchFamily="18" charset="0"/>
                <a:cs typeface="Times New Roman" panose="02020603050405020304" pitchFamily="18" charset="0"/>
              </a:rPr>
              <a:t>food chain </a:t>
            </a:r>
            <a:r>
              <a:rPr lang="en-US" sz="2800" dirty="0">
                <a:latin typeface="Times New Roman" panose="02020603050405020304" pitchFamily="18" charset="0"/>
                <a:cs typeface="Times New Roman" panose="02020603050405020304" pitchFamily="18" charset="0"/>
              </a:rPr>
              <a:t>explains which organism eats another organism in the environment. The food chain is a linear sequence of organisms where nutrients and energy is transferred from one organism to the other.</a:t>
            </a:r>
          </a:p>
          <a:p>
            <a:pPr marL="457200" indent="-457200"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This occurs when one organism consumes another organism. </a:t>
            </a:r>
          </a:p>
          <a:p>
            <a:pPr marL="457200" indent="-457200"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It begins with the producer organism, follows the chain and ends with the decomposer organism. </a:t>
            </a:r>
          </a:p>
          <a:p>
            <a:pPr marL="457200" indent="-457200"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 food chain, one organism is dependent upon another organism for survival.</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41930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118460-58C5-741E-FC3B-86182B5F53AC}"/>
              </a:ext>
            </a:extLst>
          </p:cNvPr>
          <p:cNvPicPr>
            <a:picLocks noChangeAspect="1"/>
          </p:cNvPicPr>
          <p:nvPr/>
        </p:nvPicPr>
        <p:blipFill>
          <a:blip r:embed="rId2"/>
          <a:stretch>
            <a:fillRect/>
          </a:stretch>
        </p:blipFill>
        <p:spPr>
          <a:xfrm>
            <a:off x="1753387" y="225566"/>
            <a:ext cx="7795966" cy="6406867"/>
          </a:xfrm>
          <a:prstGeom prst="rect">
            <a:avLst/>
          </a:prstGeom>
        </p:spPr>
      </p:pic>
    </p:spTree>
    <p:extLst>
      <p:ext uri="{BB962C8B-B14F-4D97-AF65-F5344CB8AC3E}">
        <p14:creationId xmlns:p14="http://schemas.microsoft.com/office/powerpoint/2010/main" val="26788428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3CCF4D-DA91-282B-19F1-571F4DD5859A}"/>
              </a:ext>
            </a:extLst>
          </p:cNvPr>
          <p:cNvSpPr txBox="1"/>
          <p:nvPr/>
        </p:nvSpPr>
        <p:spPr>
          <a:xfrm>
            <a:off x="161827" y="151179"/>
            <a:ext cx="11510128" cy="6124754"/>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Types of Food Chain</a:t>
            </a:r>
          </a:p>
          <a:p>
            <a:pPr algn="just"/>
            <a:r>
              <a:rPr lang="en-US" sz="2800" b="1" dirty="0">
                <a:solidFill>
                  <a:srgbClr val="C00000"/>
                </a:solidFill>
                <a:latin typeface="Times New Roman" panose="02020603050405020304" pitchFamily="18" charset="0"/>
                <a:cs typeface="Times New Roman" panose="02020603050405020304" pitchFamily="18" charset="0"/>
              </a:rPr>
              <a:t>Detritus food chain</a:t>
            </a:r>
            <a:r>
              <a:rPr lang="en-US" sz="2800" dirty="0">
                <a:latin typeface="Times New Roman" panose="02020603050405020304" pitchFamily="18" charset="0"/>
                <a:cs typeface="Times New Roman" panose="02020603050405020304" pitchFamily="18" charset="0"/>
              </a:rPr>
              <a:t>: includes different species of organisms and plants like algae, bacteria, fungi, protozoa, mites, insects, worms and so on. </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detritus food chain begins with dead organic material. </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food energy passes into decomposers and detritivores, which are further eaten by smaller organisms like carnivores. </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Carnivores, like maggots, become a meal for bigger carnivores like frogs, snakes and so on. </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Primary consumers like fungi, bacteria, protozoans, and so on are detritivores which feed on detritus.</a:t>
            </a:r>
          </a:p>
          <a:p>
            <a:pPr algn="just"/>
            <a:r>
              <a:rPr lang="en-US" sz="2800" b="1" dirty="0">
                <a:solidFill>
                  <a:srgbClr val="C00000"/>
                </a:solidFill>
                <a:latin typeface="Times New Roman" panose="02020603050405020304" pitchFamily="18" charset="0"/>
                <a:cs typeface="Times New Roman" panose="02020603050405020304" pitchFamily="18" charset="0"/>
              </a:rPr>
              <a:t>Grazing food chain:</a:t>
            </a:r>
            <a:r>
              <a:rPr lang="en-US" sz="2800" dirty="0">
                <a:latin typeface="Times New Roman" panose="02020603050405020304" pitchFamily="18" charset="0"/>
                <a:cs typeface="Times New Roman" panose="02020603050405020304" pitchFamily="18" charset="0"/>
              </a:rPr>
              <a:t> starts with green plants, passes through herbivores and then to carnivores. </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 a grazing food chain, energy in the lowest trophic level is acquired from photosynthesis.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26915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B5897D-D664-9D9C-DE08-C0CE63A0C68D}"/>
              </a:ext>
            </a:extLst>
          </p:cNvPr>
          <p:cNvSpPr txBox="1"/>
          <p:nvPr/>
        </p:nvSpPr>
        <p:spPr>
          <a:xfrm>
            <a:off x="245097" y="385310"/>
            <a:ext cx="11868345" cy="5739520"/>
          </a:xfrm>
          <a:prstGeom prst="rect">
            <a:avLst/>
          </a:prstGeom>
          <a:solidFill>
            <a:schemeClr val="accent1">
              <a:lumMod val="20000"/>
              <a:lumOff val="80000"/>
            </a:schemeClr>
          </a:solidFill>
        </p:spPr>
        <p:txBody>
          <a:bodyPr wrap="square">
            <a:spAutoFit/>
          </a:bodyPr>
          <a:lstStyle/>
          <a:p>
            <a:r>
              <a:rPr lang="en-US" sz="2800" dirty="0">
                <a:latin typeface="Times New Roman" panose="02020603050405020304" pitchFamily="18" charset="0"/>
                <a:cs typeface="Times New Roman" panose="02020603050405020304" pitchFamily="18" charset="0"/>
              </a:rPr>
              <a:t>Several interconnected food chains form a </a:t>
            </a:r>
            <a:r>
              <a:rPr lang="en-US" sz="3600" b="1" dirty="0">
                <a:latin typeface="Times New Roman" panose="02020603050405020304" pitchFamily="18" charset="0"/>
                <a:cs typeface="Times New Roman" panose="02020603050405020304" pitchFamily="18" charset="0"/>
              </a:rPr>
              <a:t>food web</a:t>
            </a:r>
            <a:r>
              <a:rPr lang="en-US" sz="2800" dirty="0">
                <a:latin typeface="Times New Roman" panose="02020603050405020304" pitchFamily="18" charset="0"/>
                <a:cs typeface="Times New Roman" panose="02020603050405020304" pitchFamily="18" charset="0"/>
              </a:rPr>
              <a:t>. </a:t>
            </a:r>
          </a:p>
          <a:p>
            <a:pPr marL="457200" indent="-457200">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 food web is similar to a food chain but the food web is comparatively larger than a food chain. </a:t>
            </a:r>
          </a:p>
          <a:p>
            <a:pPr marL="457200" indent="-457200">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Occasionally, a single organism is consumed by many predators or it consumes several other organisms. </a:t>
            </a:r>
          </a:p>
          <a:p>
            <a:pPr marL="457200" indent="-457200">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Due to this, many trophic levels get interconnected. </a:t>
            </a:r>
          </a:p>
          <a:p>
            <a:pPr marL="457200" indent="-457200">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food chain fails to showcase the flow of energy in the right way. </a:t>
            </a:r>
          </a:p>
          <a:p>
            <a:pPr marL="457200" indent="-457200">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But the food web is able to show the proper representation of energy flow, as it displays the interactions between different organisms.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75666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4228E4B-307F-7A92-01D4-B9C9708E7C55}"/>
              </a:ext>
            </a:extLst>
          </p:cNvPr>
          <p:cNvPicPr>
            <a:picLocks noChangeAspect="1"/>
          </p:cNvPicPr>
          <p:nvPr/>
        </p:nvPicPr>
        <p:blipFill>
          <a:blip r:embed="rId2"/>
          <a:stretch>
            <a:fillRect/>
          </a:stretch>
        </p:blipFill>
        <p:spPr>
          <a:xfrm>
            <a:off x="0" y="381000"/>
            <a:ext cx="12192000" cy="6096000"/>
          </a:xfrm>
          <a:prstGeom prst="rect">
            <a:avLst/>
          </a:prstGeom>
        </p:spPr>
      </p:pic>
    </p:spTree>
    <p:extLst>
      <p:ext uri="{BB962C8B-B14F-4D97-AF65-F5344CB8AC3E}">
        <p14:creationId xmlns:p14="http://schemas.microsoft.com/office/powerpoint/2010/main" val="27517790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9564D0E-B0A3-EC3E-C417-216274C8A782}"/>
              </a:ext>
            </a:extLst>
          </p:cNvPr>
          <p:cNvPicPr>
            <a:picLocks noChangeAspect="1"/>
          </p:cNvPicPr>
          <p:nvPr/>
        </p:nvPicPr>
        <p:blipFill>
          <a:blip r:embed="rId2"/>
          <a:stretch>
            <a:fillRect/>
          </a:stretch>
        </p:blipFill>
        <p:spPr>
          <a:xfrm>
            <a:off x="810705" y="290855"/>
            <a:ext cx="10782610" cy="6402175"/>
          </a:xfrm>
          <a:prstGeom prst="rect">
            <a:avLst/>
          </a:prstGeom>
        </p:spPr>
      </p:pic>
    </p:spTree>
    <p:extLst>
      <p:ext uri="{BB962C8B-B14F-4D97-AF65-F5344CB8AC3E}">
        <p14:creationId xmlns:p14="http://schemas.microsoft.com/office/powerpoint/2010/main" val="12500986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713682-493E-1B0C-8C73-D8286E216153}"/>
              </a:ext>
            </a:extLst>
          </p:cNvPr>
          <p:cNvSpPr txBox="1"/>
          <p:nvPr/>
        </p:nvSpPr>
        <p:spPr>
          <a:xfrm>
            <a:off x="367646" y="574591"/>
            <a:ext cx="10925666" cy="5324535"/>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Ecological Pyramid</a:t>
            </a:r>
          </a:p>
          <a:p>
            <a:pPr algn="just">
              <a:lnSpc>
                <a:spcPct val="150000"/>
              </a:lnSpc>
            </a:pPr>
            <a:r>
              <a:rPr lang="en-US" sz="2800" dirty="0">
                <a:latin typeface="Times New Roman" panose="02020603050405020304" pitchFamily="18" charset="0"/>
                <a:cs typeface="Times New Roman" panose="02020603050405020304" pitchFamily="18" charset="0"/>
              </a:rPr>
              <a:t>An ecological pyramid is a graphical representation of the relationship between the different living organisms at different trophic levels. </a:t>
            </a:r>
          </a:p>
          <a:p>
            <a:pPr algn="just">
              <a:lnSpc>
                <a:spcPct val="150000"/>
              </a:lnSpc>
            </a:pPr>
            <a:r>
              <a:rPr lang="en-US" sz="2800" dirty="0">
                <a:latin typeface="Times New Roman" panose="02020603050405020304" pitchFamily="18" charset="0"/>
                <a:cs typeface="Times New Roman" panose="02020603050405020304" pitchFamily="18" charset="0"/>
              </a:rPr>
              <a:t>It can be observed that these pyramids are in the shape of actual pyramids, with the base being the broadest, which is covered by the lowest trophic level, i.e., producers. </a:t>
            </a:r>
          </a:p>
          <a:p>
            <a:pPr algn="just">
              <a:lnSpc>
                <a:spcPct val="150000"/>
              </a:lnSpc>
            </a:pPr>
            <a:r>
              <a:rPr lang="en-US" sz="2800" dirty="0">
                <a:latin typeface="Times New Roman" panose="02020603050405020304" pitchFamily="18" charset="0"/>
                <a:cs typeface="Times New Roman" panose="02020603050405020304" pitchFamily="18" charset="0"/>
              </a:rPr>
              <a:t>The next level is occupied by the next trophic level, i.e., the primary consumers and so on.</a:t>
            </a:r>
          </a:p>
          <a:p>
            <a:endParaRPr lang="en-US" dirty="0"/>
          </a:p>
        </p:txBody>
      </p:sp>
    </p:spTree>
    <p:extLst>
      <p:ext uri="{BB962C8B-B14F-4D97-AF65-F5344CB8AC3E}">
        <p14:creationId xmlns:p14="http://schemas.microsoft.com/office/powerpoint/2010/main" val="10889896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06B1C3-95DB-2A1B-EE12-1EF60512FB0F}"/>
              </a:ext>
            </a:extLst>
          </p:cNvPr>
          <p:cNvSpPr txBox="1"/>
          <p:nvPr/>
        </p:nvSpPr>
        <p:spPr>
          <a:xfrm>
            <a:off x="235669" y="531051"/>
            <a:ext cx="10237509" cy="3231654"/>
          </a:xfrm>
          <a:prstGeom prst="rect">
            <a:avLst/>
          </a:prstGeom>
          <a:solidFill>
            <a:schemeClr val="accent4">
              <a:lumMod val="20000"/>
              <a:lumOff val="80000"/>
            </a:schemeClr>
          </a:solidFill>
        </p:spPr>
        <p:txBody>
          <a:bodyPr wrap="square">
            <a:spAutoFit/>
          </a:bodyPr>
          <a:lstStyle/>
          <a:p>
            <a:r>
              <a:rPr lang="en-US" sz="2800" dirty="0">
                <a:latin typeface="Times New Roman" panose="02020603050405020304" pitchFamily="18" charset="0"/>
                <a:cs typeface="Times New Roman" panose="02020603050405020304" pitchFamily="18" charset="0"/>
              </a:rPr>
              <a:t>Types of Ecological Pyramid</a:t>
            </a:r>
          </a:p>
          <a:p>
            <a:r>
              <a:rPr lang="en-US" sz="2800" dirty="0">
                <a:latin typeface="Times New Roman" panose="02020603050405020304" pitchFamily="18" charset="0"/>
                <a:cs typeface="Times New Roman" panose="02020603050405020304" pitchFamily="18" charset="0"/>
              </a:rPr>
              <a:t>Three types of ecological pyramids exist. They are as follows:</a:t>
            </a:r>
          </a:p>
          <a:p>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Pyramid of Numbers</a:t>
            </a:r>
          </a:p>
          <a:p>
            <a:pPr marL="457200" indent="-457200">
              <a:buFont typeface="Wingdings" panose="05000000000000000000" pitchFamily="2" charset="2"/>
              <a:buChar char="ü"/>
            </a:pPr>
            <a:r>
              <a:rPr lang="en-IN" sz="2800" b="1" dirty="0">
                <a:latin typeface="Times New Roman" panose="02020603050405020304" pitchFamily="18" charset="0"/>
                <a:cs typeface="Times New Roman" panose="02020603050405020304" pitchFamily="18" charset="0"/>
              </a:rPr>
              <a:t>Pyramid of Biomass</a:t>
            </a:r>
          </a:p>
          <a:p>
            <a:pPr marL="457200" indent="-457200">
              <a:buFont typeface="Wingdings" panose="05000000000000000000" pitchFamily="2" charset="2"/>
              <a:buChar char="ü"/>
            </a:pPr>
            <a:r>
              <a:rPr lang="en-IN" sz="2800" b="1" dirty="0">
                <a:latin typeface="Times New Roman" panose="02020603050405020304" pitchFamily="18" charset="0"/>
                <a:cs typeface="Times New Roman" panose="02020603050405020304" pitchFamily="18" charset="0"/>
              </a:rPr>
              <a:t>Pyramid of Energy</a:t>
            </a:r>
          </a:p>
          <a:p>
            <a:br>
              <a:rPr lang="en-IN" dirty="0"/>
            </a:br>
            <a:endParaRPr lang="en-IN" dirty="0"/>
          </a:p>
        </p:txBody>
      </p:sp>
      <p:pic>
        <p:nvPicPr>
          <p:cNvPr id="4" name="Picture 3">
            <a:extLst>
              <a:ext uri="{FF2B5EF4-FFF2-40B4-BE49-F238E27FC236}">
                <a16:creationId xmlns:a16="http://schemas.microsoft.com/office/drawing/2014/main" id="{C23B4C68-9246-833F-4D6A-E1482E197EF3}"/>
              </a:ext>
            </a:extLst>
          </p:cNvPr>
          <p:cNvPicPr>
            <a:picLocks noChangeAspect="1"/>
          </p:cNvPicPr>
          <p:nvPr/>
        </p:nvPicPr>
        <p:blipFill>
          <a:blip r:embed="rId2"/>
          <a:stretch>
            <a:fillRect/>
          </a:stretch>
        </p:blipFill>
        <p:spPr>
          <a:xfrm>
            <a:off x="4325070" y="4274488"/>
            <a:ext cx="3979766" cy="2374292"/>
          </a:xfrm>
          <a:prstGeom prst="rect">
            <a:avLst/>
          </a:prstGeom>
        </p:spPr>
      </p:pic>
      <p:pic>
        <p:nvPicPr>
          <p:cNvPr id="5" name="Picture 4">
            <a:extLst>
              <a:ext uri="{FF2B5EF4-FFF2-40B4-BE49-F238E27FC236}">
                <a16:creationId xmlns:a16="http://schemas.microsoft.com/office/drawing/2014/main" id="{099156C9-F95F-6253-DEF4-D158DD430D1F}"/>
              </a:ext>
            </a:extLst>
          </p:cNvPr>
          <p:cNvPicPr>
            <a:picLocks noChangeAspect="1"/>
          </p:cNvPicPr>
          <p:nvPr/>
        </p:nvPicPr>
        <p:blipFill>
          <a:blip r:embed="rId3"/>
          <a:stretch>
            <a:fillRect/>
          </a:stretch>
        </p:blipFill>
        <p:spPr>
          <a:xfrm>
            <a:off x="421015" y="3762705"/>
            <a:ext cx="4124325" cy="2886075"/>
          </a:xfrm>
          <a:prstGeom prst="rect">
            <a:avLst/>
          </a:prstGeom>
        </p:spPr>
      </p:pic>
      <p:pic>
        <p:nvPicPr>
          <p:cNvPr id="6" name="Picture 5">
            <a:extLst>
              <a:ext uri="{FF2B5EF4-FFF2-40B4-BE49-F238E27FC236}">
                <a16:creationId xmlns:a16="http://schemas.microsoft.com/office/drawing/2014/main" id="{A4FE030B-D70D-7E00-F45A-E7377802E844}"/>
              </a:ext>
            </a:extLst>
          </p:cNvPr>
          <p:cNvPicPr>
            <a:picLocks noChangeAspect="1"/>
          </p:cNvPicPr>
          <p:nvPr/>
        </p:nvPicPr>
        <p:blipFill>
          <a:blip r:embed="rId4"/>
          <a:stretch>
            <a:fillRect/>
          </a:stretch>
        </p:blipFill>
        <p:spPr>
          <a:xfrm>
            <a:off x="8084565" y="3762705"/>
            <a:ext cx="3752850" cy="3048000"/>
          </a:xfrm>
          <a:prstGeom prst="rect">
            <a:avLst/>
          </a:prstGeom>
        </p:spPr>
      </p:pic>
    </p:spTree>
    <p:extLst>
      <p:ext uri="{BB962C8B-B14F-4D97-AF65-F5344CB8AC3E}">
        <p14:creationId xmlns:p14="http://schemas.microsoft.com/office/powerpoint/2010/main" val="12213049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C708E16-3C5E-C72A-F77B-D3B71C5FAB51}"/>
              </a:ext>
            </a:extLst>
          </p:cNvPr>
          <p:cNvPicPr>
            <a:picLocks noChangeAspect="1"/>
          </p:cNvPicPr>
          <p:nvPr/>
        </p:nvPicPr>
        <p:blipFill>
          <a:blip r:embed="rId2"/>
          <a:stretch>
            <a:fillRect/>
          </a:stretch>
        </p:blipFill>
        <p:spPr>
          <a:xfrm>
            <a:off x="1333500" y="9525"/>
            <a:ext cx="9525000" cy="6838950"/>
          </a:xfrm>
          <a:prstGeom prst="rect">
            <a:avLst/>
          </a:prstGeom>
        </p:spPr>
      </p:pic>
    </p:spTree>
    <p:extLst>
      <p:ext uri="{BB962C8B-B14F-4D97-AF65-F5344CB8AC3E}">
        <p14:creationId xmlns:p14="http://schemas.microsoft.com/office/powerpoint/2010/main" val="5614599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38EDCD3-259C-370E-0915-3D1D9071A2A8}"/>
              </a:ext>
            </a:extLst>
          </p:cNvPr>
          <p:cNvPicPr>
            <a:picLocks noChangeAspect="1"/>
          </p:cNvPicPr>
          <p:nvPr/>
        </p:nvPicPr>
        <p:blipFill>
          <a:blip r:embed="rId2"/>
          <a:stretch>
            <a:fillRect/>
          </a:stretch>
        </p:blipFill>
        <p:spPr>
          <a:xfrm>
            <a:off x="798140" y="0"/>
            <a:ext cx="10595720" cy="6858000"/>
          </a:xfrm>
          <a:prstGeom prst="rect">
            <a:avLst/>
          </a:prstGeom>
        </p:spPr>
      </p:pic>
    </p:spTree>
    <p:extLst>
      <p:ext uri="{BB962C8B-B14F-4D97-AF65-F5344CB8AC3E}">
        <p14:creationId xmlns:p14="http://schemas.microsoft.com/office/powerpoint/2010/main" val="6742047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34BB6-38CC-53C1-F573-917B0580D2CD}"/>
            </a:ext>
          </a:extLst>
        </p:cNvPr>
        <p:cNvGrpSpPr/>
        <p:nvPr/>
      </p:nvGrpSpPr>
      <p:grpSpPr>
        <a:xfrm>
          <a:off x="0" y="0"/>
          <a:ext cx="0" cy="0"/>
          <a:chOff x="0" y="0"/>
          <a:chExt cx="0" cy="0"/>
        </a:xfrm>
      </p:grpSpPr>
      <p:sp>
        <p:nvSpPr>
          <p:cNvPr id="4" name="AutoShape 4" descr="Ecological Pyramids : The pyramid of numbers, biomass, energy">
            <a:extLst>
              <a:ext uri="{FF2B5EF4-FFF2-40B4-BE49-F238E27FC236}">
                <a16:creationId xmlns:a16="http://schemas.microsoft.com/office/drawing/2014/main" id="{BC312959-3DD1-1FE6-03E3-F65903BC7C4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0FAC30EB-2BC1-4C26-1F9B-00F1482EC718}"/>
              </a:ext>
            </a:extLst>
          </p:cNvPr>
          <p:cNvPicPr>
            <a:picLocks noChangeAspect="1"/>
          </p:cNvPicPr>
          <p:nvPr/>
        </p:nvPicPr>
        <p:blipFill>
          <a:blip r:embed="rId2"/>
          <a:stretch>
            <a:fillRect/>
          </a:stretch>
        </p:blipFill>
        <p:spPr>
          <a:xfrm>
            <a:off x="1923068" y="1087228"/>
            <a:ext cx="8376667" cy="4700830"/>
          </a:xfrm>
          <a:prstGeom prst="rect">
            <a:avLst/>
          </a:prstGeom>
        </p:spPr>
      </p:pic>
    </p:spTree>
    <p:extLst>
      <p:ext uri="{BB962C8B-B14F-4D97-AF65-F5344CB8AC3E}">
        <p14:creationId xmlns:p14="http://schemas.microsoft.com/office/powerpoint/2010/main" val="16845466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18793C-8A68-9B10-A49F-4009388A0ED2}"/>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12627691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D48C97-5002-6571-FA6C-742073E0932C}"/>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5635100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1875</Words>
  <Application>Microsoft Office PowerPoint</Application>
  <PresentationFormat>Widescreen</PresentationFormat>
  <Paragraphs>185</Paragraphs>
  <Slides>47</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Bahnschrift Light</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Rimpi Mehani ne'e Chopra</dc:creator>
  <cp:lastModifiedBy>Rimpi Mehani ne'e Chopra</cp:lastModifiedBy>
  <cp:revision>1</cp:revision>
  <dcterms:created xsi:type="dcterms:W3CDTF">2026-02-13T08:23:44Z</dcterms:created>
  <dcterms:modified xsi:type="dcterms:W3CDTF">2026-02-13T08:24:02Z</dcterms:modified>
</cp:coreProperties>
</file>