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0" r:id="rId4"/>
    <p:sldId id="281" r:id="rId5"/>
    <p:sldId id="257" r:id="rId6"/>
    <p:sldId id="282" r:id="rId7"/>
    <p:sldId id="283" r:id="rId8"/>
    <p:sldId id="284" r:id="rId9"/>
    <p:sldId id="285" r:id="rId10"/>
    <p:sldId id="286" r:id="rId11"/>
    <p:sldId id="287" r:id="rId12"/>
    <p:sldId id="288" r:id="rId13"/>
    <p:sldId id="289" r:id="rId14"/>
    <p:sldId id="290" r:id="rId15"/>
    <p:sldId id="296" r:id="rId16"/>
    <p:sldId id="295" r:id="rId17"/>
    <p:sldId id="291" r:id="rId18"/>
    <p:sldId id="292" r:id="rId19"/>
    <p:sldId id="293" r:id="rId20"/>
    <p:sldId id="2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C5D-DFA1-D278-2A09-20D9D79AD9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4DB0BA-C23A-847D-F8D6-B63957205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6D3861-36A9-3C2A-BA0D-8865ED6AA89B}"/>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6DDAF5A6-BBBD-F13A-469E-C8088349CF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00406-B33C-C993-63C2-364D6775AE10}"/>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2387801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5A381-175F-3713-2108-892565C8C1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EA19CD-A83F-09C1-684C-9235CB43A6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D0FF4-BFA6-041F-D777-18ECFC0C9950}"/>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75EF6E36-08F1-0473-11A2-B043BCAD6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288A29-C43F-5A01-AB49-269ECD0D3DC8}"/>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2763594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B48B-D03D-FE0F-1BBA-088D706DB1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AF6591-4A53-1D4C-17EF-4A650B887B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EC9C03-2C03-8E7D-C1B1-0C947DB78BED}"/>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96AD8595-351C-8C60-F361-55091BE095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7BAF95-5352-3E1B-5B80-C4116FC4055C}"/>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2043503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710CF-E37E-17C5-1F8D-198D5AF32C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F9590F-00E7-5886-83B4-9F081BAFD8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D903C7-CC47-0DED-2F2C-72A99A97DD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40E882-C38F-C612-40C6-60AB4B1835B9}"/>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6" name="Footer Placeholder 5">
            <a:extLst>
              <a:ext uri="{FF2B5EF4-FFF2-40B4-BE49-F238E27FC236}">
                <a16:creationId xmlns:a16="http://schemas.microsoft.com/office/drawing/2014/main" id="{A0F8C142-E85F-BB6C-FD3F-3044121870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4178FD-5B9E-E546-717B-5E28248D180E}"/>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3883341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968E0-DD32-4B9B-44FB-33A2039AC3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26F84B-30F1-4583-8383-EB23872BF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BBDC3D-2EAB-3924-F056-51C691825F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131EF0-DD07-9757-FFB3-60260CDA6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F047D7-842E-3C32-26BF-C9E63ACB2D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280256-A4A1-74E2-BF01-39E73AEA4600}"/>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8" name="Footer Placeholder 7">
            <a:extLst>
              <a:ext uri="{FF2B5EF4-FFF2-40B4-BE49-F238E27FC236}">
                <a16:creationId xmlns:a16="http://schemas.microsoft.com/office/drawing/2014/main" id="{B9852220-9617-1F1D-3C75-5CA716E475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8457AA-2C00-5502-6278-514FC54A13AF}"/>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189033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973BE-8BEC-B944-8EAB-6AA68CBD2A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210C61-458F-F749-2B64-97B5BFFA54D4}"/>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4" name="Footer Placeholder 3">
            <a:extLst>
              <a:ext uri="{FF2B5EF4-FFF2-40B4-BE49-F238E27FC236}">
                <a16:creationId xmlns:a16="http://schemas.microsoft.com/office/drawing/2014/main" id="{8B21C120-3F76-4F2E-136B-3617F83D1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ED0395-4FF9-C49E-AAC2-12249CFBD78D}"/>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148329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CABF96-30DD-8A75-55B1-D52E62446BA2}"/>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3" name="Footer Placeholder 2">
            <a:extLst>
              <a:ext uri="{FF2B5EF4-FFF2-40B4-BE49-F238E27FC236}">
                <a16:creationId xmlns:a16="http://schemas.microsoft.com/office/drawing/2014/main" id="{7F2C6DC5-4E5B-B573-EF2D-BFAD495DD0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24AEA0-4801-6958-1777-19E4F00A986A}"/>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43772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4A93F-81BD-DD8E-2837-C175E29443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7EE195-8B6E-B714-7645-DCA0DE022E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0A3EBA-92DD-5148-9607-51615B0A5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7DC9F-E306-0A1C-77C0-54B9963021CA}"/>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6" name="Footer Placeholder 5">
            <a:extLst>
              <a:ext uri="{FF2B5EF4-FFF2-40B4-BE49-F238E27FC236}">
                <a16:creationId xmlns:a16="http://schemas.microsoft.com/office/drawing/2014/main" id="{3C156154-E71F-2746-474A-20B888C9A1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59D3F2-790F-7FEC-9A12-60B68DE380C7}"/>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4230992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8F8D-BCE6-A917-BA7D-D5923CFAD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E8DEB7-C82C-D56F-DDC5-97A1E8BC5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7FDA03-EABC-8801-96A3-29C25BE1E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BC66C-12BD-0533-0279-27997665516B}"/>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6" name="Footer Placeholder 5">
            <a:extLst>
              <a:ext uri="{FF2B5EF4-FFF2-40B4-BE49-F238E27FC236}">
                <a16:creationId xmlns:a16="http://schemas.microsoft.com/office/drawing/2014/main" id="{AD10E500-A36E-4312-E9DF-0246170C51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F686D1-FAD6-066E-9B03-182E7C145CFD}"/>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3316500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2049-5672-FCDE-340B-92195A1A86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44D093-3D77-5800-FA0D-4F6FF13E3D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3F0D73-31CC-CE87-F9DE-0394B6634112}"/>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67AFC66C-8549-824C-786F-6FFAF59233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D5B29D-2C2F-A889-A2BA-AF11B4CEF119}"/>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2103961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BB3BA-120B-4673-6E7B-DF1E930E23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BDD2B3-D218-0CD8-5C89-C89F62987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7E423-AB17-02E6-E11B-7801EA740C18}"/>
              </a:ext>
            </a:extLst>
          </p:cNvPr>
          <p:cNvSpPr>
            <a:spLocks noGrp="1"/>
          </p:cNvSpPr>
          <p:nvPr>
            <p:ph type="dt" sz="half" idx="10"/>
          </p:nvPr>
        </p:nvSpPr>
        <p:spPr/>
        <p:txBody>
          <a:body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F9D58DFC-7B30-CA46-3838-2308EF2CF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7E8095-22AE-3340-4D20-D8D67BBF5C52}"/>
              </a:ext>
            </a:extLst>
          </p:cNvPr>
          <p:cNvSpPr>
            <a:spLocks noGrp="1"/>
          </p:cNvSpPr>
          <p:nvPr>
            <p:ph type="sldNum" sz="quarter" idx="12"/>
          </p:nvPr>
        </p:nvSpPr>
        <p:spPr/>
        <p:txBody>
          <a:bodyPr/>
          <a:lstStyle/>
          <a:p>
            <a:fld id="{ACA18069-F385-4C05-A5A3-98F184BC06B4}" type="slidenum">
              <a:rPr lang="en-IN" smtClean="0"/>
              <a:t>‹#›</a:t>
            </a:fld>
            <a:endParaRPr lang="en-IN"/>
          </a:p>
        </p:txBody>
      </p:sp>
    </p:spTree>
    <p:extLst>
      <p:ext uri="{BB962C8B-B14F-4D97-AF65-F5344CB8AC3E}">
        <p14:creationId xmlns:p14="http://schemas.microsoft.com/office/powerpoint/2010/main" val="202054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2E16F-F85A-A84C-ABA4-3294BC323F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B6BFDB-ED6F-C8A6-4618-C8D18FB9FE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6C224B-BFDE-903F-1AB0-AEE3EE567C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290B3E-F95A-4555-9805-BACE7D00E1CD}" type="datetimeFigureOut">
              <a:rPr lang="en-IN" smtClean="0"/>
              <a:t>13-08-2026</a:t>
            </a:fld>
            <a:endParaRPr lang="en-IN"/>
          </a:p>
        </p:txBody>
      </p:sp>
      <p:sp>
        <p:nvSpPr>
          <p:cNvPr id="5" name="Footer Placeholder 4">
            <a:extLst>
              <a:ext uri="{FF2B5EF4-FFF2-40B4-BE49-F238E27FC236}">
                <a16:creationId xmlns:a16="http://schemas.microsoft.com/office/drawing/2014/main" id="{F28014D4-1AF1-7D1D-18AF-67F139408C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B514961-8F51-6236-8186-DBD8C33AC7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A18069-F385-4C05-A5A3-98F184BC06B4}" type="slidenum">
              <a:rPr lang="en-IN" smtClean="0"/>
              <a:t>‹#›</a:t>
            </a:fld>
            <a:endParaRPr lang="en-IN"/>
          </a:p>
        </p:txBody>
      </p:sp>
    </p:spTree>
    <p:extLst>
      <p:ext uri="{BB962C8B-B14F-4D97-AF65-F5344CB8AC3E}">
        <p14:creationId xmlns:p14="http://schemas.microsoft.com/office/powerpoint/2010/main" val="1571775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dsa/encryption-and-decryption-of-string-according-to-given-technique/" TargetMode="External"/><Relationship Id="rId2" Type="http://schemas.openxmlformats.org/officeDocument/2006/relationships/hyperlink" Target="https://www.geeksforgeeks.org/ethical-hacking/encryption-its-algorithms-and-its-future/"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public-key-encryption/"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80ABA-9D5F-EAF0-3C9F-10D3E630B288}"/>
              </a:ext>
            </a:extLst>
          </p:cNvPr>
          <p:cNvSpPr>
            <a:spLocks noGrp="1"/>
          </p:cNvSpPr>
          <p:nvPr>
            <p:ph type="ctrTitle"/>
          </p:nvPr>
        </p:nvSpPr>
        <p:spPr>
          <a:xfrm>
            <a:off x="0" y="285749"/>
            <a:ext cx="12191999" cy="3600450"/>
          </a:xfrm>
        </p:spPr>
        <p:txBody>
          <a:bodyPr>
            <a:normAutofit fontScale="90000"/>
          </a:bodyPr>
          <a:lstStyle/>
          <a:p>
            <a:r>
              <a:rPr lang="en-US" b="1" dirty="0"/>
              <a:t>UNIT-II</a:t>
            </a:r>
            <a:br>
              <a:rPr lang="en-US" b="1" dirty="0"/>
            </a:br>
            <a:r>
              <a:rPr lang="en-IN" b="1" dirty="0"/>
              <a:t>Cryptography-I : Introduction to Cryptography</a:t>
            </a:r>
            <a:br>
              <a:rPr lang="en-IN" b="1" dirty="0"/>
            </a:br>
            <a:r>
              <a:rPr lang="en-US" b="1" dirty="0"/>
              <a:t>CAP404</a:t>
            </a:r>
            <a:br>
              <a:rPr lang="en-US" b="1" dirty="0"/>
            </a:br>
            <a:r>
              <a:rPr lang="en-IN" b="1" dirty="0"/>
              <a:t>INFORMATION SECURITY AND PRIVACY</a:t>
            </a:r>
          </a:p>
        </p:txBody>
      </p:sp>
      <p:sp>
        <p:nvSpPr>
          <p:cNvPr id="3" name="Subtitle 2">
            <a:extLst>
              <a:ext uri="{FF2B5EF4-FFF2-40B4-BE49-F238E27FC236}">
                <a16:creationId xmlns:a16="http://schemas.microsoft.com/office/drawing/2014/main" id="{5398E7D3-759B-3266-5778-DA514BB87DA5}"/>
              </a:ext>
            </a:extLst>
          </p:cNvPr>
          <p:cNvSpPr>
            <a:spLocks noGrp="1"/>
          </p:cNvSpPr>
          <p:nvPr>
            <p:ph type="subTitle" idx="1"/>
          </p:nvPr>
        </p:nvSpPr>
        <p:spPr>
          <a:xfrm>
            <a:off x="245806" y="3886199"/>
            <a:ext cx="11857704" cy="2317955"/>
          </a:xfrm>
        </p:spPr>
        <p:txBody>
          <a:bodyPr>
            <a:normAutofit/>
          </a:bodyPr>
          <a:lstStyle/>
          <a:p>
            <a:endParaRPr lang="en-US" dirty="0"/>
          </a:p>
          <a:p>
            <a:r>
              <a:rPr lang="en-US" dirty="0"/>
              <a:t>SCHOOL OF COMPUTER APPLICATIONS</a:t>
            </a:r>
          </a:p>
          <a:p>
            <a:r>
              <a:rPr lang="en-US" dirty="0"/>
              <a:t>DOMAIN: AI &amp;ML</a:t>
            </a:r>
          </a:p>
        </p:txBody>
      </p:sp>
    </p:spTree>
    <p:extLst>
      <p:ext uri="{BB962C8B-B14F-4D97-AF65-F5344CB8AC3E}">
        <p14:creationId xmlns:p14="http://schemas.microsoft.com/office/powerpoint/2010/main" val="330814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5C724-AF37-DC38-5E9A-327B3C601266}"/>
              </a:ext>
            </a:extLst>
          </p:cNvPr>
          <p:cNvSpPr>
            <a:spLocks noGrp="1"/>
          </p:cNvSpPr>
          <p:nvPr>
            <p:ph type="title"/>
          </p:nvPr>
        </p:nvSpPr>
        <p:spPr/>
        <p:txBody>
          <a:bodyPr/>
          <a:lstStyle/>
          <a:p>
            <a:r>
              <a:rPr lang="en-US" dirty="0"/>
              <a:t>What is a key?</a:t>
            </a:r>
            <a:endParaRPr lang="en-IN" dirty="0"/>
          </a:p>
        </p:txBody>
      </p:sp>
      <p:sp>
        <p:nvSpPr>
          <p:cNvPr id="3" name="Content Placeholder 2">
            <a:extLst>
              <a:ext uri="{FF2B5EF4-FFF2-40B4-BE49-F238E27FC236}">
                <a16:creationId xmlns:a16="http://schemas.microsoft.com/office/drawing/2014/main" id="{B8E05DA0-A3DE-F079-31A3-105AD6139A9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2F49125-34CC-6FBC-7B2D-44588C3A4864}"/>
              </a:ext>
            </a:extLst>
          </p:cNvPr>
          <p:cNvPicPr>
            <a:picLocks noChangeAspect="1"/>
          </p:cNvPicPr>
          <p:nvPr/>
        </p:nvPicPr>
        <p:blipFill>
          <a:blip r:embed="rId2"/>
          <a:stretch>
            <a:fillRect/>
          </a:stretch>
        </p:blipFill>
        <p:spPr>
          <a:xfrm>
            <a:off x="983225" y="1847712"/>
            <a:ext cx="10186219" cy="4543255"/>
          </a:xfrm>
          <a:prstGeom prst="rect">
            <a:avLst/>
          </a:prstGeom>
        </p:spPr>
      </p:pic>
    </p:spTree>
    <p:extLst>
      <p:ext uri="{BB962C8B-B14F-4D97-AF65-F5344CB8AC3E}">
        <p14:creationId xmlns:p14="http://schemas.microsoft.com/office/powerpoint/2010/main" val="1533559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816E-B942-EA8A-9D6E-A72B36ED2C8A}"/>
              </a:ext>
            </a:extLst>
          </p:cNvPr>
          <p:cNvSpPr>
            <a:spLocks noGrp="1"/>
          </p:cNvSpPr>
          <p:nvPr>
            <p:ph type="title"/>
          </p:nvPr>
        </p:nvSpPr>
        <p:spPr/>
        <p:txBody>
          <a:bodyPr/>
          <a:lstStyle/>
          <a:p>
            <a:r>
              <a:rPr lang="en-US" b="1" dirty="0"/>
              <a:t>Key size</a:t>
            </a:r>
            <a:endParaRPr lang="en-IN" b="1" dirty="0"/>
          </a:p>
        </p:txBody>
      </p:sp>
      <p:sp>
        <p:nvSpPr>
          <p:cNvPr id="3" name="Content Placeholder 2">
            <a:extLst>
              <a:ext uri="{FF2B5EF4-FFF2-40B4-BE49-F238E27FC236}">
                <a16:creationId xmlns:a16="http://schemas.microsoft.com/office/drawing/2014/main" id="{796F8584-EF1F-7386-014D-D6289E23F0C9}"/>
              </a:ext>
            </a:extLst>
          </p:cNvPr>
          <p:cNvSpPr>
            <a:spLocks noGrp="1"/>
          </p:cNvSpPr>
          <p:nvPr>
            <p:ph idx="1"/>
          </p:nvPr>
        </p:nvSpPr>
        <p:spPr/>
        <p:txBody>
          <a:bodyPr>
            <a:normAutofit fontScale="92500" lnSpcReduction="20000"/>
          </a:bodyPr>
          <a:lstStyle/>
          <a:p>
            <a:pPr algn="just"/>
            <a:r>
              <a:rPr lang="en-IN" dirty="0"/>
              <a:t>In cryptography, </a:t>
            </a:r>
            <a:r>
              <a:rPr lang="en-IN" b="1" dirty="0"/>
              <a:t>key size</a:t>
            </a:r>
            <a:r>
              <a:rPr lang="en-IN" dirty="0"/>
              <a:t> (or key length) is the length of an encryption key measured in bits. </a:t>
            </a:r>
          </a:p>
          <a:p>
            <a:pPr algn="just"/>
            <a:endParaRPr lang="en-IN" dirty="0"/>
          </a:p>
          <a:p>
            <a:r>
              <a:rPr lang="en-IN" b="1" dirty="0"/>
              <a:t>Key Size</a:t>
            </a:r>
          </a:p>
          <a:p>
            <a:endParaRPr lang="en-IN" b="1" dirty="0"/>
          </a:p>
          <a:p>
            <a:pPr marL="514350" lvl="0" indent="-514350">
              <a:buFont typeface="+mj-lt"/>
              <a:buAutoNum type="arabicPeriod"/>
            </a:pPr>
            <a:r>
              <a:rPr lang="en-IN" dirty="0"/>
              <a:t>Refers to the number of bits (ones and zeros) in the key.</a:t>
            </a:r>
          </a:p>
          <a:p>
            <a:pPr marL="514350" lvl="0" indent="-514350">
              <a:buFont typeface="+mj-lt"/>
              <a:buAutoNum type="arabicPeriod"/>
            </a:pPr>
            <a:r>
              <a:rPr lang="en-IN" dirty="0"/>
              <a:t>Common symmetric sizes include 128-bit, 192-bit, and 256-bit.</a:t>
            </a:r>
          </a:p>
          <a:p>
            <a:pPr marL="514350" lvl="0" indent="-514350">
              <a:buFont typeface="+mj-lt"/>
              <a:buAutoNum type="arabicPeriod"/>
            </a:pPr>
            <a:r>
              <a:rPr lang="en-IN" dirty="0"/>
              <a:t>Higher numbers mean stronger protection for data</a:t>
            </a:r>
          </a:p>
          <a:p>
            <a:pPr lvl="0"/>
            <a:endParaRPr lang="en-IN" dirty="0"/>
          </a:p>
          <a:p>
            <a:pPr lvl="0"/>
            <a:r>
              <a:rPr lang="en-IN" b="1" dirty="0"/>
              <a:t>Why it matters:</a:t>
            </a:r>
            <a:r>
              <a:rPr lang="en-IN" dirty="0"/>
              <a:t> Larger key size → larger key space → harder to brute-force</a:t>
            </a:r>
          </a:p>
          <a:p>
            <a:pPr lvl="0"/>
            <a:endParaRPr lang="en-IN" dirty="0"/>
          </a:p>
        </p:txBody>
      </p:sp>
    </p:spTree>
    <p:extLst>
      <p:ext uri="{BB962C8B-B14F-4D97-AF65-F5344CB8AC3E}">
        <p14:creationId xmlns:p14="http://schemas.microsoft.com/office/powerpoint/2010/main" val="2811795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4E06B-3C9E-BA65-04FE-6471DC2F2611}"/>
              </a:ext>
            </a:extLst>
          </p:cNvPr>
          <p:cNvSpPr>
            <a:spLocks noGrp="1"/>
          </p:cNvSpPr>
          <p:nvPr>
            <p:ph type="title"/>
          </p:nvPr>
        </p:nvSpPr>
        <p:spPr/>
        <p:txBody>
          <a:bodyPr/>
          <a:lstStyle/>
          <a:p>
            <a:r>
              <a:rPr lang="en-US" b="1" dirty="0"/>
              <a:t>Key range</a:t>
            </a:r>
            <a:endParaRPr lang="en-IN" dirty="0"/>
          </a:p>
        </p:txBody>
      </p:sp>
      <p:sp>
        <p:nvSpPr>
          <p:cNvPr id="3" name="Content Placeholder 2">
            <a:extLst>
              <a:ext uri="{FF2B5EF4-FFF2-40B4-BE49-F238E27FC236}">
                <a16:creationId xmlns:a16="http://schemas.microsoft.com/office/drawing/2014/main" id="{63527519-913B-EB6B-BB1A-10813A462B9D}"/>
              </a:ext>
            </a:extLst>
          </p:cNvPr>
          <p:cNvSpPr>
            <a:spLocks noGrp="1"/>
          </p:cNvSpPr>
          <p:nvPr>
            <p:ph idx="1"/>
          </p:nvPr>
        </p:nvSpPr>
        <p:spPr/>
        <p:txBody>
          <a:bodyPr>
            <a:normAutofit lnSpcReduction="10000"/>
          </a:bodyPr>
          <a:lstStyle/>
          <a:p>
            <a:pPr lvl="0"/>
            <a:r>
              <a:rPr lang="en-IN" b="1" dirty="0"/>
              <a:t>Definition:</a:t>
            </a:r>
            <a:r>
              <a:rPr lang="en-IN" dirty="0"/>
              <a:t> The total set of all possible key values that can be generated for a given key size (also called the "key space")</a:t>
            </a:r>
          </a:p>
          <a:p>
            <a:pPr lvl="0"/>
            <a:r>
              <a:rPr lang="en-IN" b="1" dirty="0"/>
              <a:t>Formula:</a:t>
            </a:r>
            <a:r>
              <a:rPr lang="en-IN" dirty="0"/>
              <a:t> Key Range = 2ⁿ, where n = key size in bits</a:t>
            </a:r>
          </a:p>
          <a:p>
            <a:pPr marL="0" lvl="0" indent="0">
              <a:buNone/>
            </a:pPr>
            <a:endParaRPr lang="en-IN" b="1" dirty="0"/>
          </a:p>
          <a:p>
            <a:pPr marL="0" lvl="0" indent="0">
              <a:buNone/>
            </a:pPr>
            <a:r>
              <a:rPr lang="en-IN" b="1" u="sng" dirty="0"/>
              <a:t>Examples:</a:t>
            </a:r>
            <a:r>
              <a:rPr lang="en-IN" u="sng" dirty="0"/>
              <a:t> </a:t>
            </a:r>
          </a:p>
          <a:p>
            <a:pPr marL="0" lvl="0" indent="0">
              <a:buNone/>
            </a:pPr>
            <a:endParaRPr lang="en-IN" u="sng" dirty="0"/>
          </a:p>
          <a:p>
            <a:pPr lvl="0"/>
            <a:r>
              <a:rPr lang="en-IN" dirty="0"/>
              <a:t>8-bit key → 2⁸ = 256 possible keys</a:t>
            </a:r>
          </a:p>
          <a:p>
            <a:pPr lvl="0"/>
            <a:r>
              <a:rPr lang="en-IN" dirty="0"/>
              <a:t>56-bit key (DES) → 2⁵⁶ ≈ 7.2 × 10¹⁶ possible keys</a:t>
            </a:r>
          </a:p>
          <a:p>
            <a:pPr lvl="0"/>
            <a:r>
              <a:rPr lang="en-IN" dirty="0"/>
              <a:t>128-bit key (AES) → 2¹²⁸ ≈ 3.4 × 10³⁸ possible keys</a:t>
            </a:r>
          </a:p>
          <a:p>
            <a:pPr lvl="0"/>
            <a:endParaRPr lang="en-IN" dirty="0"/>
          </a:p>
        </p:txBody>
      </p:sp>
    </p:spTree>
    <p:extLst>
      <p:ext uri="{BB962C8B-B14F-4D97-AF65-F5344CB8AC3E}">
        <p14:creationId xmlns:p14="http://schemas.microsoft.com/office/powerpoint/2010/main" val="2072799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02E2-FFF4-DEDF-CEEB-96FFA4EAFF4C}"/>
              </a:ext>
            </a:extLst>
          </p:cNvPr>
          <p:cNvSpPr>
            <a:spLocks noGrp="1"/>
          </p:cNvSpPr>
          <p:nvPr>
            <p:ph type="title"/>
          </p:nvPr>
        </p:nvSpPr>
        <p:spPr/>
        <p:txBody>
          <a:bodyPr/>
          <a:lstStyle/>
          <a:p>
            <a:r>
              <a:rPr lang="en-IN" b="1" dirty="0"/>
              <a:t>Key Size Impact in Brute Force Attack</a:t>
            </a:r>
            <a:br>
              <a:rPr lang="en-IN" b="1" dirty="0"/>
            </a:br>
            <a:endParaRPr lang="en-IN" dirty="0"/>
          </a:p>
        </p:txBody>
      </p:sp>
      <p:sp>
        <p:nvSpPr>
          <p:cNvPr id="3" name="Content Placeholder 2">
            <a:extLst>
              <a:ext uri="{FF2B5EF4-FFF2-40B4-BE49-F238E27FC236}">
                <a16:creationId xmlns:a16="http://schemas.microsoft.com/office/drawing/2014/main" id="{6C3C062D-3B88-C449-3B78-9E415C9AEC10}"/>
              </a:ext>
            </a:extLst>
          </p:cNvPr>
          <p:cNvSpPr>
            <a:spLocks noGrp="1"/>
          </p:cNvSpPr>
          <p:nvPr>
            <p:ph idx="1"/>
          </p:nvPr>
        </p:nvSpPr>
        <p:spPr/>
        <p:txBody>
          <a:bodyPr/>
          <a:lstStyle/>
          <a:p>
            <a:pPr fontAlgn="base"/>
            <a:r>
              <a:rPr lang="en-IN" dirty="0"/>
              <a:t>Assuming that the algorithm is just perfect by perfect we mean that there is no way to break the cryptosystem other than performing the brute-force attack. </a:t>
            </a:r>
          </a:p>
          <a:p>
            <a:pPr lvl="0" fontAlgn="base"/>
            <a:r>
              <a:rPr lang="en-IN" dirty="0"/>
              <a:t>Calculating the complexity of a brute force attack is easy, if the length of the key is 8 bits then there will be 256 possible keys. </a:t>
            </a:r>
          </a:p>
          <a:p>
            <a:pPr lvl="0" fontAlgn="base"/>
            <a:r>
              <a:rPr lang="en-IN" dirty="0"/>
              <a:t>This implies it will take only 256 attempts to crack the correct key. </a:t>
            </a:r>
          </a:p>
          <a:p>
            <a:pPr lvl="0" fontAlgn="base"/>
            <a:r>
              <a:rPr lang="en-IN" dirty="0"/>
              <a:t>Similarly, if the key is 56 bits long then it would take 2^256 that is it will take 2285 years in finding the correct key.</a:t>
            </a:r>
          </a:p>
          <a:p>
            <a:endParaRPr lang="en-IN" dirty="0"/>
          </a:p>
        </p:txBody>
      </p:sp>
    </p:spTree>
    <p:extLst>
      <p:ext uri="{BB962C8B-B14F-4D97-AF65-F5344CB8AC3E}">
        <p14:creationId xmlns:p14="http://schemas.microsoft.com/office/powerpoint/2010/main" val="55596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F82D-891A-18F1-03BB-6376B3F7061F}"/>
              </a:ext>
            </a:extLst>
          </p:cNvPr>
          <p:cNvSpPr>
            <a:spLocks noGrp="1"/>
          </p:cNvSpPr>
          <p:nvPr>
            <p:ph type="title"/>
          </p:nvPr>
        </p:nvSpPr>
        <p:spPr/>
        <p:txBody>
          <a:bodyPr/>
          <a:lstStyle/>
          <a:p>
            <a:endParaRPr lang="en-IN" dirty="0"/>
          </a:p>
        </p:txBody>
      </p:sp>
      <p:graphicFrame>
        <p:nvGraphicFramePr>
          <p:cNvPr id="5" name="Content Placeholder 4">
            <a:extLst>
              <a:ext uri="{FF2B5EF4-FFF2-40B4-BE49-F238E27FC236}">
                <a16:creationId xmlns:a16="http://schemas.microsoft.com/office/drawing/2014/main" id="{B5828C11-A32C-B4A2-1D4B-F7690A9F71B4}"/>
              </a:ext>
            </a:extLst>
          </p:cNvPr>
          <p:cNvGraphicFramePr>
            <a:graphicFrameLocks noGrp="1"/>
          </p:cNvGraphicFramePr>
          <p:nvPr>
            <p:ph idx="1"/>
            <p:extLst>
              <p:ext uri="{D42A27DB-BD31-4B8C-83A1-F6EECF244321}">
                <p14:modId xmlns:p14="http://schemas.microsoft.com/office/powerpoint/2010/main" val="844053717"/>
              </p:ext>
            </p:extLst>
          </p:nvPr>
        </p:nvGraphicFramePr>
        <p:xfrm>
          <a:off x="914400" y="1825623"/>
          <a:ext cx="10439399" cy="4467019"/>
        </p:xfrm>
        <a:graphic>
          <a:graphicData uri="http://schemas.openxmlformats.org/drawingml/2006/table">
            <a:tbl>
              <a:tblPr>
                <a:tableStyleId>{69C7853C-536D-4A76-A0AE-DD22124D55A5}</a:tableStyleId>
              </a:tblPr>
              <a:tblGrid>
                <a:gridCol w="3097065">
                  <a:extLst>
                    <a:ext uri="{9D8B030D-6E8A-4147-A177-3AD203B41FA5}">
                      <a16:colId xmlns:a16="http://schemas.microsoft.com/office/drawing/2014/main" val="62072901"/>
                    </a:ext>
                  </a:extLst>
                </a:gridCol>
                <a:gridCol w="3671167">
                  <a:extLst>
                    <a:ext uri="{9D8B030D-6E8A-4147-A177-3AD203B41FA5}">
                      <a16:colId xmlns:a16="http://schemas.microsoft.com/office/drawing/2014/main" val="2575066927"/>
                    </a:ext>
                  </a:extLst>
                </a:gridCol>
                <a:gridCol w="3671167">
                  <a:extLst>
                    <a:ext uri="{9D8B030D-6E8A-4147-A177-3AD203B41FA5}">
                      <a16:colId xmlns:a16="http://schemas.microsoft.com/office/drawing/2014/main" val="1803507451"/>
                    </a:ext>
                  </a:extLst>
                </a:gridCol>
              </a:tblGrid>
              <a:tr h="776873">
                <a:tc>
                  <a:txBody>
                    <a:bodyPr/>
                    <a:lstStyle/>
                    <a:p>
                      <a:pPr>
                        <a:buNone/>
                      </a:pPr>
                      <a:r>
                        <a:rPr lang="en-IN" b="1"/>
                        <a:t>Key Size</a:t>
                      </a:r>
                    </a:p>
                  </a:txBody>
                  <a:tcPr anchor="ctr"/>
                </a:tc>
                <a:tc>
                  <a:txBody>
                    <a:bodyPr/>
                    <a:lstStyle/>
                    <a:p>
                      <a:pPr>
                        <a:buNone/>
                      </a:pPr>
                      <a:r>
                        <a:rPr lang="en-IN" b="1" dirty="0"/>
                        <a:t>Key Range</a:t>
                      </a:r>
                    </a:p>
                  </a:txBody>
                  <a:tcPr anchor="ctr"/>
                </a:tc>
                <a:tc>
                  <a:txBody>
                    <a:bodyPr/>
                    <a:lstStyle/>
                    <a:p>
                      <a:pPr>
                        <a:buNone/>
                      </a:pPr>
                      <a:r>
                        <a:rPr lang="en-IN" b="1" dirty="0"/>
                        <a:t>Approx. Time to Brute-Force</a:t>
                      </a:r>
                    </a:p>
                  </a:txBody>
                  <a:tcPr anchor="ctr"/>
                </a:tc>
                <a:extLst>
                  <a:ext uri="{0D108BD9-81ED-4DB2-BD59-A6C34878D82A}">
                    <a16:rowId xmlns:a16="http://schemas.microsoft.com/office/drawing/2014/main" val="701833515"/>
                  </a:ext>
                </a:extLst>
              </a:tr>
              <a:tr h="776873">
                <a:tc>
                  <a:txBody>
                    <a:bodyPr/>
                    <a:lstStyle/>
                    <a:p>
                      <a:pPr>
                        <a:buNone/>
                      </a:pPr>
                      <a:r>
                        <a:rPr lang="en-IN"/>
                        <a:t>40-bit</a:t>
                      </a:r>
                    </a:p>
                  </a:txBody>
                  <a:tcPr anchor="ctr"/>
                </a:tc>
                <a:tc>
                  <a:txBody>
                    <a:bodyPr/>
                    <a:lstStyle/>
                    <a:p>
                      <a:pPr>
                        <a:buNone/>
                      </a:pPr>
                      <a:r>
                        <a:rPr lang="en-IN"/>
                        <a:t>2⁴⁰</a:t>
                      </a:r>
                    </a:p>
                  </a:txBody>
                  <a:tcPr anchor="ctr"/>
                </a:tc>
                <a:tc>
                  <a:txBody>
                    <a:bodyPr/>
                    <a:lstStyle/>
                    <a:p>
                      <a:pPr>
                        <a:buNone/>
                      </a:pPr>
                      <a:r>
                        <a:rPr lang="en-IN"/>
                        <a:t>~18 minutes</a:t>
                      </a:r>
                    </a:p>
                  </a:txBody>
                  <a:tcPr anchor="ctr"/>
                </a:tc>
                <a:extLst>
                  <a:ext uri="{0D108BD9-81ED-4DB2-BD59-A6C34878D82A}">
                    <a16:rowId xmlns:a16="http://schemas.microsoft.com/office/drawing/2014/main" val="4243632645"/>
                  </a:ext>
                </a:extLst>
              </a:tr>
              <a:tr h="776873">
                <a:tc>
                  <a:txBody>
                    <a:bodyPr/>
                    <a:lstStyle/>
                    <a:p>
                      <a:pPr>
                        <a:buNone/>
                      </a:pPr>
                      <a:r>
                        <a:rPr lang="en-IN"/>
                        <a:t>56-bit (DES)</a:t>
                      </a:r>
                    </a:p>
                  </a:txBody>
                  <a:tcPr anchor="ctr"/>
                </a:tc>
                <a:tc>
                  <a:txBody>
                    <a:bodyPr/>
                    <a:lstStyle/>
                    <a:p>
                      <a:pPr>
                        <a:buNone/>
                      </a:pPr>
                      <a:r>
                        <a:rPr lang="en-IN"/>
                        <a:t>2⁵⁶</a:t>
                      </a:r>
                    </a:p>
                  </a:txBody>
                  <a:tcPr anchor="ctr"/>
                </a:tc>
                <a:tc>
                  <a:txBody>
                    <a:bodyPr/>
                    <a:lstStyle/>
                    <a:p>
                      <a:pPr>
                        <a:buNone/>
                      </a:pPr>
                      <a:r>
                        <a:rPr lang="en-IN"/>
                        <a:t>~2,285 years</a:t>
                      </a:r>
                    </a:p>
                  </a:txBody>
                  <a:tcPr anchor="ctr"/>
                </a:tc>
                <a:extLst>
                  <a:ext uri="{0D108BD9-81ED-4DB2-BD59-A6C34878D82A}">
                    <a16:rowId xmlns:a16="http://schemas.microsoft.com/office/drawing/2014/main" val="1366551826"/>
                  </a:ext>
                </a:extLst>
              </a:tr>
              <a:tr h="776873">
                <a:tc>
                  <a:txBody>
                    <a:bodyPr/>
                    <a:lstStyle/>
                    <a:p>
                      <a:pPr>
                        <a:buNone/>
                      </a:pPr>
                      <a:r>
                        <a:rPr lang="en-IN"/>
                        <a:t>64-bit</a:t>
                      </a:r>
                    </a:p>
                  </a:txBody>
                  <a:tcPr anchor="ctr"/>
                </a:tc>
                <a:tc>
                  <a:txBody>
                    <a:bodyPr/>
                    <a:lstStyle/>
                    <a:p>
                      <a:pPr>
                        <a:buNone/>
                      </a:pPr>
                      <a:r>
                        <a:rPr lang="en-IN"/>
                        <a:t>2⁶⁴</a:t>
                      </a:r>
                    </a:p>
                  </a:txBody>
                  <a:tcPr anchor="ctr"/>
                </a:tc>
                <a:tc>
                  <a:txBody>
                    <a:bodyPr/>
                    <a:lstStyle/>
                    <a:p>
                      <a:pPr>
                        <a:buNone/>
                      </a:pPr>
                      <a:r>
                        <a:rPr lang="en-IN"/>
                        <a:t>~584,542 years</a:t>
                      </a:r>
                    </a:p>
                  </a:txBody>
                  <a:tcPr anchor="ctr"/>
                </a:tc>
                <a:extLst>
                  <a:ext uri="{0D108BD9-81ED-4DB2-BD59-A6C34878D82A}">
                    <a16:rowId xmlns:a16="http://schemas.microsoft.com/office/drawing/2014/main" val="1270044477"/>
                  </a:ext>
                </a:extLst>
              </a:tr>
              <a:tr h="1359527">
                <a:tc>
                  <a:txBody>
                    <a:bodyPr/>
                    <a:lstStyle/>
                    <a:p>
                      <a:pPr>
                        <a:buNone/>
                      </a:pPr>
                      <a:r>
                        <a:rPr lang="en-IN"/>
                        <a:t>128-bit (AES)</a:t>
                      </a:r>
                    </a:p>
                  </a:txBody>
                  <a:tcPr anchor="ctr"/>
                </a:tc>
                <a:tc>
                  <a:txBody>
                    <a:bodyPr/>
                    <a:lstStyle/>
                    <a:p>
                      <a:pPr>
                        <a:buNone/>
                      </a:pPr>
                      <a:r>
                        <a:rPr lang="en-IN"/>
                        <a:t>2¹²⁸</a:t>
                      </a:r>
                    </a:p>
                  </a:txBody>
                  <a:tcPr anchor="ctr"/>
                </a:tc>
                <a:tc>
                  <a:txBody>
                    <a:bodyPr/>
                    <a:lstStyle/>
                    <a:p>
                      <a:pPr>
                        <a:buNone/>
                      </a:pPr>
                      <a:r>
                        <a:rPr lang="en-IN" dirty="0"/>
                        <a:t>Billions of years (longer than age of universe)</a:t>
                      </a:r>
                    </a:p>
                  </a:txBody>
                  <a:tcPr anchor="ctr"/>
                </a:tc>
                <a:extLst>
                  <a:ext uri="{0D108BD9-81ED-4DB2-BD59-A6C34878D82A}">
                    <a16:rowId xmlns:a16="http://schemas.microsoft.com/office/drawing/2014/main" val="3631576982"/>
                  </a:ext>
                </a:extLst>
              </a:tr>
            </a:tbl>
          </a:graphicData>
        </a:graphic>
      </p:graphicFrame>
    </p:spTree>
    <p:extLst>
      <p:ext uri="{BB962C8B-B14F-4D97-AF65-F5344CB8AC3E}">
        <p14:creationId xmlns:p14="http://schemas.microsoft.com/office/powerpoint/2010/main" val="211464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7C50B-B2F0-D429-0881-2B6822CB624E}"/>
              </a:ext>
            </a:extLst>
          </p:cNvPr>
          <p:cNvSpPr>
            <a:spLocks noGrp="1"/>
          </p:cNvSpPr>
          <p:nvPr>
            <p:ph type="title"/>
          </p:nvPr>
        </p:nvSpPr>
        <p:spPr/>
        <p:txBody>
          <a:bodyPr>
            <a:normAutofit fontScale="90000"/>
          </a:bodyPr>
          <a:lstStyle/>
          <a:p>
            <a:r>
              <a:rPr lang="en-IN" b="1" dirty="0"/>
              <a:t>Difference between Encryption and Decryption</a:t>
            </a:r>
            <a:br>
              <a:rPr lang="en-IN" b="1" dirty="0"/>
            </a:br>
            <a:endParaRPr lang="en-IN" dirty="0"/>
          </a:p>
        </p:txBody>
      </p:sp>
      <p:pic>
        <p:nvPicPr>
          <p:cNvPr id="5" name="Content Placeholder 4">
            <a:extLst>
              <a:ext uri="{FF2B5EF4-FFF2-40B4-BE49-F238E27FC236}">
                <a16:creationId xmlns:a16="http://schemas.microsoft.com/office/drawing/2014/main" id="{740167D5-2F35-0E8F-A85C-96A600D6247D}"/>
              </a:ext>
            </a:extLst>
          </p:cNvPr>
          <p:cNvPicPr>
            <a:picLocks noGrp="1" noChangeAspect="1"/>
          </p:cNvPicPr>
          <p:nvPr>
            <p:ph idx="1"/>
          </p:nvPr>
        </p:nvPicPr>
        <p:blipFill>
          <a:blip r:embed="rId2"/>
          <a:stretch>
            <a:fillRect/>
          </a:stretch>
        </p:blipFill>
        <p:spPr>
          <a:xfrm>
            <a:off x="658761" y="1514169"/>
            <a:ext cx="10515600" cy="3786448"/>
          </a:xfrm>
          <a:prstGeom prst="rect">
            <a:avLst/>
          </a:prstGeom>
        </p:spPr>
      </p:pic>
    </p:spTree>
    <p:extLst>
      <p:ext uri="{BB962C8B-B14F-4D97-AF65-F5344CB8AC3E}">
        <p14:creationId xmlns:p14="http://schemas.microsoft.com/office/powerpoint/2010/main" val="296474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24F34-09C4-1648-31FA-5704477A7BBE}"/>
              </a:ext>
            </a:extLst>
          </p:cNvPr>
          <p:cNvSpPr>
            <a:spLocks noGrp="1"/>
          </p:cNvSpPr>
          <p:nvPr>
            <p:ph type="title"/>
          </p:nvPr>
        </p:nvSpPr>
        <p:spPr/>
        <p:txBody>
          <a:bodyPr/>
          <a:lstStyle/>
          <a:p>
            <a:r>
              <a:rPr lang="en-IN" b="1" dirty="0"/>
              <a:t>What is Encryption?</a:t>
            </a:r>
            <a:br>
              <a:rPr lang="en-IN" b="1" dirty="0"/>
            </a:br>
            <a:endParaRPr lang="en-IN" dirty="0"/>
          </a:p>
        </p:txBody>
      </p:sp>
      <p:sp>
        <p:nvSpPr>
          <p:cNvPr id="3" name="Content Placeholder 2">
            <a:extLst>
              <a:ext uri="{FF2B5EF4-FFF2-40B4-BE49-F238E27FC236}">
                <a16:creationId xmlns:a16="http://schemas.microsoft.com/office/drawing/2014/main" id="{1DE6A7D4-14A3-67D9-48B7-1D9E34C6F54C}"/>
              </a:ext>
            </a:extLst>
          </p:cNvPr>
          <p:cNvSpPr>
            <a:spLocks noGrp="1"/>
          </p:cNvSpPr>
          <p:nvPr>
            <p:ph idx="1"/>
          </p:nvPr>
        </p:nvSpPr>
        <p:spPr/>
        <p:txBody>
          <a:bodyPr>
            <a:normAutofit fontScale="85000" lnSpcReduction="10000"/>
          </a:bodyPr>
          <a:lstStyle/>
          <a:p>
            <a:pPr algn="just" fontAlgn="base"/>
            <a:r>
              <a:rPr lang="en-IN" dirty="0"/>
              <a:t>Data can be secured with encryption by being changed into an unintelligible format that can only be interpreted by a person with the proper decryption key. Sensitive data, including financial and personal information as well as communications over the internet, is frequently protected with it.</a:t>
            </a:r>
          </a:p>
          <a:p>
            <a:pPr fontAlgn="base"/>
            <a:endParaRPr lang="en-IN" dirty="0"/>
          </a:p>
          <a:p>
            <a:pPr marL="0" indent="0" fontAlgn="base">
              <a:buNone/>
            </a:pPr>
            <a:r>
              <a:rPr lang="en-IN" b="1" dirty="0"/>
              <a:t>Application of Encryption</a:t>
            </a:r>
          </a:p>
          <a:p>
            <a:pPr marL="0" indent="0" fontAlgn="base">
              <a:buNone/>
            </a:pPr>
            <a:endParaRPr lang="en-IN" dirty="0"/>
          </a:p>
          <a:p>
            <a:pPr lvl="0" fontAlgn="base"/>
            <a:r>
              <a:rPr lang="en-IN" b="1" dirty="0"/>
              <a:t>Online Banking:</a:t>
            </a:r>
            <a:r>
              <a:rPr lang="en-IN" dirty="0"/>
              <a:t> To secure transactions, use online banking.</a:t>
            </a:r>
          </a:p>
          <a:p>
            <a:pPr lvl="0" fontAlgn="base"/>
            <a:r>
              <a:rPr lang="en-IN" b="1" dirty="0"/>
              <a:t>Email security:</a:t>
            </a:r>
            <a:r>
              <a:rPr lang="en-IN" dirty="0"/>
              <a:t> To safeguard the contents of emails.</a:t>
            </a:r>
          </a:p>
          <a:p>
            <a:pPr lvl="0" fontAlgn="base"/>
            <a:r>
              <a:rPr lang="en-IN" b="1" dirty="0"/>
              <a:t>Secure Messaging:</a:t>
            </a:r>
            <a:r>
              <a:rPr lang="en-IN" dirty="0"/>
              <a:t> To protect the privacy of discussions.</a:t>
            </a:r>
          </a:p>
          <a:p>
            <a:pPr lvl="0" fontAlgn="base"/>
            <a:r>
              <a:rPr lang="en-IN" b="1" dirty="0"/>
              <a:t>Data Storage:</a:t>
            </a:r>
            <a:r>
              <a:rPr lang="en-IN" dirty="0"/>
              <a:t> To prevent unwanted access to data that has been stored.</a:t>
            </a:r>
          </a:p>
          <a:p>
            <a:pPr fontAlgn="base"/>
            <a:endParaRPr lang="en-IN" dirty="0"/>
          </a:p>
          <a:p>
            <a:endParaRPr lang="en-IN" dirty="0"/>
          </a:p>
        </p:txBody>
      </p:sp>
    </p:spTree>
    <p:extLst>
      <p:ext uri="{BB962C8B-B14F-4D97-AF65-F5344CB8AC3E}">
        <p14:creationId xmlns:p14="http://schemas.microsoft.com/office/powerpoint/2010/main" val="242967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D54C-CCD7-5ACC-179F-F2FB7D8C1AE0}"/>
              </a:ext>
            </a:extLst>
          </p:cNvPr>
          <p:cNvSpPr>
            <a:spLocks noGrp="1"/>
          </p:cNvSpPr>
          <p:nvPr>
            <p:ph type="title"/>
          </p:nvPr>
        </p:nvSpPr>
        <p:spPr/>
        <p:txBody>
          <a:bodyPr/>
          <a:lstStyle/>
          <a:p>
            <a:r>
              <a:rPr lang="en-IN" b="1" dirty="0"/>
              <a:t>What is Decryption?</a:t>
            </a:r>
            <a:br>
              <a:rPr lang="en-IN" b="1" dirty="0"/>
            </a:br>
            <a:endParaRPr lang="en-IN" dirty="0"/>
          </a:p>
        </p:txBody>
      </p:sp>
      <p:sp>
        <p:nvSpPr>
          <p:cNvPr id="3" name="Content Placeholder 2">
            <a:extLst>
              <a:ext uri="{FF2B5EF4-FFF2-40B4-BE49-F238E27FC236}">
                <a16:creationId xmlns:a16="http://schemas.microsoft.com/office/drawing/2014/main" id="{AF5A9E55-8CF6-5197-91E5-418989A44F8B}"/>
              </a:ext>
            </a:extLst>
          </p:cNvPr>
          <p:cNvSpPr>
            <a:spLocks noGrp="1"/>
          </p:cNvSpPr>
          <p:nvPr>
            <p:ph idx="1"/>
          </p:nvPr>
        </p:nvSpPr>
        <p:spPr/>
        <p:txBody>
          <a:bodyPr>
            <a:normAutofit fontScale="85000" lnSpcReduction="20000"/>
          </a:bodyPr>
          <a:lstStyle/>
          <a:p>
            <a:pPr fontAlgn="base"/>
            <a:r>
              <a:rPr lang="en-IN" dirty="0"/>
              <a:t>To make encrypted data comprehensible again, it must first be decrypted and then put back into its original format. To access and utilize the protected information, authorized parties must follow this procedure.</a:t>
            </a:r>
          </a:p>
          <a:p>
            <a:pPr fontAlgn="base"/>
            <a:endParaRPr lang="en-IN" dirty="0"/>
          </a:p>
          <a:p>
            <a:pPr fontAlgn="base"/>
            <a:r>
              <a:rPr lang="en-IN" b="1" dirty="0"/>
              <a:t>Real-Life Examples of Encryption and Decryption</a:t>
            </a:r>
          </a:p>
          <a:p>
            <a:pPr fontAlgn="base"/>
            <a:endParaRPr lang="en-IN" b="1" dirty="0"/>
          </a:p>
          <a:p>
            <a:pPr lvl="0" fontAlgn="base"/>
            <a:r>
              <a:rPr lang="en-IN" b="1" dirty="0"/>
              <a:t>WhatsApp Messaging: It encrypts</a:t>
            </a:r>
            <a:r>
              <a:rPr lang="en-IN" dirty="0"/>
              <a:t> It encrypts communications from beginning to end so that only the sender and recipient can read them.</a:t>
            </a:r>
          </a:p>
          <a:p>
            <a:pPr lvl="0" fontAlgn="base"/>
            <a:r>
              <a:rPr lang="en-IN" b="1" dirty="0"/>
              <a:t>HTTPS websites:</a:t>
            </a:r>
            <a:r>
              <a:rPr lang="en-IN" dirty="0"/>
              <a:t> Encrypt user data to prevent third parties from intercepting it.</a:t>
            </a:r>
          </a:p>
          <a:p>
            <a:pPr lvl="0" fontAlgn="base"/>
            <a:r>
              <a:rPr lang="en-IN" b="1" dirty="0"/>
              <a:t>Encrypted Email Services:</a:t>
            </a:r>
            <a:r>
              <a:rPr lang="en-IN" dirty="0"/>
              <a:t> Email services that use encryption, like </a:t>
            </a:r>
            <a:r>
              <a:rPr lang="en-IN" dirty="0" err="1"/>
              <a:t>ProtonMail</a:t>
            </a:r>
            <a:r>
              <a:rPr lang="en-IN" dirty="0"/>
              <a:t>, protect email contents.</a:t>
            </a:r>
          </a:p>
          <a:p>
            <a:endParaRPr lang="en-IN" dirty="0"/>
          </a:p>
        </p:txBody>
      </p:sp>
    </p:spTree>
    <p:extLst>
      <p:ext uri="{BB962C8B-B14F-4D97-AF65-F5344CB8AC3E}">
        <p14:creationId xmlns:p14="http://schemas.microsoft.com/office/powerpoint/2010/main" val="214935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939DE-4FDC-99DC-6321-B772F67A8A6C}"/>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1B467CE-7B6C-69E7-31C7-0387541BC7D0}"/>
              </a:ext>
            </a:extLst>
          </p:cNvPr>
          <p:cNvGraphicFramePr>
            <a:graphicFrameLocks noGrp="1"/>
          </p:cNvGraphicFramePr>
          <p:nvPr>
            <p:ph idx="1"/>
            <p:extLst>
              <p:ext uri="{D42A27DB-BD31-4B8C-83A1-F6EECF244321}">
                <p14:modId xmlns:p14="http://schemas.microsoft.com/office/powerpoint/2010/main" val="3523348994"/>
              </p:ext>
            </p:extLst>
          </p:nvPr>
        </p:nvGraphicFramePr>
        <p:xfrm>
          <a:off x="186813" y="235975"/>
          <a:ext cx="11166988" cy="6704363"/>
        </p:xfrm>
        <a:graphic>
          <a:graphicData uri="http://schemas.openxmlformats.org/drawingml/2006/table">
            <a:tbl>
              <a:tblPr/>
              <a:tblGrid>
                <a:gridCol w="5583494">
                  <a:extLst>
                    <a:ext uri="{9D8B030D-6E8A-4147-A177-3AD203B41FA5}">
                      <a16:colId xmlns:a16="http://schemas.microsoft.com/office/drawing/2014/main" val="2282079227"/>
                    </a:ext>
                  </a:extLst>
                </a:gridCol>
                <a:gridCol w="5583494">
                  <a:extLst>
                    <a:ext uri="{9D8B030D-6E8A-4147-A177-3AD203B41FA5}">
                      <a16:colId xmlns:a16="http://schemas.microsoft.com/office/drawing/2014/main" val="37834343"/>
                    </a:ext>
                  </a:extLst>
                </a:gridCol>
              </a:tblGrid>
              <a:tr h="961912">
                <a:tc>
                  <a:txBody>
                    <a:bodyPr/>
                    <a:lstStyle/>
                    <a:p>
                      <a:pPr marL="0" marR="0" algn="ctr" fontAlgn="base">
                        <a:spcBef>
                          <a:spcPts val="1875"/>
                        </a:spcBef>
                        <a:spcAft>
                          <a:spcPts val="1875"/>
                        </a:spcAft>
                        <a:buNone/>
                      </a:pPr>
                      <a:r>
                        <a:rPr lang="en-IN" sz="2400" b="1" i="0" spc="12" dirty="0">
                          <a:solidFill>
                            <a:srgbClr val="273239"/>
                          </a:solidFill>
                          <a:effectLst/>
                          <a:latin typeface="Nunito" pitchFamily="2" charset="0"/>
                        </a:rPr>
                        <a:t>Encryption</a:t>
                      </a:r>
                      <a:endParaRPr lang="en-IN" sz="2400" b="1" i="0" spc="10" dirty="0">
                        <a:solidFill>
                          <a:srgbClr val="273239"/>
                        </a:solidFill>
                        <a:effectLst/>
                        <a:latin typeface="Nunito" pitchFamily="2" charset="0"/>
                      </a:endParaRP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marL="0" marR="0" algn="ctr" fontAlgn="base">
                        <a:spcBef>
                          <a:spcPts val="1875"/>
                        </a:spcBef>
                        <a:spcAft>
                          <a:spcPts val="1875"/>
                        </a:spcAft>
                        <a:buNone/>
                      </a:pPr>
                      <a:r>
                        <a:rPr lang="en-IN" sz="2400" b="1" i="0" spc="12">
                          <a:solidFill>
                            <a:srgbClr val="273239"/>
                          </a:solidFill>
                          <a:effectLst/>
                          <a:latin typeface="Nunito" pitchFamily="2" charset="0"/>
                        </a:rPr>
                        <a:t>Decryption</a:t>
                      </a:r>
                      <a:endParaRPr lang="en-IN" sz="2400" b="1" i="0" spc="10">
                        <a:solidFill>
                          <a:srgbClr val="273239"/>
                        </a:solidFill>
                        <a:effectLst/>
                        <a:latin typeface="Nunito" pitchFamily="2" charset="0"/>
                      </a:endParaRP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873591478"/>
                  </a:ext>
                </a:extLst>
              </a:tr>
              <a:tr h="961912">
                <a:tc>
                  <a:txBody>
                    <a:bodyPr/>
                    <a:lstStyle/>
                    <a:p>
                      <a:pPr marL="0" marR="0" algn="just" fontAlgn="ctr">
                        <a:spcBef>
                          <a:spcPts val="1875"/>
                        </a:spcBef>
                        <a:spcAft>
                          <a:spcPts val="1875"/>
                        </a:spcAft>
                        <a:buNone/>
                      </a:pPr>
                      <a:r>
                        <a:rPr lang="en-IN" sz="2000" b="0" i="0" u="sng" spc="12" dirty="0">
                          <a:solidFill>
                            <a:srgbClr val="357960"/>
                          </a:solidFill>
                          <a:effectLst/>
                          <a:latin typeface="Nunito" pitchFamily="2" charset="0"/>
                          <a:hlinkClick r:id="rId2"/>
                        </a:rPr>
                        <a:t>Encryption</a:t>
                      </a:r>
                      <a:r>
                        <a:rPr lang="en-IN" sz="2000" b="0" i="0" spc="12" dirty="0">
                          <a:solidFill>
                            <a:srgbClr val="273239"/>
                          </a:solidFill>
                          <a:effectLst/>
                          <a:latin typeface="Nunito" pitchFamily="2" charset="0"/>
                        </a:rPr>
                        <a:t> is the process of converting a normal message into a meaningless message.</a:t>
                      </a:r>
                      <a:endParaRPr lang="en-IN" sz="2000" b="0" i="0" spc="10" dirty="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While </a:t>
                      </a:r>
                      <a:r>
                        <a:rPr lang="en-IN" sz="2000" b="0" i="0" u="sng" spc="12">
                          <a:solidFill>
                            <a:srgbClr val="357960"/>
                          </a:solidFill>
                          <a:effectLst/>
                          <a:latin typeface="Nunito" pitchFamily="2" charset="0"/>
                          <a:hlinkClick r:id="rId3"/>
                        </a:rPr>
                        <a:t>decryption</a:t>
                      </a:r>
                      <a:r>
                        <a:rPr lang="en-IN" sz="2000" b="0" i="0" spc="12">
                          <a:solidFill>
                            <a:srgbClr val="273239"/>
                          </a:solidFill>
                          <a:effectLst/>
                          <a:latin typeface="Nunito" pitchFamily="2" charset="0"/>
                        </a:rPr>
                        <a:t> is the process of converting meaningless messages into their original form,.</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12256834"/>
                  </a:ext>
                </a:extLst>
              </a:tr>
              <a:tr h="961912">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Encryption is the process that takes place at the sender's end.</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While decryption is the process that takes place at the receiver's end,.</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391758880"/>
                  </a:ext>
                </a:extLst>
              </a:tr>
              <a:tr h="1563107">
                <a:tc>
                  <a:txBody>
                    <a:bodyPr/>
                    <a:lstStyle/>
                    <a:p>
                      <a:pPr marL="0" marR="0" algn="just" fontAlgn="ctr">
                        <a:spcBef>
                          <a:spcPts val="1875"/>
                        </a:spcBef>
                        <a:spcAft>
                          <a:spcPts val="1875"/>
                        </a:spcAft>
                        <a:buNone/>
                      </a:pPr>
                      <a:r>
                        <a:rPr lang="en-IN" sz="2000" b="0" i="0" spc="12" dirty="0">
                          <a:solidFill>
                            <a:srgbClr val="273239"/>
                          </a:solidFill>
                          <a:effectLst/>
                          <a:latin typeface="Nunito" pitchFamily="2" charset="0"/>
                        </a:rPr>
                        <a:t>Its major task is to convert the plain text into cipher text.</a:t>
                      </a:r>
                      <a:endParaRPr lang="en-IN" sz="2000" b="0" i="0" spc="10" dirty="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While its main task is to convert the cipher text into plain text,.</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45052319"/>
                  </a:ext>
                </a:extLst>
              </a:tr>
              <a:tr h="1062110">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Any message can be encrypted with either a secret key or a public</a:t>
                      </a:r>
                      <a:r>
                        <a:rPr lang="en-IN" sz="2000" b="0" i="0" u="sng" spc="12">
                          <a:solidFill>
                            <a:srgbClr val="357960"/>
                          </a:solidFill>
                          <a:effectLst/>
                          <a:latin typeface="Nunito" pitchFamily="2" charset="0"/>
                          <a:hlinkClick r:id="rId4"/>
                        </a:rPr>
                        <a:t> key</a:t>
                      </a:r>
                      <a:r>
                        <a:rPr lang="en-IN" sz="2000" b="0" i="0" spc="12">
                          <a:solidFill>
                            <a:srgbClr val="273239"/>
                          </a:solidFill>
                          <a:effectLst/>
                          <a:latin typeface="Nunito" pitchFamily="2" charset="0"/>
                        </a:rPr>
                        <a:t>.</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Whereas the encrypted message can be decrypted with either a secret key or a private</a:t>
                      </a:r>
                      <a:r>
                        <a:rPr lang="en-IN" sz="2000" b="0" i="0" u="sng" spc="12">
                          <a:solidFill>
                            <a:srgbClr val="357960"/>
                          </a:solidFill>
                          <a:effectLst/>
                          <a:latin typeface="Nunito" pitchFamily="2" charset="0"/>
                          <a:hlinkClick r:id="rId4"/>
                        </a:rPr>
                        <a:t> key,</a:t>
                      </a:r>
                      <a:r>
                        <a:rPr lang="en-IN" sz="2000" b="0" i="0" spc="12">
                          <a:solidFill>
                            <a:srgbClr val="273239"/>
                          </a:solidFill>
                          <a:effectLst/>
                          <a:latin typeface="Nunito" pitchFamily="2" charset="0"/>
                        </a:rPr>
                        <a:t>.</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80219583"/>
                  </a:ext>
                </a:extLst>
              </a:tr>
              <a:tr h="1062110">
                <a:tc>
                  <a:txBody>
                    <a:bodyPr/>
                    <a:lstStyle/>
                    <a:p>
                      <a:pPr marL="0" marR="0" algn="just" fontAlgn="ctr">
                        <a:spcBef>
                          <a:spcPts val="1875"/>
                        </a:spcBef>
                        <a:spcAft>
                          <a:spcPts val="1875"/>
                        </a:spcAft>
                        <a:buNone/>
                      </a:pPr>
                      <a:r>
                        <a:rPr lang="en-IN" sz="2000" b="0" i="0" spc="12">
                          <a:solidFill>
                            <a:srgbClr val="273239"/>
                          </a:solidFill>
                          <a:effectLst/>
                          <a:latin typeface="Nunito" pitchFamily="2" charset="0"/>
                        </a:rPr>
                        <a:t>In the encryption process, the sender sends the data to the receiver after encrypting it.</a:t>
                      </a:r>
                      <a:endParaRPr lang="en-IN" sz="2000" b="0" i="0" spc="1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marL="0" marR="0" algn="just" fontAlgn="ctr">
                        <a:spcBef>
                          <a:spcPts val="1875"/>
                        </a:spcBef>
                        <a:spcAft>
                          <a:spcPts val="1875"/>
                        </a:spcAft>
                        <a:buNone/>
                      </a:pPr>
                      <a:r>
                        <a:rPr lang="en-IN" sz="2000" b="0" i="0" spc="12" dirty="0">
                          <a:solidFill>
                            <a:srgbClr val="273239"/>
                          </a:solidFill>
                          <a:effectLst/>
                          <a:latin typeface="Nunito" pitchFamily="2" charset="0"/>
                        </a:rPr>
                        <a:t>Whereas in the decryption process, the receiver receives the information (cipher text) and converts it into plain text.</a:t>
                      </a:r>
                      <a:endParaRPr lang="en-IN" sz="2000" b="0" i="0" spc="10" dirty="0">
                        <a:solidFill>
                          <a:srgbClr val="273239"/>
                        </a:solidFill>
                        <a:effectLst/>
                        <a:latin typeface="Nunito" pitchFamily="2" charset="0"/>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20560266"/>
                  </a:ext>
                </a:extLst>
              </a:tr>
            </a:tbl>
          </a:graphicData>
        </a:graphic>
      </p:graphicFrame>
    </p:spTree>
    <p:extLst>
      <p:ext uri="{BB962C8B-B14F-4D97-AF65-F5344CB8AC3E}">
        <p14:creationId xmlns:p14="http://schemas.microsoft.com/office/powerpoint/2010/main" val="3617490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D671C-FDC5-4C6B-F3E4-D89725DE0E86}"/>
              </a:ext>
            </a:extLst>
          </p:cNvPr>
          <p:cNvSpPr>
            <a:spLocks noGrp="1"/>
          </p:cNvSpPr>
          <p:nvPr>
            <p:ph type="title"/>
          </p:nvPr>
        </p:nvSpPr>
        <p:spPr/>
        <p:txBody>
          <a:bodyPr>
            <a:normAutofit fontScale="90000"/>
          </a:bodyPr>
          <a:lstStyle/>
          <a:p>
            <a:r>
              <a:rPr lang="en-IN" b="1" dirty="0"/>
              <a:t>Difference Between Symmetric and Asymmetric Key Encryption</a:t>
            </a:r>
            <a:br>
              <a:rPr lang="en-IN" b="1" dirty="0"/>
            </a:br>
            <a:endParaRPr lang="en-IN" dirty="0"/>
          </a:p>
        </p:txBody>
      </p:sp>
      <p:pic>
        <p:nvPicPr>
          <p:cNvPr id="5" name="Content Placeholder 4">
            <a:extLst>
              <a:ext uri="{FF2B5EF4-FFF2-40B4-BE49-F238E27FC236}">
                <a16:creationId xmlns:a16="http://schemas.microsoft.com/office/drawing/2014/main" id="{6F43A8CC-B2D0-B98D-2C44-A290B8EB1851}"/>
              </a:ext>
            </a:extLst>
          </p:cNvPr>
          <p:cNvPicPr>
            <a:picLocks noGrp="1" noChangeAspect="1"/>
          </p:cNvPicPr>
          <p:nvPr>
            <p:ph idx="1"/>
          </p:nvPr>
        </p:nvPicPr>
        <p:blipFill>
          <a:blip r:embed="rId2"/>
          <a:stretch>
            <a:fillRect/>
          </a:stretch>
        </p:blipFill>
        <p:spPr>
          <a:xfrm>
            <a:off x="580103" y="1268361"/>
            <a:ext cx="10441858" cy="4836235"/>
          </a:xfrm>
          <a:prstGeom prst="rect">
            <a:avLst/>
          </a:prstGeom>
        </p:spPr>
      </p:pic>
    </p:spTree>
    <p:extLst>
      <p:ext uri="{BB962C8B-B14F-4D97-AF65-F5344CB8AC3E}">
        <p14:creationId xmlns:p14="http://schemas.microsoft.com/office/powerpoint/2010/main" val="1312749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DE382-F682-C07D-7DFA-2F2D56DE41F6}"/>
              </a:ext>
            </a:extLst>
          </p:cNvPr>
          <p:cNvSpPr>
            <a:spLocks noGrp="1"/>
          </p:cNvSpPr>
          <p:nvPr>
            <p:ph type="title"/>
          </p:nvPr>
        </p:nvSpPr>
        <p:spPr/>
        <p:txBody>
          <a:bodyPr/>
          <a:lstStyle/>
          <a:p>
            <a:r>
              <a:rPr lang="en-IN" b="1" dirty="0"/>
              <a:t>Asymmetric Key Encryption</a:t>
            </a:r>
            <a:br>
              <a:rPr lang="en-IN" b="1" dirty="0"/>
            </a:br>
            <a:endParaRPr lang="en-IN" dirty="0"/>
          </a:p>
        </p:txBody>
      </p:sp>
      <p:pic>
        <p:nvPicPr>
          <p:cNvPr id="5" name="Content Placeholder 4">
            <a:extLst>
              <a:ext uri="{FF2B5EF4-FFF2-40B4-BE49-F238E27FC236}">
                <a16:creationId xmlns:a16="http://schemas.microsoft.com/office/drawing/2014/main" id="{8DBB00D7-0540-E2FF-434A-F9BBBC548D9E}"/>
              </a:ext>
            </a:extLst>
          </p:cNvPr>
          <p:cNvPicPr>
            <a:picLocks noGrp="1" noChangeAspect="1"/>
          </p:cNvPicPr>
          <p:nvPr>
            <p:ph idx="1"/>
          </p:nvPr>
        </p:nvPicPr>
        <p:blipFill>
          <a:blip r:embed="rId2"/>
          <a:stretch>
            <a:fillRect/>
          </a:stretch>
        </p:blipFill>
        <p:spPr>
          <a:xfrm>
            <a:off x="838200" y="2126611"/>
            <a:ext cx="10515600" cy="3749365"/>
          </a:xfrm>
          <a:prstGeom prst="rect">
            <a:avLst/>
          </a:prstGeom>
        </p:spPr>
      </p:pic>
    </p:spTree>
    <p:extLst>
      <p:ext uri="{BB962C8B-B14F-4D97-AF65-F5344CB8AC3E}">
        <p14:creationId xmlns:p14="http://schemas.microsoft.com/office/powerpoint/2010/main" val="2539614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FD58-C31A-410A-083C-4CDFEDB7493A}"/>
              </a:ext>
            </a:extLst>
          </p:cNvPr>
          <p:cNvSpPr>
            <a:spLocks noGrp="1"/>
          </p:cNvSpPr>
          <p:nvPr>
            <p:ph type="title"/>
          </p:nvPr>
        </p:nvSpPr>
        <p:spPr/>
        <p:txBody>
          <a:bodyPr/>
          <a:lstStyle/>
          <a:p>
            <a:r>
              <a:rPr lang="en-IN" b="1" dirty="0"/>
              <a:t>Symmetric Key Cryptography — The Logic</a:t>
            </a:r>
            <a:br>
              <a:rPr lang="en-IN" dirty="0"/>
            </a:br>
            <a:endParaRPr lang="en-IN" dirty="0"/>
          </a:p>
        </p:txBody>
      </p:sp>
      <p:sp>
        <p:nvSpPr>
          <p:cNvPr id="3" name="Content Placeholder 2">
            <a:extLst>
              <a:ext uri="{FF2B5EF4-FFF2-40B4-BE49-F238E27FC236}">
                <a16:creationId xmlns:a16="http://schemas.microsoft.com/office/drawing/2014/main" id="{95575937-8CEE-186A-D240-8B7C6EEBC1E5}"/>
              </a:ext>
            </a:extLst>
          </p:cNvPr>
          <p:cNvSpPr>
            <a:spLocks noGrp="1"/>
          </p:cNvSpPr>
          <p:nvPr>
            <p:ph idx="1"/>
          </p:nvPr>
        </p:nvSpPr>
        <p:spPr/>
        <p:txBody>
          <a:bodyPr>
            <a:normAutofit fontScale="77500" lnSpcReduction="20000"/>
          </a:bodyPr>
          <a:lstStyle/>
          <a:p>
            <a:pPr lvl="0"/>
            <a:r>
              <a:rPr lang="en-IN" b="1" dirty="0"/>
              <a:t>Core idea:</a:t>
            </a:r>
            <a:r>
              <a:rPr lang="en-IN" dirty="0"/>
              <a:t> One single shared secret key performs both encryption and decryption</a:t>
            </a:r>
          </a:p>
          <a:p>
            <a:pPr lvl="0"/>
            <a:r>
              <a:rPr lang="en-IN" b="1" dirty="0"/>
              <a:t>Mathematical logic:</a:t>
            </a:r>
            <a:r>
              <a:rPr lang="en-IN" dirty="0"/>
              <a:t> Uses reversible operations (substitution, permutation, XOR) that can be undone with the </a:t>
            </a:r>
            <a:r>
              <a:rPr lang="en-IN" i="1" dirty="0"/>
              <a:t>same</a:t>
            </a:r>
            <a:r>
              <a:rPr lang="en-IN" dirty="0"/>
              <a:t> key </a:t>
            </a:r>
          </a:p>
          <a:p>
            <a:pPr lvl="1"/>
            <a:r>
              <a:rPr lang="en-IN" dirty="0"/>
              <a:t>Encryption: Ciphertext = E(Plaintext, Key)</a:t>
            </a:r>
          </a:p>
          <a:p>
            <a:pPr lvl="1"/>
            <a:r>
              <a:rPr lang="en-IN" dirty="0"/>
              <a:t>Decryption: Plaintext = D(Ciphertext, Key) — same Key used both ways</a:t>
            </a:r>
          </a:p>
          <a:p>
            <a:pPr lvl="1"/>
            <a:endParaRPr lang="en-IN" dirty="0"/>
          </a:p>
          <a:p>
            <a:pPr marL="0" indent="0">
              <a:buNone/>
            </a:pPr>
            <a:r>
              <a:rPr lang="en-IN" b="1" dirty="0"/>
              <a:t>Symmetric Key — Real-Life Examples</a:t>
            </a:r>
            <a:endParaRPr lang="en-IN" dirty="0"/>
          </a:p>
          <a:p>
            <a:pPr lvl="0"/>
            <a:r>
              <a:rPr lang="en-IN" b="1" dirty="0"/>
              <a:t>WhatsApp/Signal message encryption:</a:t>
            </a:r>
            <a:r>
              <a:rPr lang="en-IN" dirty="0"/>
              <a:t> Once a chat session is established, actual messages are encrypted with a symmetric key (fast enough for real-time chat)</a:t>
            </a:r>
          </a:p>
          <a:p>
            <a:pPr lvl="0"/>
            <a:r>
              <a:rPr lang="en-IN" b="1" dirty="0"/>
              <a:t>Wi-Fi security :</a:t>
            </a:r>
            <a:r>
              <a:rPr lang="en-IN" dirty="0"/>
              <a:t>Your router and devices share a pre-agreed password-derived key to encrypt all traffic on the network</a:t>
            </a:r>
          </a:p>
          <a:p>
            <a:pPr lvl="0"/>
            <a:r>
              <a:rPr lang="en-IN" b="1" dirty="0"/>
              <a:t>File encryption (BitLocker):</a:t>
            </a:r>
            <a:r>
              <a:rPr lang="en-IN" dirty="0"/>
              <a:t> You set one password/key to lock and unlock your hard drive — same key both ways</a:t>
            </a:r>
          </a:p>
          <a:p>
            <a:pPr lvl="1"/>
            <a:endParaRPr lang="en-IN" dirty="0"/>
          </a:p>
          <a:p>
            <a:endParaRPr lang="en-IN" dirty="0"/>
          </a:p>
        </p:txBody>
      </p:sp>
    </p:spTree>
    <p:extLst>
      <p:ext uri="{BB962C8B-B14F-4D97-AF65-F5344CB8AC3E}">
        <p14:creationId xmlns:p14="http://schemas.microsoft.com/office/powerpoint/2010/main" val="1099028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3827-412E-130D-501C-5D1C674E1B3B}"/>
              </a:ext>
            </a:extLst>
          </p:cNvPr>
          <p:cNvSpPr>
            <a:spLocks noGrp="1"/>
          </p:cNvSpPr>
          <p:nvPr>
            <p:ph type="title"/>
          </p:nvPr>
        </p:nvSpPr>
        <p:spPr/>
        <p:txBody>
          <a:bodyPr/>
          <a:lstStyle/>
          <a:p>
            <a:r>
              <a:rPr lang="en-IN" b="1" dirty="0"/>
              <a:t>Asymmetric Key Cryptography — The Logic</a:t>
            </a:r>
            <a:br>
              <a:rPr lang="en-IN" dirty="0"/>
            </a:br>
            <a:endParaRPr lang="en-IN" dirty="0"/>
          </a:p>
        </p:txBody>
      </p:sp>
      <p:sp>
        <p:nvSpPr>
          <p:cNvPr id="3" name="Content Placeholder 2">
            <a:extLst>
              <a:ext uri="{FF2B5EF4-FFF2-40B4-BE49-F238E27FC236}">
                <a16:creationId xmlns:a16="http://schemas.microsoft.com/office/drawing/2014/main" id="{481942FA-CE7F-4F58-A075-64CF7DD14B84}"/>
              </a:ext>
            </a:extLst>
          </p:cNvPr>
          <p:cNvSpPr>
            <a:spLocks noGrp="1"/>
          </p:cNvSpPr>
          <p:nvPr>
            <p:ph idx="1"/>
          </p:nvPr>
        </p:nvSpPr>
        <p:spPr/>
        <p:txBody>
          <a:bodyPr>
            <a:normAutofit fontScale="92500" lnSpcReduction="20000"/>
          </a:bodyPr>
          <a:lstStyle/>
          <a:p>
            <a:pPr lvl="0"/>
            <a:r>
              <a:rPr lang="en-IN" b="1" dirty="0"/>
              <a:t>Core idea:</a:t>
            </a:r>
            <a:r>
              <a:rPr lang="en-IN" dirty="0"/>
              <a:t> Uses a mathematically linked </a:t>
            </a:r>
            <a:r>
              <a:rPr lang="en-IN" b="1" i="1" dirty="0"/>
              <a:t>key pair</a:t>
            </a:r>
            <a:r>
              <a:rPr lang="en-IN" b="1" dirty="0"/>
              <a:t> </a:t>
            </a:r>
            <a:r>
              <a:rPr lang="en-IN" dirty="0"/>
              <a:t>— a public key and a private key — where one encrypts and only the other can decrypt</a:t>
            </a:r>
          </a:p>
          <a:p>
            <a:pPr lvl="0"/>
            <a:r>
              <a:rPr lang="en-IN" b="1" dirty="0"/>
              <a:t>Mathematical logic:</a:t>
            </a:r>
            <a:r>
              <a:rPr lang="en-IN" dirty="0"/>
              <a:t> Built on </a:t>
            </a:r>
            <a:r>
              <a:rPr lang="en-IN" b="1" dirty="0"/>
              <a:t>one-way (trapdoor) functions</a:t>
            </a:r>
            <a:r>
              <a:rPr lang="en-IN" dirty="0"/>
              <a:t> — easy to compute in one direction, practically impossible to reverse without a secret "trapdoor" </a:t>
            </a:r>
          </a:p>
          <a:p>
            <a:pPr lvl="1"/>
            <a:r>
              <a:rPr lang="en-IN" dirty="0"/>
              <a:t>Example : Multiplying two large primes is easy; factoring their product back into the original primes is computationally infeasible</a:t>
            </a:r>
          </a:p>
          <a:p>
            <a:pPr lvl="0"/>
            <a:r>
              <a:rPr lang="en-IN" b="1" dirty="0"/>
              <a:t>How the pair works:</a:t>
            </a:r>
            <a:r>
              <a:rPr lang="en-IN" dirty="0"/>
              <a:t> </a:t>
            </a:r>
          </a:p>
          <a:p>
            <a:pPr lvl="1"/>
            <a:r>
              <a:rPr lang="en-IN" dirty="0"/>
              <a:t>Public key → derived from the private key using a trapdoor function, safe to share openly</a:t>
            </a:r>
          </a:p>
          <a:p>
            <a:pPr lvl="1"/>
            <a:r>
              <a:rPr lang="en-IN" dirty="0"/>
              <a:t>Private key → kept secret, mathematically required to reverse what the public key encrypted</a:t>
            </a:r>
          </a:p>
          <a:p>
            <a:pPr lvl="1"/>
            <a:r>
              <a:rPr lang="en-IN" dirty="0"/>
              <a:t>Ciphertext = E(Plaintext, </a:t>
            </a:r>
            <a:r>
              <a:rPr lang="en-IN" dirty="0" err="1"/>
              <a:t>PublicKey</a:t>
            </a:r>
            <a:r>
              <a:rPr lang="en-IN" dirty="0"/>
              <a:t>) → Plaintext = D(Ciphertext, </a:t>
            </a:r>
            <a:r>
              <a:rPr lang="en-IN" dirty="0" err="1"/>
              <a:t>PrivateKey</a:t>
            </a:r>
            <a:r>
              <a:rPr lang="en-IN" dirty="0"/>
              <a:t>)</a:t>
            </a:r>
          </a:p>
          <a:p>
            <a:endParaRPr lang="en-IN" dirty="0"/>
          </a:p>
        </p:txBody>
      </p:sp>
    </p:spTree>
    <p:extLst>
      <p:ext uri="{BB962C8B-B14F-4D97-AF65-F5344CB8AC3E}">
        <p14:creationId xmlns:p14="http://schemas.microsoft.com/office/powerpoint/2010/main" val="2125849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A2D4-CCA4-B516-C7EF-FC4A79B75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C6035-9C61-3A33-86D4-A5260A438B3D}"/>
              </a:ext>
            </a:extLst>
          </p:cNvPr>
          <p:cNvSpPr>
            <a:spLocks noGrp="1"/>
          </p:cNvSpPr>
          <p:nvPr>
            <p:ph type="title"/>
          </p:nvPr>
        </p:nvSpPr>
        <p:spPr/>
        <p:txBody>
          <a:bodyPr/>
          <a:lstStyle/>
          <a:p>
            <a:r>
              <a:rPr lang="en-IN" b="1" dirty="0"/>
              <a:t>Asymmetric Key Cryptography — The Logic</a:t>
            </a:r>
            <a:br>
              <a:rPr lang="en-IN" dirty="0"/>
            </a:br>
            <a:endParaRPr lang="en-IN" dirty="0"/>
          </a:p>
        </p:txBody>
      </p:sp>
      <p:sp>
        <p:nvSpPr>
          <p:cNvPr id="3" name="Content Placeholder 2">
            <a:extLst>
              <a:ext uri="{FF2B5EF4-FFF2-40B4-BE49-F238E27FC236}">
                <a16:creationId xmlns:a16="http://schemas.microsoft.com/office/drawing/2014/main" id="{9079A2B5-1064-CBA3-5890-B617A8F5E950}"/>
              </a:ext>
            </a:extLst>
          </p:cNvPr>
          <p:cNvSpPr>
            <a:spLocks noGrp="1"/>
          </p:cNvSpPr>
          <p:nvPr>
            <p:ph idx="1"/>
          </p:nvPr>
        </p:nvSpPr>
        <p:spPr/>
        <p:txBody>
          <a:bodyPr>
            <a:normAutofit/>
          </a:bodyPr>
          <a:lstStyle/>
          <a:p>
            <a:r>
              <a:rPr lang="en-IN" b="1" dirty="0"/>
              <a:t>Asymmetric Key — Real-Life Examples</a:t>
            </a:r>
            <a:endParaRPr lang="en-IN" dirty="0"/>
          </a:p>
          <a:p>
            <a:pPr lvl="0"/>
            <a:r>
              <a:rPr lang="en-IN" b="1" dirty="0"/>
              <a:t>HTTPS/SSL padlock in your browser</a:t>
            </a:r>
            <a:endParaRPr lang="en-IN" dirty="0"/>
          </a:p>
          <a:p>
            <a:r>
              <a:rPr lang="en-IN" dirty="0"/>
              <a:t>Sending someone your bank details securely</a:t>
            </a:r>
          </a:p>
          <a:p>
            <a:r>
              <a:rPr lang="en-IN" dirty="0"/>
              <a:t>Digital signatures on documents (Adobe Sign, </a:t>
            </a:r>
            <a:r>
              <a:rPr lang="en-IN" dirty="0" err="1"/>
              <a:t>DocuSign</a:t>
            </a:r>
            <a:r>
              <a:rPr lang="en-IN" dirty="0"/>
              <a:t>)</a:t>
            </a:r>
          </a:p>
          <a:p>
            <a:r>
              <a:rPr lang="en-IN" dirty="0"/>
              <a:t>Cryptocurrency wallets (Bitcoin, Ethereum)</a:t>
            </a:r>
          </a:p>
        </p:txBody>
      </p:sp>
    </p:spTree>
    <p:extLst>
      <p:ext uri="{BB962C8B-B14F-4D97-AF65-F5344CB8AC3E}">
        <p14:creationId xmlns:p14="http://schemas.microsoft.com/office/powerpoint/2010/main" val="2470048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72A8-D74E-E533-309D-EEB1F1DEAD0C}"/>
              </a:ext>
            </a:extLst>
          </p:cNvPr>
          <p:cNvSpPr>
            <a:spLocks noGrp="1"/>
          </p:cNvSpPr>
          <p:nvPr>
            <p:ph type="title"/>
          </p:nvPr>
        </p:nvSpPr>
        <p:spPr/>
        <p:txBody>
          <a:bodyPr/>
          <a:lstStyle/>
          <a:p>
            <a:r>
              <a:rPr lang="en-US" b="1" dirty="0"/>
              <a:t>RSA </a:t>
            </a:r>
            <a:r>
              <a:rPr lang="en-IN" b="1" dirty="0"/>
              <a:t> Asymmetric cryptographic algorithm</a:t>
            </a:r>
          </a:p>
        </p:txBody>
      </p:sp>
      <p:sp>
        <p:nvSpPr>
          <p:cNvPr id="3" name="Content Placeholder 2">
            <a:extLst>
              <a:ext uri="{FF2B5EF4-FFF2-40B4-BE49-F238E27FC236}">
                <a16:creationId xmlns:a16="http://schemas.microsoft.com/office/drawing/2014/main" id="{061A766E-B2BA-D4D1-CB3A-372D3A164827}"/>
              </a:ext>
            </a:extLst>
          </p:cNvPr>
          <p:cNvSpPr>
            <a:spLocks noGrp="1"/>
          </p:cNvSpPr>
          <p:nvPr>
            <p:ph idx="1"/>
          </p:nvPr>
        </p:nvSpPr>
        <p:spPr/>
        <p:txBody>
          <a:bodyPr>
            <a:normAutofit fontScale="92500" lnSpcReduction="10000"/>
          </a:bodyPr>
          <a:lstStyle/>
          <a:p>
            <a:r>
              <a:rPr lang="en-IN" dirty="0"/>
              <a:t>RSA stands for </a:t>
            </a:r>
            <a:r>
              <a:rPr lang="en-IN" b="1" dirty="0"/>
              <a:t>Rivest, Shamir, and Adleman</a:t>
            </a:r>
            <a:r>
              <a:rPr lang="en-IN" dirty="0"/>
              <a:t>. It is a widely used public-key encryption and digital signature algorithm named after its </a:t>
            </a:r>
            <a:r>
              <a:rPr lang="en-IN" dirty="0" err="1"/>
              <a:t>t</a:t>
            </a:r>
            <a:r>
              <a:rPr lang="en-IN" b="1" dirty="0" err="1"/>
              <a:t>Key</a:t>
            </a:r>
            <a:r>
              <a:rPr lang="en-IN" b="1" dirty="0"/>
              <a:t> Facts About RSA</a:t>
            </a:r>
          </a:p>
          <a:p>
            <a:pPr lvl="0"/>
            <a:r>
              <a:rPr lang="en-IN" b="1" dirty="0"/>
              <a:t>Inventors:</a:t>
            </a:r>
            <a:r>
              <a:rPr lang="en-IN" dirty="0"/>
              <a:t> Ron Rivest, Adi Shamir, and Leonard Adleman.</a:t>
            </a:r>
          </a:p>
          <a:p>
            <a:pPr lvl="0"/>
            <a:r>
              <a:rPr lang="en-IN" b="1" dirty="0"/>
              <a:t>Type:</a:t>
            </a:r>
            <a:r>
              <a:rPr lang="en-IN" dirty="0"/>
              <a:t> Asymmetric cryptography (uses a public key to encrypt and a private key to decrypt).</a:t>
            </a:r>
          </a:p>
          <a:p>
            <a:pPr lvl="0"/>
            <a:r>
              <a:rPr lang="en-IN" b="1" dirty="0"/>
              <a:t>Use Case:</a:t>
            </a:r>
            <a:r>
              <a:rPr lang="en-IN" dirty="0"/>
              <a:t> Secure data transmission, digital signatures, and web traffic safety (TLS/SSL).</a:t>
            </a:r>
          </a:p>
          <a:p>
            <a:pPr lvl="0"/>
            <a:r>
              <a:rPr lang="en-IN" b="1" dirty="0"/>
              <a:t>Core Principle:</a:t>
            </a:r>
            <a:r>
              <a:rPr lang="en-IN" dirty="0"/>
              <a:t> Relies on the extreme difficulty of factoring the product of two very large prime numbers</a:t>
            </a:r>
          </a:p>
          <a:p>
            <a:r>
              <a:rPr lang="en-IN" dirty="0" err="1"/>
              <a:t>hree</a:t>
            </a:r>
            <a:r>
              <a:rPr lang="en-IN" dirty="0"/>
              <a:t> inventors who published it in 1977.</a:t>
            </a:r>
          </a:p>
        </p:txBody>
      </p:sp>
    </p:spTree>
    <p:extLst>
      <p:ext uri="{BB962C8B-B14F-4D97-AF65-F5344CB8AC3E}">
        <p14:creationId xmlns:p14="http://schemas.microsoft.com/office/powerpoint/2010/main" val="2958425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45A42-9A97-F36E-1361-32098D0B1BC7}"/>
              </a:ext>
            </a:extLst>
          </p:cNvPr>
          <p:cNvSpPr>
            <a:spLocks noGrp="1"/>
          </p:cNvSpPr>
          <p:nvPr>
            <p:ph type="title"/>
          </p:nvPr>
        </p:nvSpPr>
        <p:spPr/>
        <p:txBody>
          <a:bodyPr/>
          <a:lstStyle/>
          <a:p>
            <a:r>
              <a:rPr lang="en-IN" b="1" dirty="0"/>
              <a:t>The 5 Simple Steps (RSA Key Creation)</a:t>
            </a:r>
            <a:br>
              <a:rPr lang="en-IN" b="1" dirty="0"/>
            </a:br>
            <a:endParaRPr lang="en-IN" dirty="0"/>
          </a:p>
        </p:txBody>
      </p:sp>
      <p:sp>
        <p:nvSpPr>
          <p:cNvPr id="3" name="Content Placeholder 2">
            <a:extLst>
              <a:ext uri="{FF2B5EF4-FFF2-40B4-BE49-F238E27FC236}">
                <a16:creationId xmlns:a16="http://schemas.microsoft.com/office/drawing/2014/main" id="{CFAEAE74-1885-08C0-1FE4-7496FAE1466F}"/>
              </a:ext>
            </a:extLst>
          </p:cNvPr>
          <p:cNvSpPr>
            <a:spLocks noGrp="1"/>
          </p:cNvSpPr>
          <p:nvPr>
            <p:ph idx="1"/>
          </p:nvPr>
        </p:nvSpPr>
        <p:spPr/>
        <p:txBody>
          <a:bodyPr>
            <a:normAutofit fontScale="92500" lnSpcReduction="20000"/>
          </a:bodyPr>
          <a:lstStyle/>
          <a:p>
            <a:pPr marL="0" indent="0">
              <a:buNone/>
            </a:pPr>
            <a:r>
              <a:rPr lang="en-IN" b="1" dirty="0"/>
              <a:t>Step 1: Pick 2 secret prime numbers</a:t>
            </a:r>
            <a:endParaRPr lang="en-IN" dirty="0"/>
          </a:p>
          <a:p>
            <a:r>
              <a:rPr lang="en-IN" dirty="0"/>
              <a:t>p = 7</a:t>
            </a:r>
          </a:p>
          <a:p>
            <a:r>
              <a:rPr lang="en-IN" dirty="0"/>
              <a:t>q = 13</a:t>
            </a:r>
          </a:p>
          <a:p>
            <a:endParaRPr lang="en-IN" dirty="0"/>
          </a:p>
          <a:p>
            <a:pPr marL="0" indent="0">
              <a:buNone/>
            </a:pPr>
            <a:r>
              <a:rPr lang="en-IN" b="1" dirty="0"/>
              <a:t>Step 2: Multiply them → this becomes your Public Key part</a:t>
            </a:r>
            <a:endParaRPr lang="en-IN" dirty="0"/>
          </a:p>
          <a:p>
            <a:r>
              <a:rPr lang="en-IN" dirty="0"/>
              <a:t>n = 7 × 13 = 91</a:t>
            </a:r>
          </a:p>
          <a:p>
            <a:endParaRPr lang="en-IN" dirty="0"/>
          </a:p>
          <a:p>
            <a:pPr marL="0" indent="0">
              <a:buNone/>
            </a:pPr>
            <a:r>
              <a:rPr lang="en-IN" b="1" dirty="0"/>
              <a:t>Step 3: Do a small calculation on p and q → SECRET number</a:t>
            </a:r>
            <a:endParaRPr lang="en-IN" dirty="0"/>
          </a:p>
          <a:p>
            <a:r>
              <a:rPr lang="en-IN" dirty="0"/>
              <a:t>φ = (7−1) × (13−1) = 6 × 12 = 72</a:t>
            </a:r>
          </a:p>
          <a:p>
            <a:r>
              <a:rPr lang="en-IN" i="1" dirty="0"/>
              <a:t>(Only YOU can do this step, because only you know 7 and 13 separately)</a:t>
            </a:r>
            <a:endParaRPr lang="en-IN" dirty="0"/>
          </a:p>
          <a:p>
            <a:endParaRPr lang="en-IN" dirty="0"/>
          </a:p>
        </p:txBody>
      </p:sp>
    </p:spTree>
    <p:extLst>
      <p:ext uri="{BB962C8B-B14F-4D97-AF65-F5344CB8AC3E}">
        <p14:creationId xmlns:p14="http://schemas.microsoft.com/office/powerpoint/2010/main" val="1472919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FD0D9-E34A-A272-AA5D-614E113430B3}"/>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D5F84B39-3D24-73EB-2BC7-B0484AD84E95}"/>
              </a:ext>
            </a:extLst>
          </p:cNvPr>
          <p:cNvSpPr>
            <a:spLocks noGrp="1"/>
          </p:cNvSpPr>
          <p:nvPr>
            <p:ph idx="1"/>
          </p:nvPr>
        </p:nvSpPr>
        <p:spPr/>
        <p:txBody>
          <a:bodyPr/>
          <a:lstStyle/>
          <a:p>
            <a:pPr marL="0" indent="0">
              <a:buNone/>
            </a:pPr>
            <a:r>
              <a:rPr lang="en-IN" b="1" dirty="0"/>
              <a:t>Step 4: Pick a small public number e</a:t>
            </a:r>
            <a:endParaRPr lang="en-IN" dirty="0"/>
          </a:p>
          <a:p>
            <a:r>
              <a:rPr lang="en-IN" dirty="0"/>
              <a:t>e = 5</a:t>
            </a:r>
          </a:p>
          <a:p>
            <a:r>
              <a:rPr lang="en-IN" i="1" dirty="0"/>
              <a:t>(Any number that doesn't divide evenly into 72)</a:t>
            </a:r>
            <a:endParaRPr lang="en-IN" dirty="0"/>
          </a:p>
          <a:p>
            <a:r>
              <a:rPr lang="en-IN" dirty="0"/>
              <a:t>→ </a:t>
            </a:r>
            <a:r>
              <a:rPr lang="en-IN" b="1" dirty="0"/>
              <a:t>PUBLIC KEY = (91, 5)</a:t>
            </a:r>
            <a:r>
              <a:rPr lang="en-IN" dirty="0"/>
              <a:t> — share this with everyone</a:t>
            </a:r>
          </a:p>
          <a:p>
            <a:pPr marL="0" indent="0">
              <a:buNone/>
            </a:pPr>
            <a:endParaRPr lang="en-IN" b="1" dirty="0"/>
          </a:p>
          <a:p>
            <a:pPr marL="0" indent="0">
              <a:buNone/>
            </a:pPr>
            <a:r>
              <a:rPr lang="en-IN" b="1" dirty="0"/>
              <a:t>Step 5: Find a partner number d for e → your Private Key</a:t>
            </a:r>
            <a:endParaRPr lang="en-IN" dirty="0"/>
          </a:p>
          <a:p>
            <a:r>
              <a:rPr lang="en-IN" dirty="0"/>
              <a:t>d = 29</a:t>
            </a:r>
          </a:p>
          <a:p>
            <a:endParaRPr lang="en-IN" dirty="0"/>
          </a:p>
        </p:txBody>
      </p:sp>
    </p:spTree>
    <p:extLst>
      <p:ext uri="{BB962C8B-B14F-4D97-AF65-F5344CB8AC3E}">
        <p14:creationId xmlns:p14="http://schemas.microsoft.com/office/powerpoint/2010/main" val="763007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9CE7-A0F3-1C01-B98E-32ABD3B26FCC}"/>
              </a:ext>
            </a:extLst>
          </p:cNvPr>
          <p:cNvSpPr>
            <a:spLocks noGrp="1"/>
          </p:cNvSpPr>
          <p:nvPr>
            <p:ph type="title"/>
          </p:nvPr>
        </p:nvSpPr>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BF2A7A1C-027C-6500-BAFC-F75ACFD649D4}"/>
              </a:ext>
            </a:extLst>
          </p:cNvPr>
          <p:cNvSpPr>
            <a:spLocks noGrp="1"/>
          </p:cNvSpPr>
          <p:nvPr>
            <p:ph idx="1"/>
          </p:nvPr>
        </p:nvSpPr>
        <p:spPr/>
        <p:txBody>
          <a:bodyPr/>
          <a:lstStyle/>
          <a:p>
            <a:r>
              <a:rPr lang="en-IN" i="1" dirty="0"/>
              <a:t>(The one number that makes 5 × 29 leave remainder 1 when divided by 72)</a:t>
            </a:r>
            <a:endParaRPr lang="en-IN" dirty="0"/>
          </a:p>
          <a:p>
            <a:r>
              <a:rPr lang="en-IN" dirty="0"/>
              <a:t>→ </a:t>
            </a:r>
            <a:r>
              <a:rPr lang="en-IN" b="1" dirty="0"/>
              <a:t>PRIVATE KEY = (91, 29)</a:t>
            </a:r>
            <a:r>
              <a:rPr lang="en-IN" dirty="0"/>
              <a:t> — keep this secret forever</a:t>
            </a:r>
          </a:p>
          <a:p>
            <a:endParaRPr lang="en-IN" dirty="0"/>
          </a:p>
        </p:txBody>
      </p:sp>
    </p:spTree>
    <p:extLst>
      <p:ext uri="{BB962C8B-B14F-4D97-AF65-F5344CB8AC3E}">
        <p14:creationId xmlns:p14="http://schemas.microsoft.com/office/powerpoint/2010/main" val="1046899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7E736-1A76-B190-BE62-E37F94C217EC}"/>
              </a:ext>
            </a:extLst>
          </p:cNvPr>
          <p:cNvSpPr>
            <a:spLocks noGrp="1"/>
          </p:cNvSpPr>
          <p:nvPr>
            <p:ph type="title"/>
          </p:nvPr>
        </p:nvSpPr>
        <p:spPr/>
        <p:txBody>
          <a:bodyPr/>
          <a:lstStyle/>
          <a:p>
            <a:r>
              <a:rPr lang="en-IN" b="1" dirty="0"/>
              <a:t>What the Receiver Knows (Full Picture)</a:t>
            </a:r>
            <a:br>
              <a:rPr lang="en-IN" b="1" dirty="0"/>
            </a:br>
            <a:endParaRPr lang="en-IN" dirty="0"/>
          </a:p>
        </p:txBody>
      </p:sp>
      <p:sp>
        <p:nvSpPr>
          <p:cNvPr id="3" name="Content Placeholder 2">
            <a:extLst>
              <a:ext uri="{FF2B5EF4-FFF2-40B4-BE49-F238E27FC236}">
                <a16:creationId xmlns:a16="http://schemas.microsoft.com/office/drawing/2014/main" id="{EAA28B4D-6BFB-892A-D667-6B35D42F3C6C}"/>
              </a:ext>
            </a:extLst>
          </p:cNvPr>
          <p:cNvSpPr>
            <a:spLocks noGrp="1"/>
          </p:cNvSpPr>
          <p:nvPr>
            <p:ph idx="1"/>
          </p:nvPr>
        </p:nvSpPr>
        <p:spPr/>
        <p:txBody>
          <a:bodyPr>
            <a:normAutofit/>
          </a:bodyPr>
          <a:lstStyle/>
          <a:p>
            <a:r>
              <a:rPr lang="en-IN" dirty="0"/>
              <a:t>The receiver is the one who </a:t>
            </a:r>
            <a:r>
              <a:rPr lang="en-IN" b="1" dirty="0"/>
              <a:t>generated the keys</a:t>
            </a:r>
            <a:r>
              <a:rPr lang="en-IN" dirty="0"/>
              <a:t> — so they know everything:</a:t>
            </a:r>
          </a:p>
          <a:p>
            <a:r>
              <a:rPr lang="en-IN" dirty="0"/>
              <a:t>p = 7            ← secret prime</a:t>
            </a:r>
          </a:p>
          <a:p>
            <a:r>
              <a:rPr lang="en-IN" dirty="0"/>
              <a:t>q = 13           ← secret prime</a:t>
            </a:r>
          </a:p>
          <a:p>
            <a:r>
              <a:rPr lang="en-IN" dirty="0"/>
              <a:t>n = 91           ← public (shared)</a:t>
            </a:r>
          </a:p>
          <a:p>
            <a:r>
              <a:rPr lang="en-IN" dirty="0"/>
              <a:t>φ = 72           ← secret helper number</a:t>
            </a:r>
          </a:p>
          <a:p>
            <a:r>
              <a:rPr lang="en-IN" dirty="0"/>
              <a:t>e = 5            ← public (shared)</a:t>
            </a:r>
          </a:p>
          <a:p>
            <a:r>
              <a:rPr lang="en-IN" dirty="0"/>
              <a:t>d = 29           ← PRIVATE KEY (never shared)</a:t>
            </a:r>
          </a:p>
          <a:p>
            <a:endParaRPr lang="en-IN" dirty="0"/>
          </a:p>
        </p:txBody>
      </p:sp>
    </p:spTree>
    <p:extLst>
      <p:ext uri="{BB962C8B-B14F-4D97-AF65-F5344CB8AC3E}">
        <p14:creationId xmlns:p14="http://schemas.microsoft.com/office/powerpoint/2010/main" val="3960732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1793</TotalTime>
  <Words>1386</Words>
  <Application>Microsoft Office PowerPoint</Application>
  <PresentationFormat>Widescreen</PresentationFormat>
  <Paragraphs>137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Nunito</vt:lpstr>
      <vt:lpstr>Office Theme</vt:lpstr>
      <vt:lpstr>UNIT-II Cryptography-I : Introduction to Cryptography CAP404 INFORMATION SECURITY AND PRIVACY</vt:lpstr>
      <vt:lpstr>What is a key?</vt:lpstr>
      <vt:lpstr>Key size</vt:lpstr>
      <vt:lpstr>Key range</vt:lpstr>
      <vt:lpstr>Key Size Impact in Brute Force Attack </vt:lpstr>
      <vt:lpstr>PowerPoint Presentation</vt:lpstr>
      <vt:lpstr>Difference between Encryption and Decryption </vt:lpstr>
      <vt:lpstr>What is Encryption? </vt:lpstr>
      <vt:lpstr>What is Decryption? </vt:lpstr>
      <vt:lpstr>PowerPoint Presentation</vt:lpstr>
      <vt:lpstr>Difference Between Symmetric and Asymmetric Key Encryption </vt:lpstr>
      <vt:lpstr>Asymmetric Key Encryption </vt:lpstr>
      <vt:lpstr>Symmetric Key Cryptography — The Logic </vt:lpstr>
      <vt:lpstr>Asymmetric Key Cryptography — The Logic </vt:lpstr>
      <vt:lpstr>Asymmetric Key Cryptography — The Logic </vt:lpstr>
      <vt:lpstr>RSA  Asymmetric cryptographic algorithm</vt:lpstr>
      <vt:lpstr>The 5 Simple Steps (RSA Key Creation) </vt:lpstr>
      <vt:lpstr>Cont.</vt:lpstr>
      <vt:lpstr>Cont.</vt:lpstr>
      <vt:lpstr>What the Receiver Knows (Full Picture)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Sukhbeer Kaur</dc:creator>
  <cp:lastModifiedBy>Sukhbeer Kaur</cp:lastModifiedBy>
  <cp:revision>1</cp:revision>
  <dcterms:created xsi:type="dcterms:W3CDTF">2026-08-13T04:01:00Z</dcterms:created>
  <dcterms:modified xsi:type="dcterms:W3CDTF">2026-08-14T09:54:54Z</dcterms:modified>
</cp:coreProperties>
</file>