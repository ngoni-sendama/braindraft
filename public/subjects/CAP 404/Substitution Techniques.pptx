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9" r:id="rId8"/>
    <p:sldId id="270" r:id="rId9"/>
    <p:sldId id="264" r:id="rId10"/>
    <p:sldId id="265" r:id="rId11"/>
    <p:sldId id="266" r:id="rId12"/>
    <p:sldId id="267" r:id="rId13"/>
    <p:sldId id="268"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49809-3580-62A9-5C44-19052E98B0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ADA1A0-9122-F8FA-4575-76FF391ABA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3DF570F-5144-7E29-41EE-BA5848A3E624}"/>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5" name="Footer Placeholder 4">
            <a:extLst>
              <a:ext uri="{FF2B5EF4-FFF2-40B4-BE49-F238E27FC236}">
                <a16:creationId xmlns:a16="http://schemas.microsoft.com/office/drawing/2014/main" id="{C05F6E8F-C641-4778-06DA-E892D518E3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D3ED5D-583C-05C1-7F21-C5B97C37D17F}"/>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4030715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ED7F-D753-EE02-6DA8-943B0D93A8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06AAA8-5E14-7EE9-F03D-E049FC5EF2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AC1381-17EF-EE30-2E8D-07014EFF68E0}"/>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5" name="Footer Placeholder 4">
            <a:extLst>
              <a:ext uri="{FF2B5EF4-FFF2-40B4-BE49-F238E27FC236}">
                <a16:creationId xmlns:a16="http://schemas.microsoft.com/office/drawing/2014/main" id="{E137FF63-E108-7A07-B471-7756C00DA0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7030-B6AD-10FA-5B9E-F1B588E95298}"/>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563260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E9A61-0C49-FA46-DD3D-8C987085E9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EFB091F-1F41-1D99-C40B-AE60E0A04D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D6696F-9868-1AEA-22B2-3E2FCAFA40D0}"/>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5" name="Footer Placeholder 4">
            <a:extLst>
              <a:ext uri="{FF2B5EF4-FFF2-40B4-BE49-F238E27FC236}">
                <a16:creationId xmlns:a16="http://schemas.microsoft.com/office/drawing/2014/main" id="{2D950164-734A-95AD-6B11-43EA17F00E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64E283-2F00-4679-AECD-BFD1B50A55FD}"/>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128401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5190-AB30-6DB0-5FD8-BA0CF71F03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97AB4D-06A5-B835-E69F-4D20D7C2E1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1E65AD-BB9C-73E5-83B0-B4F4A6F405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E20880-CBE6-5EB9-4695-42A7ACAE4547}"/>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6" name="Footer Placeholder 5">
            <a:extLst>
              <a:ext uri="{FF2B5EF4-FFF2-40B4-BE49-F238E27FC236}">
                <a16:creationId xmlns:a16="http://schemas.microsoft.com/office/drawing/2014/main" id="{302340D5-6C87-B39C-476C-664E6DF276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D2C2AD-514E-E496-020C-BC0A7E216026}"/>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24643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810F0-D4D0-55DC-7D6B-4B18968B9C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447151-9F97-CF69-CEFB-B5C87E0512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E7C89-927B-542E-A568-153EFEAAC2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96716F-6936-68D6-68F5-B4ABE39E5B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14248A-46D2-1371-0A55-7FC7586F5F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C05B45-2306-2348-9358-B242C942BD3C}"/>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8" name="Footer Placeholder 7">
            <a:extLst>
              <a:ext uri="{FF2B5EF4-FFF2-40B4-BE49-F238E27FC236}">
                <a16:creationId xmlns:a16="http://schemas.microsoft.com/office/drawing/2014/main" id="{8D602D7E-E534-1A05-DFAC-909B164380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307E59-81E1-0E4D-DCE2-3BF3164B309A}"/>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2421828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113E4-AF18-C887-71F4-18CD1FA1B5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F0D64D-3305-74C4-A16A-4247856B350C}"/>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4" name="Footer Placeholder 3">
            <a:extLst>
              <a:ext uri="{FF2B5EF4-FFF2-40B4-BE49-F238E27FC236}">
                <a16:creationId xmlns:a16="http://schemas.microsoft.com/office/drawing/2014/main" id="{DE949CF4-24AD-8E42-9A6E-2EBE69B8CB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24104A-AE55-F499-3299-DAC6C2AEA539}"/>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2361512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B7FF5-CCA4-EC5E-136C-EBA1983204EC}"/>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3" name="Footer Placeholder 2">
            <a:extLst>
              <a:ext uri="{FF2B5EF4-FFF2-40B4-BE49-F238E27FC236}">
                <a16:creationId xmlns:a16="http://schemas.microsoft.com/office/drawing/2014/main" id="{273F2A71-0F6E-3597-ADCB-80BB88E85B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2BAB4F-8572-3F82-A66A-D1AF5770BEBD}"/>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1697503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839D-F978-1BC5-A3DD-7A78C68A0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17F29E-7968-4F93-9C64-20F3DB38B6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D1C7F9-08D1-DF2A-19D8-7236E99AE5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B5ACAF-C431-5CE8-822D-5302FDCBDDEC}"/>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6" name="Footer Placeholder 5">
            <a:extLst>
              <a:ext uri="{FF2B5EF4-FFF2-40B4-BE49-F238E27FC236}">
                <a16:creationId xmlns:a16="http://schemas.microsoft.com/office/drawing/2014/main" id="{0C150B6D-9517-A7EF-B7C4-B8D325D94C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75BA0B-1CD4-873B-057E-4F012CD037B9}"/>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1183803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2CD00-6E5A-D7DE-6262-AC66E8E8BE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3E6383-6EAC-6226-B67E-A956281DC5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F98B88-554E-DB55-C712-F0F2116C7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97FFDF-876B-DF8C-3DC5-8446CEBD7AFA}"/>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6" name="Footer Placeholder 5">
            <a:extLst>
              <a:ext uri="{FF2B5EF4-FFF2-40B4-BE49-F238E27FC236}">
                <a16:creationId xmlns:a16="http://schemas.microsoft.com/office/drawing/2014/main" id="{2953B381-15BC-FB5C-5CBD-9C87135D33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9CAAFC-AD1A-566F-A479-EC3AFEA5DD13}"/>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2796749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BCD0B-4BF0-DD93-B21B-FA62A472EC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87C3FC-3362-F342-3A71-17CF4E8BFB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167057-B6CF-E38D-F035-D8CFB37F730D}"/>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5" name="Footer Placeholder 4">
            <a:extLst>
              <a:ext uri="{FF2B5EF4-FFF2-40B4-BE49-F238E27FC236}">
                <a16:creationId xmlns:a16="http://schemas.microsoft.com/office/drawing/2014/main" id="{46E90CC6-D0A2-DF40-8C1A-62BB4BADE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B6DA32-8480-4AB1-7A75-01BA5359F07D}"/>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161713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5EA03C-C9E3-7F47-8B99-B666CA213E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5F425F-237E-F104-C518-706A660A40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01C4A4-71FD-8FFE-F845-C23136AA7C65}"/>
              </a:ext>
            </a:extLst>
          </p:cNvPr>
          <p:cNvSpPr>
            <a:spLocks noGrp="1"/>
          </p:cNvSpPr>
          <p:nvPr>
            <p:ph type="dt" sz="half" idx="10"/>
          </p:nvPr>
        </p:nvSpPr>
        <p:spPr/>
        <p:txBody>
          <a:bodyPr/>
          <a:lstStyle/>
          <a:p>
            <a:fld id="{6CE49E75-D8FF-409D-9FA2-BD3ED7BDD451}" type="datetimeFigureOut">
              <a:rPr lang="en-IN" smtClean="0"/>
              <a:t>17-08-2026</a:t>
            </a:fld>
            <a:endParaRPr lang="en-IN"/>
          </a:p>
        </p:txBody>
      </p:sp>
      <p:sp>
        <p:nvSpPr>
          <p:cNvPr id="5" name="Footer Placeholder 4">
            <a:extLst>
              <a:ext uri="{FF2B5EF4-FFF2-40B4-BE49-F238E27FC236}">
                <a16:creationId xmlns:a16="http://schemas.microsoft.com/office/drawing/2014/main" id="{B024D739-25A4-6854-8CBF-B4E1C4EBBB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3FB214-5DBA-1340-61BE-023B9D639819}"/>
              </a:ext>
            </a:extLst>
          </p:cNvPr>
          <p:cNvSpPr>
            <a:spLocks noGrp="1"/>
          </p:cNvSpPr>
          <p:nvPr>
            <p:ph type="sldNum" sz="quarter" idx="12"/>
          </p:nvPr>
        </p:nvSpPr>
        <p:spPr/>
        <p:txBody>
          <a:bodyPr/>
          <a:lstStyle/>
          <a:p>
            <a:fld id="{EE152732-BB89-4D35-88EE-8C2F9A7334C4}" type="slidenum">
              <a:rPr lang="en-IN" smtClean="0"/>
              <a:t>‹#›</a:t>
            </a:fld>
            <a:endParaRPr lang="en-IN"/>
          </a:p>
        </p:txBody>
      </p:sp>
    </p:spTree>
    <p:extLst>
      <p:ext uri="{BB962C8B-B14F-4D97-AF65-F5344CB8AC3E}">
        <p14:creationId xmlns:p14="http://schemas.microsoft.com/office/powerpoint/2010/main" val="694407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4B0B76-084B-1EEF-0088-96F934136B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80BEE5-241E-D583-1966-3ED9DC2434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0C604D-CBA8-4909-D2B4-6A5F3CF6F3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E49E75-D8FF-409D-9FA2-BD3ED7BDD451}" type="datetimeFigureOut">
              <a:rPr lang="en-IN" smtClean="0"/>
              <a:t>17-08-2026</a:t>
            </a:fld>
            <a:endParaRPr lang="en-IN"/>
          </a:p>
        </p:txBody>
      </p:sp>
      <p:sp>
        <p:nvSpPr>
          <p:cNvPr id="5" name="Footer Placeholder 4">
            <a:extLst>
              <a:ext uri="{FF2B5EF4-FFF2-40B4-BE49-F238E27FC236}">
                <a16:creationId xmlns:a16="http://schemas.microsoft.com/office/drawing/2014/main" id="{642912F7-E0AC-D62D-DBF1-683625C2E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9312660-43A0-DD0E-B4F3-3C05000BA2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152732-BB89-4D35-88EE-8C2F9A7334C4}" type="slidenum">
              <a:rPr lang="en-IN" smtClean="0"/>
              <a:t>‹#›</a:t>
            </a:fld>
            <a:endParaRPr lang="en-IN"/>
          </a:p>
        </p:txBody>
      </p:sp>
    </p:spTree>
    <p:extLst>
      <p:ext uri="{BB962C8B-B14F-4D97-AF65-F5344CB8AC3E}">
        <p14:creationId xmlns:p14="http://schemas.microsoft.com/office/powerpoint/2010/main" val="410604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B71DB-0087-F8B6-7458-45A746CFE12E}"/>
              </a:ext>
            </a:extLst>
          </p:cNvPr>
          <p:cNvSpPr>
            <a:spLocks noGrp="1"/>
          </p:cNvSpPr>
          <p:nvPr>
            <p:ph type="title"/>
          </p:nvPr>
        </p:nvSpPr>
        <p:spPr/>
        <p:txBody>
          <a:bodyPr>
            <a:normAutofit fontScale="90000"/>
          </a:bodyPr>
          <a:lstStyle/>
          <a:p>
            <a:r>
              <a:rPr lang="en-IN" b="1" dirty="0"/>
              <a:t>Substitution Techniques</a:t>
            </a:r>
            <a:br>
              <a:rPr lang="en-IN" b="1" dirty="0"/>
            </a:br>
            <a:r>
              <a:rPr lang="en-IN" b="1" dirty="0"/>
              <a:t>CAESER CIPHER</a:t>
            </a:r>
            <a:br>
              <a:rPr lang="en-IN" b="1" dirty="0"/>
            </a:br>
            <a:endParaRPr lang="en-IN" dirty="0"/>
          </a:p>
        </p:txBody>
      </p:sp>
      <p:sp>
        <p:nvSpPr>
          <p:cNvPr id="3" name="Content Placeholder 2">
            <a:extLst>
              <a:ext uri="{FF2B5EF4-FFF2-40B4-BE49-F238E27FC236}">
                <a16:creationId xmlns:a16="http://schemas.microsoft.com/office/drawing/2014/main" id="{16B57940-D45D-2FD9-C4B2-28DFAF57CDD0}"/>
              </a:ext>
            </a:extLst>
          </p:cNvPr>
          <p:cNvSpPr>
            <a:spLocks noGrp="1"/>
          </p:cNvSpPr>
          <p:nvPr>
            <p:ph idx="1"/>
          </p:nvPr>
        </p:nvSpPr>
        <p:spPr/>
        <p:txBody>
          <a:bodyPr/>
          <a:lstStyle/>
          <a:p>
            <a:r>
              <a:rPr lang="en-IN" dirty="0"/>
              <a:t> In a Substitution cipher, any character of plain text from the given fixed set of characters is substituted by some other character from the same set depending on a key. For example with a shift of 1, A would be replaced by B, B would become C, and so on. </a:t>
            </a:r>
          </a:p>
          <a:p>
            <a:endParaRPr lang="en-IN" dirty="0"/>
          </a:p>
          <a:p>
            <a:pPr fontAlgn="base"/>
            <a:r>
              <a:rPr lang="en-IN" b="1" dirty="0"/>
              <a:t>Mathematical representation</a:t>
            </a:r>
          </a:p>
          <a:p>
            <a:pPr fontAlgn="base"/>
            <a:r>
              <a:rPr lang="en-IN" dirty="0"/>
              <a:t>The encryption can be represented using modular arithmetic by first transforming the letters into numbers, according to the scheme, A = 0, B = 1,…, Z = 25. Encryption of a letter by a shift n can be described mathematically as.</a:t>
            </a:r>
          </a:p>
          <a:p>
            <a:endParaRPr lang="en-IN" dirty="0"/>
          </a:p>
        </p:txBody>
      </p:sp>
    </p:spTree>
    <p:extLst>
      <p:ext uri="{BB962C8B-B14F-4D97-AF65-F5344CB8AC3E}">
        <p14:creationId xmlns:p14="http://schemas.microsoft.com/office/powerpoint/2010/main" val="3518588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96FF-E8B1-28F7-DDDA-6D2BA8A268FE}"/>
              </a:ext>
            </a:extLst>
          </p:cNvPr>
          <p:cNvSpPr>
            <a:spLocks noGrp="1"/>
          </p:cNvSpPr>
          <p:nvPr>
            <p:ph type="title"/>
          </p:nvPr>
        </p:nvSpPr>
        <p:spPr/>
        <p:txBody>
          <a:bodyPr/>
          <a:lstStyle/>
          <a:p>
            <a:r>
              <a:rPr lang="en-IN" b="1" dirty="0"/>
              <a:t>Substitution Cipher</a:t>
            </a:r>
            <a:endParaRPr lang="en-IN" dirty="0"/>
          </a:p>
        </p:txBody>
      </p:sp>
      <p:pic>
        <p:nvPicPr>
          <p:cNvPr id="5" name="Content Placeholder 4">
            <a:extLst>
              <a:ext uri="{FF2B5EF4-FFF2-40B4-BE49-F238E27FC236}">
                <a16:creationId xmlns:a16="http://schemas.microsoft.com/office/drawing/2014/main" id="{AA9ABF00-1C61-3807-3D87-29706BCEC30F}"/>
              </a:ext>
            </a:extLst>
          </p:cNvPr>
          <p:cNvPicPr>
            <a:picLocks noGrp="1" noChangeAspect="1"/>
          </p:cNvPicPr>
          <p:nvPr>
            <p:ph idx="1"/>
          </p:nvPr>
        </p:nvPicPr>
        <p:blipFill>
          <a:blip r:embed="rId2"/>
          <a:stretch>
            <a:fillRect/>
          </a:stretch>
        </p:blipFill>
        <p:spPr>
          <a:xfrm>
            <a:off x="993058" y="1584325"/>
            <a:ext cx="9340646" cy="4226540"/>
          </a:xfrm>
          <a:prstGeom prst="rect">
            <a:avLst/>
          </a:prstGeom>
        </p:spPr>
      </p:pic>
    </p:spTree>
    <p:extLst>
      <p:ext uri="{BB962C8B-B14F-4D97-AF65-F5344CB8AC3E}">
        <p14:creationId xmlns:p14="http://schemas.microsoft.com/office/powerpoint/2010/main" val="2952247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4E726-A41B-362F-ADC7-C17700EC801F}"/>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3D65C986-ECAC-A2F3-E3B7-277EBB4B1100}"/>
              </a:ext>
            </a:extLst>
          </p:cNvPr>
          <p:cNvSpPr>
            <a:spLocks noGrp="1"/>
          </p:cNvSpPr>
          <p:nvPr>
            <p:ph idx="1"/>
          </p:nvPr>
        </p:nvSpPr>
        <p:spPr/>
        <p:txBody>
          <a:bodyPr/>
          <a:lstStyle/>
          <a:p>
            <a:r>
              <a:rPr lang="en-IN" b="1" dirty="0"/>
              <a:t>Plain Text:</a:t>
            </a:r>
            <a:r>
              <a:rPr lang="en-IN" dirty="0"/>
              <a:t> ABCDEFGHIJKLMNOPQRSTUVWXYZ</a:t>
            </a:r>
            <a:br>
              <a:rPr lang="en-IN" dirty="0"/>
            </a:br>
            <a:r>
              <a:rPr lang="en-IN" b="1" dirty="0"/>
              <a:t>Key:</a:t>
            </a:r>
            <a:r>
              <a:rPr lang="en-IN" dirty="0"/>
              <a:t> 4</a:t>
            </a:r>
            <a:br>
              <a:rPr lang="en-IN" dirty="0"/>
            </a:br>
            <a:r>
              <a:rPr lang="en-IN" b="1" dirty="0"/>
              <a:t>Output:</a:t>
            </a:r>
            <a:r>
              <a:rPr lang="en-IN" dirty="0"/>
              <a:t> </a:t>
            </a:r>
            <a:r>
              <a:rPr lang="en-IN" dirty="0" err="1"/>
              <a:t>EFGHIJKLMNOPQRSTUVWXYZabcd</a:t>
            </a:r>
            <a:endParaRPr lang="en-IN" dirty="0"/>
          </a:p>
          <a:p>
            <a:endParaRPr lang="en-IN" dirty="0"/>
          </a:p>
        </p:txBody>
      </p:sp>
    </p:spTree>
    <p:extLst>
      <p:ext uri="{BB962C8B-B14F-4D97-AF65-F5344CB8AC3E}">
        <p14:creationId xmlns:p14="http://schemas.microsoft.com/office/powerpoint/2010/main" val="863550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C66F2-67A6-1E07-9B0B-7DC8EA112DC2}"/>
              </a:ext>
            </a:extLst>
          </p:cNvPr>
          <p:cNvSpPr>
            <a:spLocks noGrp="1"/>
          </p:cNvSpPr>
          <p:nvPr>
            <p:ph type="title"/>
          </p:nvPr>
        </p:nvSpPr>
        <p:spPr/>
        <p:txBody>
          <a:bodyPr/>
          <a:lstStyle/>
          <a:p>
            <a:r>
              <a:rPr lang="en-IN" dirty="0"/>
              <a:t>Mono-alphabetic cipher</a:t>
            </a:r>
          </a:p>
        </p:txBody>
      </p:sp>
      <p:pic>
        <p:nvPicPr>
          <p:cNvPr id="5" name="Content Placeholder 4">
            <a:extLst>
              <a:ext uri="{FF2B5EF4-FFF2-40B4-BE49-F238E27FC236}">
                <a16:creationId xmlns:a16="http://schemas.microsoft.com/office/drawing/2014/main" id="{396F0A21-D660-6930-9B31-25095F87C81A}"/>
              </a:ext>
            </a:extLst>
          </p:cNvPr>
          <p:cNvPicPr>
            <a:picLocks noGrp="1" noChangeAspect="1"/>
          </p:cNvPicPr>
          <p:nvPr>
            <p:ph idx="1"/>
          </p:nvPr>
        </p:nvPicPr>
        <p:blipFill>
          <a:blip r:embed="rId2"/>
          <a:stretch>
            <a:fillRect/>
          </a:stretch>
        </p:blipFill>
        <p:spPr>
          <a:xfrm>
            <a:off x="1187334" y="2188082"/>
            <a:ext cx="9028382" cy="3292125"/>
          </a:xfrm>
          <a:prstGeom prst="rect">
            <a:avLst/>
          </a:prstGeom>
        </p:spPr>
      </p:pic>
    </p:spTree>
    <p:extLst>
      <p:ext uri="{BB962C8B-B14F-4D97-AF65-F5344CB8AC3E}">
        <p14:creationId xmlns:p14="http://schemas.microsoft.com/office/powerpoint/2010/main" val="1636165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1C6CC0-E4AF-14E4-F244-92995FF94CB3}"/>
              </a:ext>
            </a:extLst>
          </p:cNvPr>
          <p:cNvSpPr>
            <a:spLocks noGrp="1"/>
          </p:cNvSpPr>
          <p:nvPr>
            <p:ph idx="1"/>
          </p:nvPr>
        </p:nvSpPr>
        <p:spPr>
          <a:xfrm>
            <a:off x="838200" y="550606"/>
            <a:ext cx="10515600" cy="5626357"/>
          </a:xfrm>
        </p:spPr>
        <p:txBody>
          <a:bodyPr>
            <a:normAutofit lnSpcReduction="10000"/>
          </a:bodyPr>
          <a:lstStyle/>
          <a:p>
            <a:pPr marL="0" indent="0" fontAlgn="base">
              <a:buNone/>
            </a:pPr>
            <a:r>
              <a:rPr lang="en-IN" b="1" dirty="0">
                <a:latin typeface="Times New Roman" panose="02020603050405020304" pitchFamily="18" charset="0"/>
                <a:cs typeface="Times New Roman" panose="02020603050405020304" pitchFamily="18" charset="0"/>
              </a:rPr>
              <a:t>Advantages of Monoalphabetic Cipher</a:t>
            </a:r>
          </a:p>
          <a:p>
            <a:pPr lvl="0" fontAlgn="base"/>
            <a:r>
              <a:rPr lang="en-IN" dirty="0">
                <a:latin typeface="Times New Roman" panose="02020603050405020304" pitchFamily="18" charset="0"/>
                <a:cs typeface="Times New Roman" panose="02020603050405020304" pitchFamily="18" charset="0"/>
              </a:rPr>
              <a:t>Better Security than Caesar Cipher.</a:t>
            </a:r>
          </a:p>
          <a:p>
            <a:pPr lvl="0" fontAlgn="base"/>
            <a:r>
              <a:rPr lang="en-IN" dirty="0">
                <a:latin typeface="Times New Roman" panose="02020603050405020304" pitchFamily="18" charset="0"/>
                <a:cs typeface="Times New Roman" panose="02020603050405020304" pitchFamily="18" charset="0"/>
              </a:rPr>
              <a:t>Provides Encryption and Decryption to data.</a:t>
            </a:r>
          </a:p>
          <a:p>
            <a:pPr lvl="0" fontAlgn="base"/>
            <a:r>
              <a:rPr lang="en-IN" dirty="0">
                <a:latin typeface="Times New Roman" panose="02020603050405020304" pitchFamily="18" charset="0"/>
                <a:cs typeface="Times New Roman" panose="02020603050405020304" pitchFamily="18" charset="0"/>
              </a:rPr>
              <a:t>Monoalphabetic Cipher maintains a frequency of letters.</a:t>
            </a:r>
          </a:p>
          <a:p>
            <a:pPr lvl="0" fontAlgn="base"/>
            <a:endParaRPr lang="en-IN" dirty="0">
              <a:latin typeface="Times New Roman" panose="02020603050405020304" pitchFamily="18" charset="0"/>
              <a:cs typeface="Times New Roman" panose="02020603050405020304" pitchFamily="18" charset="0"/>
            </a:endParaRPr>
          </a:p>
          <a:p>
            <a:pPr marL="0" indent="0" fontAlgn="base">
              <a:buNone/>
            </a:pPr>
            <a:r>
              <a:rPr lang="en-IN" b="1" dirty="0">
                <a:latin typeface="Times New Roman" panose="02020603050405020304" pitchFamily="18" charset="0"/>
                <a:cs typeface="Times New Roman" panose="02020603050405020304" pitchFamily="18" charset="0"/>
              </a:rPr>
              <a:t>Disadvantages of Monoalphabetic Cipher</a:t>
            </a:r>
          </a:p>
          <a:p>
            <a:pPr lvl="0" fontAlgn="base"/>
            <a:r>
              <a:rPr lang="en-IN" dirty="0">
                <a:latin typeface="Times New Roman" panose="02020603050405020304" pitchFamily="18" charset="0"/>
                <a:cs typeface="Times New Roman" panose="02020603050405020304" pitchFamily="18" charset="0"/>
              </a:rPr>
              <a:t>Monoalphabetic ciphers are easy to break because they reflect the frequency data of the original alphabet.</a:t>
            </a:r>
          </a:p>
          <a:p>
            <a:pPr lvl="0" fontAlgn="base"/>
            <a:r>
              <a:rPr lang="en-IN" dirty="0">
                <a:latin typeface="Times New Roman" panose="02020603050405020304" pitchFamily="18" charset="0"/>
                <a:cs typeface="Times New Roman" panose="02020603050405020304" pitchFamily="18" charset="0"/>
              </a:rPr>
              <a:t>Prone to guessing attack using the English letters frequency of occurrence of letters.</a:t>
            </a:r>
          </a:p>
          <a:p>
            <a:pPr lvl="0" fontAlgn="base"/>
            <a:r>
              <a:rPr lang="en-IN" dirty="0">
                <a:latin typeface="Times New Roman" panose="02020603050405020304" pitchFamily="18" charset="0"/>
                <a:cs typeface="Times New Roman" panose="02020603050405020304" pitchFamily="18" charset="0"/>
              </a:rPr>
              <a:t>The English Language is used so the nature of plain text is known.</a:t>
            </a:r>
          </a:p>
          <a:p>
            <a:pPr lvl="0" fontAlgn="base"/>
            <a:r>
              <a:rPr lang="en-IN" dirty="0">
                <a:latin typeface="Times New Roman" panose="02020603050405020304" pitchFamily="18" charset="0"/>
                <a:cs typeface="Times New Roman" panose="02020603050405020304" pitchFamily="18" charset="0"/>
              </a:rPr>
              <a:t>Less secure than a polyalphabetic cipher.</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3451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DC15D-93C9-D57A-DA8A-0E34D97326A7}"/>
              </a:ext>
            </a:extLst>
          </p:cNvPr>
          <p:cNvSpPr>
            <a:spLocks noGrp="1"/>
          </p:cNvSpPr>
          <p:nvPr>
            <p:ph type="title"/>
          </p:nvPr>
        </p:nvSpPr>
        <p:spPr/>
        <p:txBody>
          <a:bodyPr/>
          <a:lstStyle/>
          <a:p>
            <a:r>
              <a:rPr lang="en-IN" dirty="0"/>
              <a:t>Homophonic substitution cipher</a:t>
            </a:r>
          </a:p>
        </p:txBody>
      </p:sp>
      <p:sp>
        <p:nvSpPr>
          <p:cNvPr id="3" name="Content Placeholder 2">
            <a:extLst>
              <a:ext uri="{FF2B5EF4-FFF2-40B4-BE49-F238E27FC236}">
                <a16:creationId xmlns:a16="http://schemas.microsoft.com/office/drawing/2014/main" id="{2E5D32ED-78AB-94E4-5C80-41DE3639DF4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ED56530-0520-9AED-05B8-A789357F5187}"/>
              </a:ext>
            </a:extLst>
          </p:cNvPr>
          <p:cNvPicPr>
            <a:picLocks noChangeAspect="1"/>
          </p:cNvPicPr>
          <p:nvPr/>
        </p:nvPicPr>
        <p:blipFill>
          <a:blip r:embed="rId2"/>
          <a:stretch>
            <a:fillRect/>
          </a:stretch>
        </p:blipFill>
        <p:spPr>
          <a:xfrm>
            <a:off x="718984" y="1825625"/>
            <a:ext cx="10754031" cy="4785775"/>
          </a:xfrm>
          <a:prstGeom prst="rect">
            <a:avLst/>
          </a:prstGeom>
        </p:spPr>
      </p:pic>
    </p:spTree>
    <p:extLst>
      <p:ext uri="{BB962C8B-B14F-4D97-AF65-F5344CB8AC3E}">
        <p14:creationId xmlns:p14="http://schemas.microsoft.com/office/powerpoint/2010/main" val="3757108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32418-DF57-0C4B-0E86-456A6FA0D264}"/>
              </a:ext>
            </a:extLst>
          </p:cNvPr>
          <p:cNvSpPr>
            <a:spLocks noGrp="1"/>
          </p:cNvSpPr>
          <p:nvPr>
            <p:ph type="title"/>
          </p:nvPr>
        </p:nvSpPr>
        <p:spPr/>
        <p:txBody>
          <a:bodyPr>
            <a:normAutofit fontScale="90000"/>
          </a:bodyPr>
          <a:lstStyle/>
          <a:p>
            <a:r>
              <a:rPr lang="en-IN" b="1" dirty="0"/>
              <a:t>Example of Homophonic Substitution Cipher</a:t>
            </a:r>
            <a:br>
              <a:rPr lang="en-IN" b="1" dirty="0"/>
            </a:br>
            <a:endParaRPr lang="en-IN" dirty="0"/>
          </a:p>
        </p:txBody>
      </p:sp>
      <p:sp>
        <p:nvSpPr>
          <p:cNvPr id="3" name="Content Placeholder 2">
            <a:extLst>
              <a:ext uri="{FF2B5EF4-FFF2-40B4-BE49-F238E27FC236}">
                <a16:creationId xmlns:a16="http://schemas.microsoft.com/office/drawing/2014/main" id="{86424647-D7EC-29DA-0ECD-9B2AA830FCF9}"/>
              </a:ext>
            </a:extLst>
          </p:cNvPr>
          <p:cNvSpPr>
            <a:spLocks noGrp="1"/>
          </p:cNvSpPr>
          <p:nvPr>
            <p:ph idx="1"/>
          </p:nvPr>
        </p:nvSpPr>
        <p:spPr/>
        <p:txBody>
          <a:bodyPr/>
          <a:lstStyle/>
          <a:p>
            <a:r>
              <a:rPr lang="en-IN" dirty="0"/>
              <a:t>A </a:t>
            </a:r>
            <a:r>
              <a:rPr lang="en-IN" b="1" dirty="0"/>
              <a:t>homophonic substitution cipher</a:t>
            </a:r>
            <a:r>
              <a:rPr lang="en-IN" dirty="0"/>
              <a:t> allows </a:t>
            </a:r>
            <a:r>
              <a:rPr lang="en-IN" b="1" dirty="0"/>
              <a:t>one plaintext letter to have multiple possible ciphertext symbols</a:t>
            </a:r>
            <a:r>
              <a:rPr lang="en-IN" dirty="0"/>
              <a:t>. This helps hide the frequency of common letters such as </a:t>
            </a:r>
            <a:r>
              <a:rPr lang="en-IN" b="1" dirty="0"/>
              <a:t>E, T, A</a:t>
            </a:r>
            <a:r>
              <a:rPr lang="en-IN" dirty="0"/>
              <a:t>, etc.</a:t>
            </a:r>
          </a:p>
          <a:p>
            <a:endParaRPr lang="en-IN" dirty="0"/>
          </a:p>
        </p:txBody>
      </p:sp>
      <p:graphicFrame>
        <p:nvGraphicFramePr>
          <p:cNvPr id="4" name="Table 3">
            <a:extLst>
              <a:ext uri="{FF2B5EF4-FFF2-40B4-BE49-F238E27FC236}">
                <a16:creationId xmlns:a16="http://schemas.microsoft.com/office/drawing/2014/main" id="{9C9FFC6B-CCD9-9EBA-EBF6-9C2508F29C21}"/>
              </a:ext>
            </a:extLst>
          </p:cNvPr>
          <p:cNvGraphicFramePr>
            <a:graphicFrameLocks noGrp="1"/>
          </p:cNvGraphicFramePr>
          <p:nvPr>
            <p:extLst>
              <p:ext uri="{D42A27DB-BD31-4B8C-83A1-F6EECF244321}">
                <p14:modId xmlns:p14="http://schemas.microsoft.com/office/powerpoint/2010/main" val="940137396"/>
              </p:ext>
            </p:extLst>
          </p:nvPr>
        </p:nvGraphicFramePr>
        <p:xfrm>
          <a:off x="838200" y="3250883"/>
          <a:ext cx="10515600" cy="2926080"/>
        </p:xfrm>
        <a:graphic>
          <a:graphicData uri="http://schemas.openxmlformats.org/drawingml/2006/table">
            <a:tbl>
              <a:tblPr/>
              <a:tblGrid>
                <a:gridCol w="5257800">
                  <a:extLst>
                    <a:ext uri="{9D8B030D-6E8A-4147-A177-3AD203B41FA5}">
                      <a16:colId xmlns:a16="http://schemas.microsoft.com/office/drawing/2014/main" val="2126815775"/>
                    </a:ext>
                  </a:extLst>
                </a:gridCol>
                <a:gridCol w="5257800">
                  <a:extLst>
                    <a:ext uri="{9D8B030D-6E8A-4147-A177-3AD203B41FA5}">
                      <a16:colId xmlns:a16="http://schemas.microsoft.com/office/drawing/2014/main" val="342679519"/>
                    </a:ext>
                  </a:extLst>
                </a:gridCol>
              </a:tblGrid>
              <a:tr h="0">
                <a:tc>
                  <a:txBody>
                    <a:bodyPr/>
                    <a:lstStyle/>
                    <a:p>
                      <a:pPr>
                        <a:buNone/>
                      </a:pPr>
                      <a:r>
                        <a:rPr lang="en-IN" b="1"/>
                        <a:t>Plaintext Letter</a:t>
                      </a:r>
                    </a:p>
                  </a:txBody>
                  <a:tcPr anchor="ctr">
                    <a:lnL>
                      <a:noFill/>
                    </a:lnL>
                    <a:lnR>
                      <a:noFill/>
                    </a:lnR>
                    <a:lnT>
                      <a:noFill/>
                    </a:lnT>
                    <a:lnB>
                      <a:noFill/>
                    </a:lnB>
                    <a:noFill/>
                  </a:tcPr>
                </a:tc>
                <a:tc>
                  <a:txBody>
                    <a:bodyPr/>
                    <a:lstStyle/>
                    <a:p>
                      <a:pPr>
                        <a:buNone/>
                      </a:pPr>
                      <a:r>
                        <a:rPr lang="en-IN" b="1" dirty="0"/>
                        <a:t>Possible Cipher Symbols</a:t>
                      </a:r>
                    </a:p>
                  </a:txBody>
                  <a:tcPr anchor="ctr">
                    <a:lnL>
                      <a:noFill/>
                    </a:lnL>
                    <a:lnR>
                      <a:noFill/>
                    </a:lnR>
                    <a:lnT>
                      <a:noFill/>
                    </a:lnT>
                    <a:lnB>
                      <a:noFill/>
                    </a:lnB>
                    <a:noFill/>
                  </a:tcPr>
                </a:tc>
                <a:extLst>
                  <a:ext uri="{0D108BD9-81ED-4DB2-BD59-A6C34878D82A}">
                    <a16:rowId xmlns:a16="http://schemas.microsoft.com/office/drawing/2014/main" val="2918200945"/>
                  </a:ext>
                </a:extLst>
              </a:tr>
              <a:tr h="0">
                <a:tc>
                  <a:txBody>
                    <a:bodyPr/>
                    <a:lstStyle/>
                    <a:p>
                      <a:pPr>
                        <a:buNone/>
                      </a:pPr>
                      <a:r>
                        <a:rPr lang="en-IN"/>
                        <a:t>A</a:t>
                      </a:r>
                    </a:p>
                  </a:txBody>
                  <a:tcPr anchor="ctr">
                    <a:lnL>
                      <a:noFill/>
                    </a:lnL>
                    <a:lnR>
                      <a:noFill/>
                    </a:lnR>
                    <a:lnT>
                      <a:noFill/>
                    </a:lnT>
                    <a:lnB>
                      <a:noFill/>
                    </a:lnB>
                    <a:noFill/>
                  </a:tcPr>
                </a:tc>
                <a:tc>
                  <a:txBody>
                    <a:bodyPr/>
                    <a:lstStyle/>
                    <a:p>
                      <a:pPr>
                        <a:buNone/>
                      </a:pPr>
                      <a:r>
                        <a:rPr lang="en-IN"/>
                        <a:t>12, 45</a:t>
                      </a:r>
                    </a:p>
                  </a:txBody>
                  <a:tcPr anchor="ctr">
                    <a:lnL>
                      <a:noFill/>
                    </a:lnL>
                    <a:lnR>
                      <a:noFill/>
                    </a:lnR>
                    <a:lnT>
                      <a:noFill/>
                    </a:lnT>
                    <a:lnB>
                      <a:noFill/>
                    </a:lnB>
                    <a:noFill/>
                  </a:tcPr>
                </a:tc>
                <a:extLst>
                  <a:ext uri="{0D108BD9-81ED-4DB2-BD59-A6C34878D82A}">
                    <a16:rowId xmlns:a16="http://schemas.microsoft.com/office/drawing/2014/main" val="2799821027"/>
                  </a:ext>
                </a:extLst>
              </a:tr>
              <a:tr h="0">
                <a:tc>
                  <a:txBody>
                    <a:bodyPr/>
                    <a:lstStyle/>
                    <a:p>
                      <a:pPr>
                        <a:buNone/>
                      </a:pPr>
                      <a:r>
                        <a:rPr lang="en-IN"/>
                        <a:t>B</a:t>
                      </a:r>
                    </a:p>
                  </a:txBody>
                  <a:tcPr anchor="ctr">
                    <a:lnL>
                      <a:noFill/>
                    </a:lnL>
                    <a:lnR>
                      <a:noFill/>
                    </a:lnR>
                    <a:lnT>
                      <a:noFill/>
                    </a:lnT>
                    <a:lnB>
                      <a:noFill/>
                    </a:lnB>
                    <a:noFill/>
                  </a:tcPr>
                </a:tc>
                <a:tc>
                  <a:txBody>
                    <a:bodyPr/>
                    <a:lstStyle/>
                    <a:p>
                      <a:pPr>
                        <a:buNone/>
                      </a:pPr>
                      <a:r>
                        <a:rPr lang="en-IN"/>
                        <a:t>07</a:t>
                      </a:r>
                    </a:p>
                  </a:txBody>
                  <a:tcPr anchor="ctr">
                    <a:lnL>
                      <a:noFill/>
                    </a:lnL>
                    <a:lnR>
                      <a:noFill/>
                    </a:lnR>
                    <a:lnT>
                      <a:noFill/>
                    </a:lnT>
                    <a:lnB>
                      <a:noFill/>
                    </a:lnB>
                    <a:noFill/>
                  </a:tcPr>
                </a:tc>
                <a:extLst>
                  <a:ext uri="{0D108BD9-81ED-4DB2-BD59-A6C34878D82A}">
                    <a16:rowId xmlns:a16="http://schemas.microsoft.com/office/drawing/2014/main" val="182441317"/>
                  </a:ext>
                </a:extLst>
              </a:tr>
              <a:tr h="0">
                <a:tc>
                  <a:txBody>
                    <a:bodyPr/>
                    <a:lstStyle/>
                    <a:p>
                      <a:pPr>
                        <a:buNone/>
                      </a:pPr>
                      <a:r>
                        <a:rPr lang="en-IN"/>
                        <a:t>E</a:t>
                      </a:r>
                    </a:p>
                  </a:txBody>
                  <a:tcPr anchor="ctr">
                    <a:lnL>
                      <a:noFill/>
                    </a:lnL>
                    <a:lnR>
                      <a:noFill/>
                    </a:lnR>
                    <a:lnT>
                      <a:noFill/>
                    </a:lnT>
                    <a:lnB>
                      <a:noFill/>
                    </a:lnB>
                    <a:noFill/>
                  </a:tcPr>
                </a:tc>
                <a:tc>
                  <a:txBody>
                    <a:bodyPr/>
                    <a:lstStyle/>
                    <a:p>
                      <a:pPr>
                        <a:buNone/>
                      </a:pPr>
                      <a:r>
                        <a:rPr lang="en-IN"/>
                        <a:t>18, 31, 64</a:t>
                      </a:r>
                    </a:p>
                  </a:txBody>
                  <a:tcPr anchor="ctr">
                    <a:lnL>
                      <a:noFill/>
                    </a:lnL>
                    <a:lnR>
                      <a:noFill/>
                    </a:lnR>
                    <a:lnT>
                      <a:noFill/>
                    </a:lnT>
                    <a:lnB>
                      <a:noFill/>
                    </a:lnB>
                    <a:noFill/>
                  </a:tcPr>
                </a:tc>
                <a:extLst>
                  <a:ext uri="{0D108BD9-81ED-4DB2-BD59-A6C34878D82A}">
                    <a16:rowId xmlns:a16="http://schemas.microsoft.com/office/drawing/2014/main" val="3712947819"/>
                  </a:ext>
                </a:extLst>
              </a:tr>
              <a:tr h="0">
                <a:tc>
                  <a:txBody>
                    <a:bodyPr/>
                    <a:lstStyle/>
                    <a:p>
                      <a:pPr>
                        <a:buNone/>
                      </a:pPr>
                      <a:r>
                        <a:rPr lang="en-IN"/>
                        <a:t>H</a:t>
                      </a:r>
                    </a:p>
                  </a:txBody>
                  <a:tcPr anchor="ctr">
                    <a:lnL>
                      <a:noFill/>
                    </a:lnL>
                    <a:lnR>
                      <a:noFill/>
                    </a:lnR>
                    <a:lnT>
                      <a:noFill/>
                    </a:lnT>
                    <a:lnB>
                      <a:noFill/>
                    </a:lnB>
                    <a:noFill/>
                  </a:tcPr>
                </a:tc>
                <a:tc>
                  <a:txBody>
                    <a:bodyPr/>
                    <a:lstStyle/>
                    <a:p>
                      <a:pPr>
                        <a:buNone/>
                      </a:pPr>
                      <a:r>
                        <a:rPr lang="en-IN"/>
                        <a:t>22</a:t>
                      </a:r>
                    </a:p>
                  </a:txBody>
                  <a:tcPr anchor="ctr">
                    <a:lnL>
                      <a:noFill/>
                    </a:lnL>
                    <a:lnR>
                      <a:noFill/>
                    </a:lnR>
                    <a:lnT>
                      <a:noFill/>
                    </a:lnT>
                    <a:lnB>
                      <a:noFill/>
                    </a:lnB>
                    <a:noFill/>
                  </a:tcPr>
                </a:tc>
                <a:extLst>
                  <a:ext uri="{0D108BD9-81ED-4DB2-BD59-A6C34878D82A}">
                    <a16:rowId xmlns:a16="http://schemas.microsoft.com/office/drawing/2014/main" val="1534261914"/>
                  </a:ext>
                </a:extLst>
              </a:tr>
              <a:tr h="0">
                <a:tc>
                  <a:txBody>
                    <a:bodyPr/>
                    <a:lstStyle/>
                    <a:p>
                      <a:pPr>
                        <a:buNone/>
                      </a:pPr>
                      <a:r>
                        <a:rPr lang="en-IN" dirty="0"/>
                        <a:t>L</a:t>
                      </a:r>
                    </a:p>
                  </a:txBody>
                  <a:tcPr anchor="ctr">
                    <a:lnL>
                      <a:noFill/>
                    </a:lnL>
                    <a:lnR>
                      <a:noFill/>
                    </a:lnR>
                    <a:lnT>
                      <a:noFill/>
                    </a:lnT>
                    <a:lnB>
                      <a:noFill/>
                    </a:lnB>
                    <a:noFill/>
                  </a:tcPr>
                </a:tc>
                <a:tc>
                  <a:txBody>
                    <a:bodyPr/>
                    <a:lstStyle/>
                    <a:p>
                      <a:pPr>
                        <a:buNone/>
                      </a:pPr>
                      <a:r>
                        <a:rPr lang="en-IN"/>
                        <a:t>09, 53</a:t>
                      </a:r>
                    </a:p>
                  </a:txBody>
                  <a:tcPr anchor="ctr">
                    <a:lnL>
                      <a:noFill/>
                    </a:lnL>
                    <a:lnR>
                      <a:noFill/>
                    </a:lnR>
                    <a:lnT>
                      <a:noFill/>
                    </a:lnT>
                    <a:lnB>
                      <a:noFill/>
                    </a:lnB>
                    <a:noFill/>
                  </a:tcPr>
                </a:tc>
                <a:extLst>
                  <a:ext uri="{0D108BD9-81ED-4DB2-BD59-A6C34878D82A}">
                    <a16:rowId xmlns:a16="http://schemas.microsoft.com/office/drawing/2014/main" val="1816646070"/>
                  </a:ext>
                </a:extLst>
              </a:tr>
              <a:tr h="0">
                <a:tc>
                  <a:txBody>
                    <a:bodyPr/>
                    <a:lstStyle/>
                    <a:p>
                      <a:pPr>
                        <a:buNone/>
                      </a:pPr>
                      <a:r>
                        <a:rPr lang="en-IN"/>
                        <a:t>O</a:t>
                      </a:r>
                    </a:p>
                  </a:txBody>
                  <a:tcPr anchor="ctr">
                    <a:lnL>
                      <a:noFill/>
                    </a:lnL>
                    <a:lnR>
                      <a:noFill/>
                    </a:lnR>
                    <a:lnT>
                      <a:noFill/>
                    </a:lnT>
                    <a:lnB>
                      <a:noFill/>
                    </a:lnB>
                    <a:noFill/>
                  </a:tcPr>
                </a:tc>
                <a:tc>
                  <a:txBody>
                    <a:bodyPr/>
                    <a:lstStyle/>
                    <a:p>
                      <a:pPr>
                        <a:buNone/>
                      </a:pPr>
                      <a:r>
                        <a:rPr lang="en-IN"/>
                        <a:t>27, 71</a:t>
                      </a:r>
                    </a:p>
                  </a:txBody>
                  <a:tcPr anchor="ctr">
                    <a:lnL>
                      <a:noFill/>
                    </a:lnL>
                    <a:lnR>
                      <a:noFill/>
                    </a:lnR>
                    <a:lnT>
                      <a:noFill/>
                    </a:lnT>
                    <a:lnB>
                      <a:noFill/>
                    </a:lnB>
                    <a:noFill/>
                  </a:tcPr>
                </a:tc>
                <a:extLst>
                  <a:ext uri="{0D108BD9-81ED-4DB2-BD59-A6C34878D82A}">
                    <a16:rowId xmlns:a16="http://schemas.microsoft.com/office/drawing/2014/main" val="1791345909"/>
                  </a:ext>
                </a:extLst>
              </a:tr>
              <a:tr h="0">
                <a:tc>
                  <a:txBody>
                    <a:bodyPr/>
                    <a:lstStyle/>
                    <a:p>
                      <a:pPr>
                        <a:buNone/>
                      </a:pPr>
                      <a:r>
                        <a:rPr lang="en-IN"/>
                        <a:t>T</a:t>
                      </a:r>
                    </a:p>
                  </a:txBody>
                  <a:tcPr anchor="ctr">
                    <a:lnL>
                      <a:noFill/>
                    </a:lnL>
                    <a:lnR>
                      <a:noFill/>
                    </a:lnR>
                    <a:lnT>
                      <a:noFill/>
                    </a:lnT>
                    <a:lnB>
                      <a:noFill/>
                    </a:lnB>
                    <a:noFill/>
                  </a:tcPr>
                </a:tc>
                <a:tc>
                  <a:txBody>
                    <a:bodyPr/>
                    <a:lstStyle/>
                    <a:p>
                      <a:pPr>
                        <a:buNone/>
                      </a:pPr>
                      <a:r>
                        <a:rPr lang="en-IN" dirty="0"/>
                        <a:t>14, 38</a:t>
                      </a:r>
                    </a:p>
                  </a:txBody>
                  <a:tcPr anchor="ctr">
                    <a:lnL>
                      <a:noFill/>
                    </a:lnL>
                    <a:lnR>
                      <a:noFill/>
                    </a:lnR>
                    <a:lnT>
                      <a:noFill/>
                    </a:lnT>
                    <a:lnB>
                      <a:noFill/>
                    </a:lnB>
                    <a:noFill/>
                  </a:tcPr>
                </a:tc>
                <a:extLst>
                  <a:ext uri="{0D108BD9-81ED-4DB2-BD59-A6C34878D82A}">
                    <a16:rowId xmlns:a16="http://schemas.microsoft.com/office/drawing/2014/main" val="329472300"/>
                  </a:ext>
                </a:extLst>
              </a:tr>
            </a:tbl>
          </a:graphicData>
        </a:graphic>
      </p:graphicFrame>
    </p:spTree>
    <p:extLst>
      <p:ext uri="{BB962C8B-B14F-4D97-AF65-F5344CB8AC3E}">
        <p14:creationId xmlns:p14="http://schemas.microsoft.com/office/powerpoint/2010/main" val="2377691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E19A8A-1A2D-DA9B-1C60-C4608968942C}"/>
              </a:ext>
            </a:extLst>
          </p:cNvPr>
          <p:cNvSpPr>
            <a:spLocks noGrp="1"/>
          </p:cNvSpPr>
          <p:nvPr>
            <p:ph idx="1"/>
          </p:nvPr>
        </p:nvSpPr>
        <p:spPr>
          <a:xfrm>
            <a:off x="838200" y="157316"/>
            <a:ext cx="10515600" cy="6019647"/>
          </a:xfrm>
        </p:spPr>
        <p:txBody>
          <a:bodyPr>
            <a:normAutofit/>
          </a:bodyPr>
          <a:lstStyle/>
          <a:p>
            <a:pPr marL="0" indent="0">
              <a:buNone/>
            </a:pPr>
            <a:r>
              <a:rPr lang="en-IN" b="1" dirty="0"/>
              <a:t>Ciphertext</a:t>
            </a:r>
          </a:p>
          <a:p>
            <a:pPr marL="0" indent="0">
              <a:buNone/>
            </a:pPr>
            <a:r>
              <a:rPr lang="en-IN" b="1" dirty="0"/>
              <a:t>HELLOAT HOME → 22 31 53 09 71 45 14 22 27 06 64</a:t>
            </a:r>
            <a:endParaRPr lang="en-IN" dirty="0"/>
          </a:p>
          <a:p>
            <a:pPr marL="0" indent="0">
              <a:buNone/>
            </a:pPr>
            <a:r>
              <a:rPr lang="en-IN" b="1" dirty="0"/>
              <a:t>Why is it called "Homophonic"?</a:t>
            </a:r>
          </a:p>
          <a:p>
            <a:pPr marL="0" indent="0">
              <a:buNone/>
            </a:pPr>
            <a:r>
              <a:rPr lang="en-IN" dirty="0"/>
              <a:t>Notice that </a:t>
            </a:r>
            <a:r>
              <a:rPr lang="en-IN" b="1" dirty="0"/>
              <a:t>E</a:t>
            </a:r>
            <a:r>
              <a:rPr lang="en-IN" dirty="0"/>
              <a:t> has several possible ciphertexts:</a:t>
            </a:r>
          </a:p>
          <a:p>
            <a:pPr marL="0" indent="0">
              <a:buNone/>
            </a:pPr>
            <a:r>
              <a:rPr lang="en-IN" b="1" dirty="0"/>
              <a:t>E → 18 OR 31 OR 64</a:t>
            </a:r>
            <a:endParaRPr lang="en-IN" dirty="0"/>
          </a:p>
          <a:p>
            <a:pPr marL="0" indent="0">
              <a:buNone/>
            </a:pPr>
            <a:r>
              <a:rPr lang="en-IN" dirty="0"/>
              <a:t>Similarly:</a:t>
            </a:r>
          </a:p>
          <a:p>
            <a:pPr marL="0" indent="0">
              <a:buNone/>
            </a:pPr>
            <a:r>
              <a:rPr lang="en-IN" b="1" dirty="0"/>
              <a:t>L → 09 OR 53</a:t>
            </a:r>
            <a:endParaRPr lang="en-IN" dirty="0"/>
          </a:p>
          <a:p>
            <a:pPr marL="0" indent="0">
              <a:buNone/>
            </a:pPr>
            <a:r>
              <a:rPr lang="en-IN" dirty="0"/>
              <a:t>So, the </a:t>
            </a:r>
            <a:r>
              <a:rPr lang="en-IN" b="1" dirty="0"/>
              <a:t>same plaintext letter can be represented by different ciphertext symbols</a:t>
            </a:r>
            <a:r>
              <a:rPr lang="en-IN" dirty="0"/>
              <a:t>.</a:t>
            </a:r>
          </a:p>
          <a:p>
            <a:pPr marL="0" indent="0">
              <a:buNone/>
            </a:pPr>
            <a:r>
              <a:rPr lang="en-IN" b="1" dirty="0"/>
              <a:t>Simple definition:</a:t>
            </a:r>
            <a:endParaRPr lang="en-IN" dirty="0"/>
          </a:p>
          <a:p>
            <a:pPr marL="0" indent="0">
              <a:buNone/>
            </a:pPr>
            <a:r>
              <a:rPr lang="en-IN" b="1" dirty="0"/>
              <a:t>Homophonic substitution cipher = one plaintext letter → multiple possible ciphertext symbols.</a:t>
            </a:r>
            <a:endParaRPr lang="en-IN" dirty="0"/>
          </a:p>
          <a:p>
            <a:pPr marL="0" indent="0">
              <a:buNone/>
            </a:pPr>
            <a:endParaRPr lang="en-IN" dirty="0"/>
          </a:p>
        </p:txBody>
      </p:sp>
    </p:spTree>
    <p:extLst>
      <p:ext uri="{BB962C8B-B14F-4D97-AF65-F5344CB8AC3E}">
        <p14:creationId xmlns:p14="http://schemas.microsoft.com/office/powerpoint/2010/main" val="3361405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673AD-0484-E69A-6A06-8E2865993C4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FB15BEE-932C-24DD-B4D9-2013B8789A0B}"/>
              </a:ext>
            </a:extLst>
          </p:cNvPr>
          <p:cNvPicPr>
            <a:picLocks noGrp="1" noChangeAspect="1"/>
          </p:cNvPicPr>
          <p:nvPr>
            <p:ph idx="1"/>
          </p:nvPr>
        </p:nvPicPr>
        <p:blipFill>
          <a:blip r:embed="rId2"/>
          <a:stretch>
            <a:fillRect/>
          </a:stretch>
        </p:blipFill>
        <p:spPr>
          <a:xfrm>
            <a:off x="-68826" y="294968"/>
            <a:ext cx="11739716" cy="6351637"/>
          </a:xfrm>
          <a:prstGeom prst="rect">
            <a:avLst/>
          </a:prstGeom>
        </p:spPr>
      </p:pic>
    </p:spTree>
    <p:extLst>
      <p:ext uri="{BB962C8B-B14F-4D97-AF65-F5344CB8AC3E}">
        <p14:creationId xmlns:p14="http://schemas.microsoft.com/office/powerpoint/2010/main" val="19273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79E62-5E39-073C-887D-830D6E5BF097}"/>
              </a:ext>
            </a:extLst>
          </p:cNvPr>
          <p:cNvSpPr>
            <a:spLocks noGrp="1"/>
          </p:cNvSpPr>
          <p:nvPr>
            <p:ph type="title"/>
          </p:nvPr>
        </p:nvSpPr>
        <p:spPr/>
        <p:txBody>
          <a:bodyPr/>
          <a:lstStyle/>
          <a:p>
            <a:r>
              <a:rPr lang="en-IN" dirty="0"/>
              <a:t>Polygram substitution cipher</a:t>
            </a:r>
          </a:p>
        </p:txBody>
      </p:sp>
      <p:sp>
        <p:nvSpPr>
          <p:cNvPr id="3" name="Content Placeholder 2">
            <a:extLst>
              <a:ext uri="{FF2B5EF4-FFF2-40B4-BE49-F238E27FC236}">
                <a16:creationId xmlns:a16="http://schemas.microsoft.com/office/drawing/2014/main" id="{6263F12C-7891-88AF-D321-E7B65FC6C370}"/>
              </a:ext>
            </a:extLst>
          </p:cNvPr>
          <p:cNvSpPr>
            <a:spLocks noGrp="1"/>
          </p:cNvSpPr>
          <p:nvPr>
            <p:ph idx="1"/>
          </p:nvPr>
        </p:nvSpPr>
        <p:spPr/>
        <p:txBody>
          <a:bodyPr/>
          <a:lstStyle/>
          <a:p>
            <a:r>
              <a:rPr lang="en-US" dirty="0"/>
              <a:t>ABC</a:t>
            </a:r>
            <a:r>
              <a:rPr lang="en-US" dirty="0">
                <a:sym typeface="Wingdings" panose="05000000000000000000" pitchFamily="2" charset="2"/>
              </a:rPr>
              <a:t>WXY</a:t>
            </a:r>
          </a:p>
          <a:p>
            <a:r>
              <a:rPr lang="en-US" dirty="0">
                <a:sym typeface="Wingdings" panose="05000000000000000000" pitchFamily="2" charset="2"/>
              </a:rPr>
              <a:t>PQRHJI</a:t>
            </a:r>
          </a:p>
          <a:p>
            <a:r>
              <a:rPr lang="en-US" dirty="0">
                <a:sym typeface="Wingdings" panose="05000000000000000000" pitchFamily="2" charset="2"/>
              </a:rPr>
              <a:t>ABCPQRWXYHJI</a:t>
            </a:r>
            <a:endParaRPr lang="en-IN" dirty="0"/>
          </a:p>
        </p:txBody>
      </p:sp>
    </p:spTree>
    <p:extLst>
      <p:ext uri="{BB962C8B-B14F-4D97-AF65-F5344CB8AC3E}">
        <p14:creationId xmlns:p14="http://schemas.microsoft.com/office/powerpoint/2010/main" val="2957758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D29FF-D265-9FFE-8F06-3119D46F7DF9}"/>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082EBA46-8EFC-71AA-F62C-976968FA91A6}"/>
              </a:ext>
            </a:extLst>
          </p:cNvPr>
          <p:cNvSpPr>
            <a:spLocks noGrp="1"/>
          </p:cNvSpPr>
          <p:nvPr>
            <p:ph idx="1"/>
          </p:nvPr>
        </p:nvSpPr>
        <p:spPr/>
        <p:txBody>
          <a:bodyPr/>
          <a:lstStyle/>
          <a:p>
            <a:r>
              <a:rPr lang="en-IN" dirty="0"/>
              <a:t>Suppose we want to encrypt the statement:</a:t>
            </a:r>
          </a:p>
          <a:p>
            <a:r>
              <a:rPr lang="en-IN" b="1" dirty="0"/>
              <a:t>“MEET ME AT THE PARK”</a:t>
            </a:r>
            <a:endParaRPr lang="en-IN" dirty="0"/>
          </a:p>
          <a:p>
            <a:r>
              <a:rPr lang="en-IN" dirty="0"/>
              <a:t>For a </a:t>
            </a:r>
            <a:r>
              <a:rPr lang="en-IN" b="1" dirty="0"/>
              <a:t>3-letter </a:t>
            </a:r>
            <a:r>
              <a:rPr lang="en-IN" b="1" dirty="0" err="1"/>
              <a:t>polygram</a:t>
            </a:r>
            <a:r>
              <a:rPr lang="en-IN" b="1" dirty="0"/>
              <a:t> substitution</a:t>
            </a:r>
            <a:r>
              <a:rPr lang="en-IN" dirty="0"/>
              <a:t>, remove spaces and divide the message into groups of three:</a:t>
            </a:r>
          </a:p>
          <a:p>
            <a:r>
              <a:rPr lang="en-IN" b="1" dirty="0"/>
              <a:t>MEETMEATTHEPARK</a:t>
            </a:r>
            <a:endParaRPr lang="en-IN" dirty="0"/>
          </a:p>
          <a:p>
            <a:r>
              <a:rPr lang="en-IN" dirty="0"/>
              <a:t>→ </a:t>
            </a:r>
            <a:r>
              <a:rPr lang="en-IN" b="1" dirty="0"/>
              <a:t>MEE | TME | ATT | HEP | ARK</a:t>
            </a:r>
            <a:endParaRPr lang="en-IN" dirty="0"/>
          </a:p>
          <a:p>
            <a:endParaRPr lang="en-IN" dirty="0"/>
          </a:p>
        </p:txBody>
      </p:sp>
    </p:spTree>
    <p:extLst>
      <p:ext uri="{BB962C8B-B14F-4D97-AF65-F5344CB8AC3E}">
        <p14:creationId xmlns:p14="http://schemas.microsoft.com/office/powerpoint/2010/main" val="3270225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3370FE7-0A49-8050-4686-C349823C08A6}"/>
              </a:ext>
            </a:extLst>
          </p:cNvPr>
          <p:cNvGraphicFramePr>
            <a:graphicFrameLocks noGrp="1"/>
          </p:cNvGraphicFramePr>
          <p:nvPr>
            <p:ph idx="1"/>
            <p:extLst>
              <p:ext uri="{D42A27DB-BD31-4B8C-83A1-F6EECF244321}">
                <p14:modId xmlns:p14="http://schemas.microsoft.com/office/powerpoint/2010/main" val="2038911392"/>
              </p:ext>
            </p:extLst>
          </p:nvPr>
        </p:nvGraphicFramePr>
        <p:xfrm>
          <a:off x="838200" y="1347019"/>
          <a:ext cx="10515600" cy="4621164"/>
        </p:xfrm>
        <a:graphic>
          <a:graphicData uri="http://schemas.openxmlformats.org/drawingml/2006/table">
            <a:tbl>
              <a:tblPr/>
              <a:tblGrid>
                <a:gridCol w="5257800">
                  <a:extLst>
                    <a:ext uri="{9D8B030D-6E8A-4147-A177-3AD203B41FA5}">
                      <a16:colId xmlns:a16="http://schemas.microsoft.com/office/drawing/2014/main" val="351806109"/>
                    </a:ext>
                  </a:extLst>
                </a:gridCol>
                <a:gridCol w="5257800">
                  <a:extLst>
                    <a:ext uri="{9D8B030D-6E8A-4147-A177-3AD203B41FA5}">
                      <a16:colId xmlns:a16="http://schemas.microsoft.com/office/drawing/2014/main" val="705737909"/>
                    </a:ext>
                  </a:extLst>
                </a:gridCol>
              </a:tblGrid>
              <a:tr h="770194">
                <a:tc>
                  <a:txBody>
                    <a:bodyPr/>
                    <a:lstStyle/>
                    <a:p>
                      <a:pPr>
                        <a:buNone/>
                      </a:pPr>
                      <a:r>
                        <a:rPr lang="en-IN" b="1" dirty="0"/>
                        <a:t>Plaintext Polygram</a:t>
                      </a:r>
                    </a:p>
                  </a:txBody>
                  <a:tcPr anchor="ctr">
                    <a:lnL>
                      <a:noFill/>
                    </a:lnL>
                    <a:lnR>
                      <a:noFill/>
                    </a:lnR>
                    <a:lnT>
                      <a:noFill/>
                    </a:lnT>
                    <a:lnB>
                      <a:noFill/>
                    </a:lnB>
                    <a:noFill/>
                  </a:tcPr>
                </a:tc>
                <a:tc>
                  <a:txBody>
                    <a:bodyPr/>
                    <a:lstStyle/>
                    <a:p>
                      <a:pPr>
                        <a:buNone/>
                      </a:pPr>
                      <a:r>
                        <a:rPr lang="en-IN" b="1" dirty="0"/>
                        <a:t>Ciphertext Polygram</a:t>
                      </a:r>
                    </a:p>
                  </a:txBody>
                  <a:tcPr anchor="ctr">
                    <a:lnL>
                      <a:noFill/>
                    </a:lnL>
                    <a:lnR>
                      <a:noFill/>
                    </a:lnR>
                    <a:lnT>
                      <a:noFill/>
                    </a:lnT>
                    <a:lnB>
                      <a:noFill/>
                    </a:lnB>
                    <a:noFill/>
                  </a:tcPr>
                </a:tc>
                <a:extLst>
                  <a:ext uri="{0D108BD9-81ED-4DB2-BD59-A6C34878D82A}">
                    <a16:rowId xmlns:a16="http://schemas.microsoft.com/office/drawing/2014/main" val="1930544261"/>
                  </a:ext>
                </a:extLst>
              </a:tr>
              <a:tr h="770194">
                <a:tc>
                  <a:txBody>
                    <a:bodyPr/>
                    <a:lstStyle/>
                    <a:p>
                      <a:pPr>
                        <a:buNone/>
                      </a:pPr>
                      <a:r>
                        <a:rPr lang="en-IN"/>
                        <a:t>MEE</a:t>
                      </a:r>
                    </a:p>
                  </a:txBody>
                  <a:tcPr anchor="ctr">
                    <a:lnL>
                      <a:noFill/>
                    </a:lnL>
                    <a:lnR>
                      <a:noFill/>
                    </a:lnR>
                    <a:lnT>
                      <a:noFill/>
                    </a:lnT>
                    <a:lnB>
                      <a:noFill/>
                    </a:lnB>
                    <a:noFill/>
                  </a:tcPr>
                </a:tc>
                <a:tc>
                  <a:txBody>
                    <a:bodyPr/>
                    <a:lstStyle/>
                    <a:p>
                      <a:pPr>
                        <a:buNone/>
                      </a:pPr>
                      <a:r>
                        <a:rPr lang="en-IN"/>
                        <a:t>QXZ</a:t>
                      </a:r>
                    </a:p>
                  </a:txBody>
                  <a:tcPr anchor="ctr">
                    <a:lnL>
                      <a:noFill/>
                    </a:lnL>
                    <a:lnR>
                      <a:noFill/>
                    </a:lnR>
                    <a:lnT>
                      <a:noFill/>
                    </a:lnT>
                    <a:lnB>
                      <a:noFill/>
                    </a:lnB>
                    <a:noFill/>
                  </a:tcPr>
                </a:tc>
                <a:extLst>
                  <a:ext uri="{0D108BD9-81ED-4DB2-BD59-A6C34878D82A}">
                    <a16:rowId xmlns:a16="http://schemas.microsoft.com/office/drawing/2014/main" val="3508412138"/>
                  </a:ext>
                </a:extLst>
              </a:tr>
              <a:tr h="770194">
                <a:tc>
                  <a:txBody>
                    <a:bodyPr/>
                    <a:lstStyle/>
                    <a:p>
                      <a:pPr>
                        <a:buNone/>
                      </a:pPr>
                      <a:r>
                        <a:rPr lang="en-IN"/>
                        <a:t>TME</a:t>
                      </a:r>
                    </a:p>
                  </a:txBody>
                  <a:tcPr anchor="ctr">
                    <a:lnL>
                      <a:noFill/>
                    </a:lnL>
                    <a:lnR>
                      <a:noFill/>
                    </a:lnR>
                    <a:lnT>
                      <a:noFill/>
                    </a:lnT>
                    <a:lnB>
                      <a:noFill/>
                    </a:lnB>
                    <a:noFill/>
                  </a:tcPr>
                </a:tc>
                <a:tc>
                  <a:txBody>
                    <a:bodyPr/>
                    <a:lstStyle/>
                    <a:p>
                      <a:pPr>
                        <a:buNone/>
                      </a:pPr>
                      <a:r>
                        <a:rPr lang="en-IN"/>
                        <a:t>LKP</a:t>
                      </a:r>
                    </a:p>
                  </a:txBody>
                  <a:tcPr anchor="ctr">
                    <a:lnL>
                      <a:noFill/>
                    </a:lnL>
                    <a:lnR>
                      <a:noFill/>
                    </a:lnR>
                    <a:lnT>
                      <a:noFill/>
                    </a:lnT>
                    <a:lnB>
                      <a:noFill/>
                    </a:lnB>
                    <a:noFill/>
                  </a:tcPr>
                </a:tc>
                <a:extLst>
                  <a:ext uri="{0D108BD9-81ED-4DB2-BD59-A6C34878D82A}">
                    <a16:rowId xmlns:a16="http://schemas.microsoft.com/office/drawing/2014/main" val="983057687"/>
                  </a:ext>
                </a:extLst>
              </a:tr>
              <a:tr h="770194">
                <a:tc>
                  <a:txBody>
                    <a:bodyPr/>
                    <a:lstStyle/>
                    <a:p>
                      <a:pPr>
                        <a:buNone/>
                      </a:pPr>
                      <a:r>
                        <a:rPr lang="en-IN"/>
                        <a:t>ATT</a:t>
                      </a:r>
                    </a:p>
                  </a:txBody>
                  <a:tcPr anchor="ctr">
                    <a:lnL>
                      <a:noFill/>
                    </a:lnL>
                    <a:lnR>
                      <a:noFill/>
                    </a:lnR>
                    <a:lnT>
                      <a:noFill/>
                    </a:lnT>
                    <a:lnB>
                      <a:noFill/>
                    </a:lnB>
                    <a:noFill/>
                  </a:tcPr>
                </a:tc>
                <a:tc>
                  <a:txBody>
                    <a:bodyPr/>
                    <a:lstStyle/>
                    <a:p>
                      <a:pPr>
                        <a:buNone/>
                      </a:pPr>
                      <a:r>
                        <a:rPr lang="en-IN"/>
                        <a:t>WNR</a:t>
                      </a:r>
                    </a:p>
                  </a:txBody>
                  <a:tcPr anchor="ctr">
                    <a:lnL>
                      <a:noFill/>
                    </a:lnL>
                    <a:lnR>
                      <a:noFill/>
                    </a:lnR>
                    <a:lnT>
                      <a:noFill/>
                    </a:lnT>
                    <a:lnB>
                      <a:noFill/>
                    </a:lnB>
                    <a:noFill/>
                  </a:tcPr>
                </a:tc>
                <a:extLst>
                  <a:ext uri="{0D108BD9-81ED-4DB2-BD59-A6C34878D82A}">
                    <a16:rowId xmlns:a16="http://schemas.microsoft.com/office/drawing/2014/main" val="2958638793"/>
                  </a:ext>
                </a:extLst>
              </a:tr>
              <a:tr h="770194">
                <a:tc>
                  <a:txBody>
                    <a:bodyPr/>
                    <a:lstStyle/>
                    <a:p>
                      <a:pPr>
                        <a:buNone/>
                      </a:pPr>
                      <a:r>
                        <a:rPr lang="en-IN"/>
                        <a:t>HEP</a:t>
                      </a:r>
                    </a:p>
                  </a:txBody>
                  <a:tcPr anchor="ctr">
                    <a:lnL>
                      <a:noFill/>
                    </a:lnL>
                    <a:lnR>
                      <a:noFill/>
                    </a:lnR>
                    <a:lnT>
                      <a:noFill/>
                    </a:lnT>
                    <a:lnB>
                      <a:noFill/>
                    </a:lnB>
                    <a:noFill/>
                  </a:tcPr>
                </a:tc>
                <a:tc>
                  <a:txBody>
                    <a:bodyPr/>
                    <a:lstStyle/>
                    <a:p>
                      <a:pPr>
                        <a:buNone/>
                      </a:pPr>
                      <a:r>
                        <a:rPr lang="en-IN"/>
                        <a:t>BGT</a:t>
                      </a:r>
                    </a:p>
                  </a:txBody>
                  <a:tcPr anchor="ctr">
                    <a:lnL>
                      <a:noFill/>
                    </a:lnL>
                    <a:lnR>
                      <a:noFill/>
                    </a:lnR>
                    <a:lnT>
                      <a:noFill/>
                    </a:lnT>
                    <a:lnB>
                      <a:noFill/>
                    </a:lnB>
                    <a:noFill/>
                  </a:tcPr>
                </a:tc>
                <a:extLst>
                  <a:ext uri="{0D108BD9-81ED-4DB2-BD59-A6C34878D82A}">
                    <a16:rowId xmlns:a16="http://schemas.microsoft.com/office/drawing/2014/main" val="2050099235"/>
                  </a:ext>
                </a:extLst>
              </a:tr>
              <a:tr h="770194">
                <a:tc>
                  <a:txBody>
                    <a:bodyPr/>
                    <a:lstStyle/>
                    <a:p>
                      <a:pPr>
                        <a:buNone/>
                      </a:pPr>
                      <a:r>
                        <a:rPr lang="en-IN"/>
                        <a:t>ARK</a:t>
                      </a:r>
                    </a:p>
                  </a:txBody>
                  <a:tcPr anchor="ctr">
                    <a:lnL>
                      <a:noFill/>
                    </a:lnL>
                    <a:lnR>
                      <a:noFill/>
                    </a:lnR>
                    <a:lnT>
                      <a:noFill/>
                    </a:lnT>
                    <a:lnB>
                      <a:noFill/>
                    </a:lnB>
                    <a:noFill/>
                  </a:tcPr>
                </a:tc>
                <a:tc>
                  <a:txBody>
                    <a:bodyPr/>
                    <a:lstStyle/>
                    <a:p>
                      <a:pPr>
                        <a:buNone/>
                      </a:pPr>
                      <a:r>
                        <a:rPr lang="en-IN" dirty="0"/>
                        <a:t>YHJ</a:t>
                      </a:r>
                    </a:p>
                  </a:txBody>
                  <a:tcPr anchor="ctr">
                    <a:lnL>
                      <a:noFill/>
                    </a:lnL>
                    <a:lnR>
                      <a:noFill/>
                    </a:lnR>
                    <a:lnT>
                      <a:noFill/>
                    </a:lnT>
                    <a:lnB>
                      <a:noFill/>
                    </a:lnB>
                    <a:noFill/>
                  </a:tcPr>
                </a:tc>
                <a:extLst>
                  <a:ext uri="{0D108BD9-81ED-4DB2-BD59-A6C34878D82A}">
                    <a16:rowId xmlns:a16="http://schemas.microsoft.com/office/drawing/2014/main" val="2985150474"/>
                  </a:ext>
                </a:extLst>
              </a:tr>
            </a:tbl>
          </a:graphicData>
        </a:graphic>
      </p:graphicFrame>
    </p:spTree>
    <p:extLst>
      <p:ext uri="{BB962C8B-B14F-4D97-AF65-F5344CB8AC3E}">
        <p14:creationId xmlns:p14="http://schemas.microsoft.com/office/powerpoint/2010/main" val="1599799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803DE-2D1E-2530-21B1-FE8C842E9E0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Transposition Cipher Technique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70CCEE-10BC-8570-98C9-681E21074461}"/>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Transposition Cipher Technique is an encryption method </a:t>
            </a:r>
            <a:r>
              <a:rPr lang="en-IN" b="1" dirty="0">
                <a:latin typeface="Times New Roman" panose="02020603050405020304" pitchFamily="18" charset="0"/>
                <a:cs typeface="Times New Roman" panose="02020603050405020304" pitchFamily="18" charset="0"/>
              </a:rPr>
              <a:t>used to encrypt a message or information. </a:t>
            </a:r>
          </a:p>
          <a:p>
            <a:r>
              <a:rPr lang="en-IN" dirty="0">
                <a:latin typeface="Times New Roman" panose="02020603050405020304" pitchFamily="18" charset="0"/>
                <a:cs typeface="Times New Roman" panose="02020603050405020304" pitchFamily="18" charset="0"/>
              </a:rPr>
              <a:t>This encryption method is </a:t>
            </a:r>
            <a:r>
              <a:rPr lang="en-IN" b="1" dirty="0">
                <a:latin typeface="Times New Roman" panose="02020603050405020304" pitchFamily="18" charset="0"/>
                <a:cs typeface="Times New Roman" panose="02020603050405020304" pitchFamily="18" charset="0"/>
              </a:rPr>
              <a:t>done by playing with the position of letters of the plain text. </a:t>
            </a:r>
          </a:p>
          <a:p>
            <a:r>
              <a:rPr lang="en-IN" dirty="0">
                <a:latin typeface="Times New Roman" panose="02020603050405020304" pitchFamily="18" charset="0"/>
                <a:cs typeface="Times New Roman" panose="02020603050405020304" pitchFamily="18" charset="0"/>
              </a:rPr>
              <a:t>The</a:t>
            </a:r>
            <a:r>
              <a:rPr lang="en-IN" b="1" dirty="0">
                <a:latin typeface="Times New Roman" panose="02020603050405020304" pitchFamily="18" charset="0"/>
                <a:cs typeface="Times New Roman" panose="02020603050405020304" pitchFamily="18" charset="0"/>
              </a:rPr>
              <a:t> positions of the characters present in the plaintext are rearranged or shifted </a:t>
            </a:r>
            <a:r>
              <a:rPr lang="en-IN" dirty="0">
                <a:latin typeface="Times New Roman" panose="02020603050405020304" pitchFamily="18" charset="0"/>
                <a:cs typeface="Times New Roman" panose="02020603050405020304" pitchFamily="18" charset="0"/>
              </a:rPr>
              <a:t>to form the ciphertext. </a:t>
            </a:r>
          </a:p>
          <a:p>
            <a:r>
              <a:rPr lang="en-IN" dirty="0">
                <a:latin typeface="Times New Roman" panose="02020603050405020304" pitchFamily="18" charset="0"/>
                <a:cs typeface="Times New Roman" panose="02020603050405020304" pitchFamily="18" charset="0"/>
              </a:rPr>
              <a:t>It makes use of </a:t>
            </a:r>
            <a:r>
              <a:rPr lang="en-IN" b="1" dirty="0">
                <a:latin typeface="Times New Roman" panose="02020603050405020304" pitchFamily="18" charset="0"/>
                <a:cs typeface="Times New Roman" panose="02020603050405020304" pitchFamily="18" charset="0"/>
              </a:rPr>
              <a:t>some kind of permutation function </a:t>
            </a:r>
            <a:r>
              <a:rPr lang="en-IN" dirty="0">
                <a:latin typeface="Times New Roman" panose="02020603050405020304" pitchFamily="18" charset="0"/>
                <a:cs typeface="Times New Roman" panose="02020603050405020304" pitchFamily="18" charset="0"/>
              </a:rPr>
              <a:t>to achieve the encryption purpose. </a:t>
            </a:r>
          </a:p>
          <a:p>
            <a:r>
              <a:rPr lang="en-IN" dirty="0">
                <a:latin typeface="Times New Roman" panose="02020603050405020304" pitchFamily="18" charset="0"/>
                <a:cs typeface="Times New Roman" panose="02020603050405020304" pitchFamily="18" charset="0"/>
              </a:rPr>
              <a:t>It is </a:t>
            </a:r>
            <a:r>
              <a:rPr lang="en-IN" b="1" dirty="0">
                <a:latin typeface="Times New Roman" panose="02020603050405020304" pitchFamily="18" charset="0"/>
                <a:cs typeface="Times New Roman" panose="02020603050405020304" pitchFamily="18" charset="0"/>
              </a:rPr>
              <a:t>very easy to use and so simple to implement</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08731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CA99B-0338-2B80-8EB5-951B64D49E1B}"/>
              </a:ext>
            </a:extLst>
          </p:cNvPr>
          <p:cNvSpPr>
            <a:spLocks noGrp="1"/>
          </p:cNvSpPr>
          <p:nvPr>
            <p:ph type="title"/>
          </p:nvPr>
        </p:nvSpPr>
        <p:spPr>
          <a:xfrm>
            <a:off x="838200" y="335629"/>
            <a:ext cx="10515600" cy="1325563"/>
          </a:xfrm>
        </p:spPr>
        <p:txBody>
          <a:bodyPr/>
          <a:lstStyle/>
          <a:p>
            <a:r>
              <a:rPr lang="en-IN" b="1" dirty="0">
                <a:latin typeface="Times New Roman" panose="02020603050405020304" pitchFamily="18" charset="0"/>
                <a:cs typeface="Times New Roman" panose="02020603050405020304" pitchFamily="18" charset="0"/>
              </a:rPr>
              <a:t>Types of Transposition Cipher Techniques</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AE333AC-453F-CD77-4871-021DCED02952}"/>
              </a:ext>
            </a:extLst>
          </p:cNvPr>
          <p:cNvSpPr>
            <a:spLocks noGrp="1"/>
          </p:cNvSpPr>
          <p:nvPr>
            <p:ph idx="1"/>
          </p:nvPr>
        </p:nvSpPr>
        <p:spPr/>
        <p:txBody>
          <a:bodyPr/>
          <a:lstStyle/>
          <a:p>
            <a:pPr marL="0" indent="0" fontAlgn="base">
              <a:buNone/>
            </a:pPr>
            <a:r>
              <a:rPr lang="en-IN" dirty="0">
                <a:latin typeface="Times New Roman" panose="02020603050405020304" pitchFamily="18" charset="0"/>
                <a:cs typeface="Times New Roman" panose="02020603050405020304" pitchFamily="18" charset="0"/>
              </a:rPr>
              <a:t>There are three types of transposition cipher techniques</a:t>
            </a:r>
          </a:p>
          <a:p>
            <a:pPr marL="0" indent="0" fontAlgn="base">
              <a:buNone/>
            </a:pPr>
            <a:endParaRPr lang="en-IN" dirty="0">
              <a:latin typeface="Times New Roman" panose="02020603050405020304" pitchFamily="18" charset="0"/>
              <a:cs typeface="Times New Roman" panose="02020603050405020304" pitchFamily="18" charset="0"/>
            </a:endParaRPr>
          </a:p>
          <a:p>
            <a:pPr lvl="0" fontAlgn="base"/>
            <a:r>
              <a:rPr lang="en-IN" dirty="0">
                <a:latin typeface="Times New Roman" panose="02020603050405020304" pitchFamily="18" charset="0"/>
                <a:cs typeface="Times New Roman" panose="02020603050405020304" pitchFamily="18" charset="0"/>
              </a:rPr>
              <a:t>Rail Fence Transposition Cipher</a:t>
            </a:r>
          </a:p>
          <a:p>
            <a:pPr lvl="0" fontAlgn="base"/>
            <a:r>
              <a:rPr lang="en-IN" dirty="0">
                <a:latin typeface="Times New Roman" panose="02020603050405020304" pitchFamily="18" charset="0"/>
                <a:cs typeface="Times New Roman" panose="02020603050405020304" pitchFamily="18" charset="0"/>
              </a:rPr>
              <a:t>Block (Single Columnar) Transposition Cipher</a:t>
            </a:r>
          </a:p>
          <a:p>
            <a:pPr lvl="0" fontAlgn="base"/>
            <a:r>
              <a:rPr lang="en-IN" dirty="0">
                <a:latin typeface="Times New Roman" panose="02020603050405020304" pitchFamily="18" charset="0"/>
                <a:cs typeface="Times New Roman" panose="02020603050405020304" pitchFamily="18" charset="0"/>
              </a:rPr>
              <a:t>Double Columnar Transposition Cipher</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012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203A1-BA1C-3770-9F17-C239D1611F5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Rail Fence Transposition Cipher</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C85F9F4-5326-033B-B2CB-8427359CEE24}"/>
              </a:ext>
            </a:extLst>
          </p:cNvPr>
          <p:cNvSpPr>
            <a:spLocks noGrp="1"/>
          </p:cNvSpPr>
          <p:nvPr>
            <p:ph idx="1"/>
          </p:nvPr>
        </p:nvSpPr>
        <p:spPr/>
        <p:txBody>
          <a:bodyPr/>
          <a:lstStyle/>
          <a:p>
            <a:pPr fontAlgn="base"/>
            <a:r>
              <a:rPr lang="en-IN" dirty="0">
                <a:latin typeface="Times New Roman" panose="02020603050405020304" pitchFamily="18" charset="0"/>
                <a:cs typeface="Times New Roman" panose="02020603050405020304" pitchFamily="18" charset="0"/>
              </a:rPr>
              <a:t>Rail Fence Transposition cipher technique is the simplest transposition cipher </a:t>
            </a:r>
            <a:r>
              <a:rPr lang="en-IN" b="1" dirty="0">
                <a:latin typeface="Times New Roman" panose="02020603050405020304" pitchFamily="18" charset="0"/>
                <a:cs typeface="Times New Roman" panose="02020603050405020304" pitchFamily="18" charset="0"/>
              </a:rPr>
              <a:t>its</a:t>
            </a:r>
            <a:r>
              <a:rPr lang="en-IN" dirty="0">
                <a:latin typeface="Times New Roman" panose="02020603050405020304" pitchFamily="18" charset="0"/>
                <a:cs typeface="Times New Roman" panose="02020603050405020304" pitchFamily="18" charset="0"/>
              </a:rPr>
              <a:t>.</a:t>
            </a:r>
          </a:p>
          <a:p>
            <a:pPr fontAlgn="base"/>
            <a:r>
              <a:rPr lang="en-IN" dirty="0">
                <a:latin typeface="Times New Roman" panose="02020603050405020304" pitchFamily="18" charset="0"/>
                <a:cs typeface="Times New Roman" panose="02020603050405020304" pitchFamily="18" charset="0"/>
              </a:rPr>
              <a:t> It is also termed as </a:t>
            </a:r>
            <a:r>
              <a:rPr lang="en-IN" b="1" dirty="0">
                <a:latin typeface="Times New Roman" panose="02020603050405020304" pitchFamily="18" charset="0"/>
                <a:cs typeface="Times New Roman" panose="02020603050405020304" pitchFamily="18" charset="0"/>
              </a:rPr>
              <a:t>a zigzag cipher</a:t>
            </a:r>
            <a:r>
              <a:rPr lang="en-IN" dirty="0">
                <a:latin typeface="Times New Roman" panose="02020603050405020304" pitchFamily="18" charset="0"/>
                <a:cs typeface="Times New Roman" panose="02020603050405020304" pitchFamily="18" charset="0"/>
              </a:rPr>
              <a:t>. </a:t>
            </a:r>
          </a:p>
          <a:p>
            <a:pPr fontAlgn="base"/>
            <a:r>
              <a:rPr lang="en-IN" dirty="0">
                <a:latin typeface="Times New Roman" panose="02020603050405020304" pitchFamily="18" charset="0"/>
                <a:cs typeface="Times New Roman" panose="02020603050405020304" pitchFamily="18" charset="0"/>
              </a:rPr>
              <a:t>It gets its name from the way through which it performs encryption of plain text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713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8B317-323F-5812-266D-404FF6979D23}"/>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Technique of Rail Fence Transposition Cipher</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795C6E5-8163-3E18-DF75-BFD877606ACA}"/>
              </a:ext>
            </a:extLst>
          </p:cNvPr>
          <p:cNvSpPr>
            <a:spLocks noGrp="1"/>
          </p:cNvSpPr>
          <p:nvPr>
            <p:ph idx="1"/>
          </p:nvPr>
        </p:nvSpPr>
        <p:spPr/>
        <p:txBody>
          <a:bodyPr/>
          <a:lstStyle/>
          <a:p>
            <a:pPr fontAlgn="base"/>
            <a:r>
              <a:rPr lang="en-IN" b="1"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The plain text is "Hello Krishna"</a:t>
            </a:r>
          </a:p>
          <a:p>
            <a:pPr fontAlgn="base"/>
            <a:r>
              <a:rPr lang="en-IN" dirty="0">
                <a:latin typeface="Times New Roman" panose="02020603050405020304" pitchFamily="18" charset="0"/>
                <a:cs typeface="Times New Roman" panose="02020603050405020304" pitchFamily="18" charset="0"/>
              </a:rPr>
              <a:t>Now, we will write this plain text in the diagonal form:</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2417EA6-268C-397D-EF22-F1238B10172A}"/>
              </a:ext>
            </a:extLst>
          </p:cNvPr>
          <p:cNvPicPr>
            <a:picLocks noChangeAspect="1"/>
          </p:cNvPicPr>
          <p:nvPr/>
        </p:nvPicPr>
        <p:blipFill>
          <a:blip r:embed="rId2"/>
          <a:stretch>
            <a:fillRect/>
          </a:stretch>
        </p:blipFill>
        <p:spPr>
          <a:xfrm>
            <a:off x="641554" y="2979174"/>
            <a:ext cx="9849465" cy="2323998"/>
          </a:xfrm>
          <a:prstGeom prst="rect">
            <a:avLst/>
          </a:prstGeom>
        </p:spPr>
      </p:pic>
      <p:sp>
        <p:nvSpPr>
          <p:cNvPr id="9" name="TextBox 8">
            <a:extLst>
              <a:ext uri="{FF2B5EF4-FFF2-40B4-BE49-F238E27FC236}">
                <a16:creationId xmlns:a16="http://schemas.microsoft.com/office/drawing/2014/main" id="{51D90D0C-50A3-DA5C-C18B-12875F369C69}"/>
              </a:ext>
            </a:extLst>
          </p:cNvPr>
          <p:cNvSpPr txBox="1"/>
          <p:nvPr/>
        </p:nvSpPr>
        <p:spPr>
          <a:xfrm>
            <a:off x="1838633" y="5778811"/>
            <a:ext cx="6096000" cy="523220"/>
          </a:xfrm>
          <a:prstGeom prst="rect">
            <a:avLst/>
          </a:prstGeom>
          <a:noFill/>
        </p:spPr>
        <p:txBody>
          <a:bodyPr wrap="square">
            <a:spAutoFit/>
          </a:bodyPr>
          <a:lstStyle/>
          <a:p>
            <a:r>
              <a:rPr lang="en-IN" sz="2800" b="1" i="0" spc="12" dirty="0">
                <a:solidFill>
                  <a:srgbClr val="273239"/>
                </a:solidFill>
                <a:effectLst/>
                <a:latin typeface="Nunito" pitchFamily="2" charset="0"/>
              </a:rPr>
              <a:t>Cipher Text = “</a:t>
            </a:r>
            <a:r>
              <a:rPr lang="en-IN" sz="2800" b="1" i="0" spc="12" dirty="0" err="1">
                <a:solidFill>
                  <a:srgbClr val="273239"/>
                </a:solidFill>
                <a:effectLst/>
                <a:latin typeface="Nunito" pitchFamily="2" charset="0"/>
              </a:rPr>
              <a:t>hlorsnelkiha</a:t>
            </a:r>
            <a:r>
              <a:rPr lang="en-IN" sz="2800" b="1" i="0" spc="12" dirty="0">
                <a:solidFill>
                  <a:srgbClr val="273239"/>
                </a:solidFill>
                <a:effectLst/>
                <a:latin typeface="Nunito" pitchFamily="2" charset="0"/>
              </a:rPr>
              <a:t>"</a:t>
            </a:r>
            <a:endParaRPr lang="en-IN" sz="4000" b="1" dirty="0"/>
          </a:p>
        </p:txBody>
      </p:sp>
    </p:spTree>
    <p:extLst>
      <p:ext uri="{BB962C8B-B14F-4D97-AF65-F5344CB8AC3E}">
        <p14:creationId xmlns:p14="http://schemas.microsoft.com/office/powerpoint/2010/main" val="3767533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F12BE-D439-374E-969E-7E441360D8A9}"/>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Block (Single Columnar) Transposition Cipher</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01A4E28-B778-0B2A-CDDF-9BDA2BDC302C}"/>
              </a:ext>
            </a:extLst>
          </p:cNvPr>
          <p:cNvSpPr>
            <a:spLocks noGrp="1"/>
          </p:cNvSpPr>
          <p:nvPr>
            <p:ph idx="1"/>
          </p:nvPr>
        </p:nvSpPr>
        <p:spPr/>
        <p:txBody>
          <a:bodyPr>
            <a:normAutofit fontScale="92500"/>
          </a:bodyPr>
          <a:lstStyle/>
          <a:p>
            <a:pPr marL="0" indent="0" fontAlgn="base">
              <a:buNone/>
            </a:pPr>
            <a:r>
              <a:rPr lang="en-IN" dirty="0">
                <a:latin typeface="Times New Roman" panose="02020603050405020304" pitchFamily="18" charset="0"/>
                <a:cs typeface="Times New Roman" panose="02020603050405020304" pitchFamily="18" charset="0"/>
              </a:rPr>
              <a:t>Block Transposition Cipher is another form of Transposition Cipher which was used to encrypt the message or information. In this technique, first, we write the message or plaintext in rows. After that, we read the message column by column. In this technique, we use a keyword to determine the no of rows.</a:t>
            </a:r>
          </a:p>
          <a:p>
            <a:pPr marL="0" lvl="0" indent="0" fontAlgn="base">
              <a:buNone/>
            </a:pPr>
            <a:r>
              <a:rPr lang="en-IN" b="1" dirty="0">
                <a:latin typeface="Times New Roman" panose="02020603050405020304" pitchFamily="18" charset="0"/>
                <a:cs typeface="Times New Roman" panose="02020603050405020304" pitchFamily="18" charset="0"/>
              </a:rPr>
              <a:t>Step 1: </a:t>
            </a:r>
            <a:r>
              <a:rPr lang="en-IN" dirty="0">
                <a:latin typeface="Times New Roman" panose="02020603050405020304" pitchFamily="18" charset="0"/>
                <a:cs typeface="Times New Roman" panose="02020603050405020304" pitchFamily="18" charset="0"/>
              </a:rPr>
              <a:t>First we write the message in the form of rows and columns, and read the message column by column.</a:t>
            </a:r>
          </a:p>
          <a:p>
            <a:pPr marL="0" lvl="0" indent="0" fontAlgn="base">
              <a:buNone/>
            </a:pPr>
            <a:r>
              <a:rPr lang="en-IN" b="1" dirty="0">
                <a:latin typeface="Times New Roman" panose="02020603050405020304" pitchFamily="18" charset="0"/>
                <a:cs typeface="Times New Roman" panose="02020603050405020304" pitchFamily="18" charset="0"/>
              </a:rPr>
              <a:t>Step 2: </a:t>
            </a:r>
            <a:r>
              <a:rPr lang="en-IN" dirty="0">
                <a:latin typeface="Times New Roman" panose="02020603050405020304" pitchFamily="18" charset="0"/>
                <a:cs typeface="Times New Roman" panose="02020603050405020304" pitchFamily="18" charset="0"/>
              </a:rPr>
              <a:t>Given a keyword, which we will use to fix the number of rows.</a:t>
            </a:r>
          </a:p>
          <a:p>
            <a:pPr marL="0" lvl="0" indent="0" fontAlgn="base">
              <a:buNone/>
            </a:pPr>
            <a:r>
              <a:rPr lang="en-IN" b="1" dirty="0">
                <a:latin typeface="Times New Roman" panose="02020603050405020304" pitchFamily="18" charset="0"/>
                <a:cs typeface="Times New Roman" panose="02020603050405020304" pitchFamily="18" charset="0"/>
              </a:rPr>
              <a:t>Step 3</a:t>
            </a:r>
            <a:r>
              <a:rPr lang="en-IN" dirty="0">
                <a:latin typeface="Times New Roman" panose="02020603050405020304" pitchFamily="18" charset="0"/>
                <a:cs typeface="Times New Roman" panose="02020603050405020304" pitchFamily="18" charset="0"/>
              </a:rPr>
              <a:t>: If any space is spared, it is filled with null or left blank or in by (_).</a:t>
            </a:r>
          </a:p>
          <a:p>
            <a:pPr marL="0" lvl="0" indent="0" fontAlgn="base">
              <a:buNone/>
            </a:pPr>
            <a:r>
              <a:rPr lang="en-IN" b="1" dirty="0">
                <a:latin typeface="Times New Roman" panose="02020603050405020304" pitchFamily="18" charset="0"/>
                <a:cs typeface="Times New Roman" panose="02020603050405020304" pitchFamily="18" charset="0"/>
              </a:rPr>
              <a:t>Step 4</a:t>
            </a:r>
            <a:r>
              <a:rPr lang="en-IN" dirty="0">
                <a:latin typeface="Times New Roman" panose="02020603050405020304" pitchFamily="18" charset="0"/>
                <a:cs typeface="Times New Roman" panose="02020603050405020304" pitchFamily="18" charset="0"/>
              </a:rPr>
              <a:t>: The message is read in the order as specified by the keyword.</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289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31106-2150-586F-6A65-50BB75AEE6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BBC1A6-38D0-F6B8-28C9-410AF7FA5A2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6F98079-E92B-B1BE-BC19-492E40590D56}"/>
              </a:ext>
            </a:extLst>
          </p:cNvPr>
          <p:cNvPicPr>
            <a:picLocks noChangeAspect="1"/>
          </p:cNvPicPr>
          <p:nvPr/>
        </p:nvPicPr>
        <p:blipFill>
          <a:blip r:embed="rId2"/>
          <a:stretch>
            <a:fillRect/>
          </a:stretch>
        </p:blipFill>
        <p:spPr>
          <a:xfrm>
            <a:off x="216310" y="0"/>
            <a:ext cx="11316929" cy="6656439"/>
          </a:xfrm>
          <a:prstGeom prst="rect">
            <a:avLst/>
          </a:prstGeom>
        </p:spPr>
      </p:pic>
    </p:spTree>
    <p:extLst>
      <p:ext uri="{BB962C8B-B14F-4D97-AF65-F5344CB8AC3E}">
        <p14:creationId xmlns:p14="http://schemas.microsoft.com/office/powerpoint/2010/main" val="1969323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64C6B-44A1-0D3C-566A-90106655456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For example:</a:t>
            </a:r>
            <a:r>
              <a:rPr lang="en-IN" dirty="0">
                <a:latin typeface="Times New Roman" panose="02020603050405020304" pitchFamily="18"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7F6C0B1D-134B-0DEF-460F-3BD60A30BF55}"/>
              </a:ext>
            </a:extLst>
          </p:cNvPr>
          <p:cNvSpPr>
            <a:spLocks noGrp="1"/>
          </p:cNvSpPr>
          <p:nvPr>
            <p:ph idx="1"/>
          </p:nvPr>
        </p:nvSpPr>
        <p:spPr/>
        <p:txBody>
          <a:bodyPr/>
          <a:lstStyle/>
          <a:p>
            <a:pPr marL="0" indent="0" fontAlgn="base">
              <a:buNone/>
            </a:pPr>
            <a:r>
              <a:rPr lang="en-IN" dirty="0">
                <a:latin typeface="Times New Roman" panose="02020603050405020304" pitchFamily="18" charset="0"/>
                <a:cs typeface="Times New Roman" panose="02020603050405020304" pitchFamily="18" charset="0"/>
              </a:rPr>
              <a:t>The plaintext is "KRISHNA RANJAN"</a:t>
            </a:r>
          </a:p>
          <a:p>
            <a:pPr marL="0" indent="0" fontAlgn="base">
              <a:buNone/>
            </a:pPr>
            <a:r>
              <a:rPr lang="en-IN" dirty="0">
                <a:latin typeface="Times New Roman" panose="02020603050405020304" pitchFamily="18" charset="0"/>
                <a:cs typeface="Times New Roman" panose="02020603050405020304" pitchFamily="18" charset="0"/>
              </a:rPr>
              <a:t>Now we will write the plaintext in the form of row and column.</a:t>
            </a:r>
          </a:p>
          <a:p>
            <a:pPr marL="0" indent="0" fontAlgn="base">
              <a:buNone/>
            </a:pPr>
            <a:r>
              <a:rPr lang="en-IN" dirty="0">
                <a:latin typeface="Times New Roman" panose="02020603050405020304" pitchFamily="18" charset="0"/>
                <a:cs typeface="Times New Roman" panose="02020603050405020304" pitchFamily="18" charset="0"/>
              </a:rPr>
              <a:t>Cipher Text = IAN_RNANS_J_KHRA</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9932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AC50D-1044-39DF-1426-E1EB5C73D9B7}"/>
              </a:ext>
            </a:extLst>
          </p:cNvPr>
          <p:cNvSpPr>
            <a:spLocks noGrp="1"/>
          </p:cNvSpPr>
          <p:nvPr>
            <p:ph type="title"/>
          </p:nvPr>
        </p:nvSpPr>
        <p:spPr/>
        <p:txBody>
          <a:bodyPr/>
          <a:lstStyle/>
          <a:p>
            <a:r>
              <a:rPr lang="en-IN" b="1" dirty="0"/>
              <a:t>Vernam Cipher in Cryptography</a:t>
            </a:r>
            <a:br>
              <a:rPr lang="en-IN" b="1" dirty="0"/>
            </a:br>
            <a:endParaRPr lang="en-IN" dirty="0"/>
          </a:p>
        </p:txBody>
      </p:sp>
      <p:sp>
        <p:nvSpPr>
          <p:cNvPr id="3" name="Content Placeholder 2">
            <a:extLst>
              <a:ext uri="{FF2B5EF4-FFF2-40B4-BE49-F238E27FC236}">
                <a16:creationId xmlns:a16="http://schemas.microsoft.com/office/drawing/2014/main" id="{B004F46D-8A10-C7A9-A48B-5B37837EDEC6}"/>
              </a:ext>
            </a:extLst>
          </p:cNvPr>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Vernam Cipher</a:t>
            </a:r>
            <a:r>
              <a:rPr lang="en-IN" dirty="0">
                <a:latin typeface="Times New Roman" panose="02020603050405020304" pitchFamily="18" charset="0"/>
                <a:cs typeface="Times New Roman" panose="02020603050405020304" pitchFamily="18" charset="0"/>
              </a:rPr>
              <a:t> is a method of encrypting alphabetic text. It is one of the Substitution techniques for converting plain text into cipher text. In this mechanism, we assign a number to each character of the Plain-Text, like (a = 0, b = 1, c = 2, ... z = 25).</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Method to take key: </a:t>
            </a:r>
            <a:r>
              <a:rPr lang="en-IN" dirty="0">
                <a:latin typeface="Times New Roman" panose="02020603050405020304" pitchFamily="18" charset="0"/>
                <a:cs typeface="Times New Roman" panose="02020603050405020304" pitchFamily="18" charset="0"/>
              </a:rPr>
              <a:t>In the Vernam cipher algorithm, we take a key to encrypt the plain text whose length should be equal to the length of the plain text. </a:t>
            </a:r>
          </a:p>
        </p:txBody>
      </p:sp>
    </p:spTree>
    <p:extLst>
      <p:ext uri="{BB962C8B-B14F-4D97-AF65-F5344CB8AC3E}">
        <p14:creationId xmlns:p14="http://schemas.microsoft.com/office/powerpoint/2010/main" val="3332356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F116-46F5-936E-E003-B24C793E01D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Encryption Algorithm</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B425CC5-4F95-93D3-41FA-5D7B273BC2D7}"/>
              </a:ext>
            </a:extLst>
          </p:cNvPr>
          <p:cNvSpPr>
            <a:spLocks noGrp="1"/>
          </p:cNvSpPr>
          <p:nvPr>
            <p:ph idx="1"/>
          </p:nvPr>
        </p:nvSpPr>
        <p:spPr/>
        <p:txBody>
          <a:bodyPr/>
          <a:lstStyle/>
          <a:p>
            <a:pPr lvl="0" fontAlgn="base"/>
            <a:r>
              <a:rPr lang="en-IN" dirty="0">
                <a:latin typeface="Times New Roman" panose="02020603050405020304" pitchFamily="18" charset="0"/>
                <a:cs typeface="Times New Roman" panose="02020603050405020304" pitchFamily="18" charset="0"/>
              </a:rPr>
              <a:t>Assign a number to each character of the plain text and the key according to alphabetical order. </a:t>
            </a:r>
          </a:p>
          <a:p>
            <a:pPr lvl="0" fontAlgn="base"/>
            <a:r>
              <a:rPr lang="en-IN" dirty="0">
                <a:latin typeface="Times New Roman" panose="02020603050405020304" pitchFamily="18" charset="0"/>
                <a:cs typeface="Times New Roman" panose="02020603050405020304" pitchFamily="18" charset="0"/>
              </a:rPr>
              <a:t>Bitwise XOR both the number (Corresponding plain-text character number and Key character number). </a:t>
            </a:r>
          </a:p>
          <a:p>
            <a:pPr lvl="0" fontAlgn="base"/>
            <a:r>
              <a:rPr lang="en-IN" dirty="0">
                <a:latin typeface="Times New Roman" panose="02020603050405020304" pitchFamily="18" charset="0"/>
                <a:cs typeface="Times New Roman" panose="02020603050405020304" pitchFamily="18" charset="0"/>
              </a:rPr>
              <a:t>Subtract the number from 26 if the resulting number is greater than or equal to 26, if it isn't then leave it.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5059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F2913-9F37-FBEB-DCD3-C4042B894BF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Example</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DD6D8D5-4B79-A2B2-D727-79727E490810}"/>
              </a:ext>
            </a:extLst>
          </p:cNvPr>
          <p:cNvSpPr>
            <a:spLocks noGrp="1"/>
          </p:cNvSpPr>
          <p:nvPr>
            <p:ph idx="1"/>
          </p:nvPr>
        </p:nvSpPr>
        <p:spPr/>
        <p:txBody>
          <a:bodyPr>
            <a:normAutofit fontScale="92500" lnSpcReduction="10000"/>
          </a:bodyPr>
          <a:lstStyle/>
          <a:p>
            <a:pPr fontAlgn="base"/>
            <a:r>
              <a:rPr lang="en-IN" b="1" dirty="0">
                <a:latin typeface="Times New Roman" panose="02020603050405020304" pitchFamily="18" charset="0"/>
                <a:cs typeface="Times New Roman" panose="02020603050405020304" pitchFamily="18" charset="0"/>
              </a:rPr>
              <a:t>Plain-Text: </a:t>
            </a:r>
            <a:r>
              <a:rPr lang="en-IN" dirty="0">
                <a:latin typeface="Times New Roman" panose="02020603050405020304" pitchFamily="18" charset="0"/>
                <a:cs typeface="Times New Roman" panose="02020603050405020304" pitchFamily="18" charset="0"/>
              </a:rPr>
              <a:t>O A K</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Key: </a:t>
            </a:r>
            <a:r>
              <a:rPr lang="en-IN" dirty="0">
                <a:latin typeface="Times New Roman" panose="02020603050405020304" pitchFamily="18" charset="0"/>
                <a:cs typeface="Times New Roman" panose="02020603050405020304" pitchFamily="18" charset="0"/>
              </a:rPr>
              <a:t>S O N</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fontAlgn="base"/>
            <a:r>
              <a:rPr lang="en-IN" b="1" dirty="0">
                <a:latin typeface="Times New Roman" panose="02020603050405020304" pitchFamily="18" charset="0"/>
                <a:cs typeface="Times New Roman" panose="02020603050405020304" pitchFamily="18" charset="0"/>
              </a:rPr>
              <a:t>O ==&gt; </a:t>
            </a:r>
            <a:r>
              <a:rPr lang="en-IN" dirty="0">
                <a:latin typeface="Times New Roman" panose="02020603050405020304" pitchFamily="18" charset="0"/>
                <a:cs typeface="Times New Roman" panose="02020603050405020304" pitchFamily="18" charset="0"/>
              </a:rPr>
              <a:t>14 =</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0 1 1 1 0</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 ==&gt; </a:t>
            </a:r>
            <a:r>
              <a:rPr lang="en-IN" dirty="0">
                <a:latin typeface="Times New Roman" panose="02020603050405020304" pitchFamily="18" charset="0"/>
                <a:cs typeface="Times New Roman" panose="02020603050405020304" pitchFamily="18" charset="0"/>
              </a:rPr>
              <a:t>18 = 1 0 0 1 0</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Bitwise XOR Result: 1 1 1 0 0 = 28</a:t>
            </a:r>
          </a:p>
          <a:p>
            <a:pPr fontAlgn="base"/>
            <a:endParaRPr lang="en-IN" b="1" dirty="0">
              <a:latin typeface="Times New Roman" panose="02020603050405020304" pitchFamily="18" charset="0"/>
              <a:cs typeface="Times New Roman" panose="02020603050405020304" pitchFamily="18" charset="0"/>
            </a:endParaRPr>
          </a:p>
          <a:p>
            <a:pPr fontAlgn="base"/>
            <a:r>
              <a:rPr lang="en-IN" dirty="0"/>
              <a:t>Since the resulting number is greater than 26, subtract 26 from it.  Then convert the Cipher-Text character number to the Cipher-Text character.</a:t>
            </a:r>
          </a:p>
          <a:p>
            <a:pPr fontAlgn="base"/>
            <a:r>
              <a:rPr lang="en-IN" b="1" dirty="0"/>
              <a:t>28 - 26 = 2 ==&gt; C</a:t>
            </a:r>
            <a:br>
              <a:rPr lang="en-IN" dirty="0"/>
            </a:br>
            <a:r>
              <a:rPr lang="en-IN" b="1" dirty="0"/>
              <a:t>CIPHER-TEXT: C</a:t>
            </a:r>
            <a:endParaRPr lang="en-IN" dirty="0"/>
          </a:p>
          <a:p>
            <a:pPr fontAlgn="base"/>
            <a:endParaRPr lang="en-IN" b="1" dirty="0">
              <a:latin typeface="Times New Roman" panose="02020603050405020304" pitchFamily="18" charset="0"/>
              <a:cs typeface="Times New Roman" panose="02020603050405020304" pitchFamily="18" charset="0"/>
            </a:endParaRPr>
          </a:p>
          <a:p>
            <a:pPr fontAlgn="base"/>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342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8BC735-0EF7-9ED2-1A99-1D8B85DED9BC}"/>
              </a:ext>
            </a:extLst>
          </p:cNvPr>
          <p:cNvSpPr>
            <a:spLocks noGrp="1"/>
          </p:cNvSpPr>
          <p:nvPr>
            <p:ph idx="1"/>
          </p:nvPr>
        </p:nvSpPr>
        <p:spPr>
          <a:xfrm>
            <a:off x="838200" y="471948"/>
            <a:ext cx="10515600" cy="5705015"/>
          </a:xfrm>
        </p:spPr>
        <p:txBody>
          <a:bodyPr/>
          <a:lstStyle/>
          <a:p>
            <a:pPr fontAlgn="base"/>
            <a:r>
              <a:rPr lang="en-IN" dirty="0">
                <a:latin typeface="Times New Roman" panose="02020603050405020304" pitchFamily="18" charset="0"/>
                <a:cs typeface="Times New Roman" panose="02020603050405020304" pitchFamily="18" charset="0"/>
              </a:rPr>
              <a:t>Similarly, do the same for the other corresponding characters,</a:t>
            </a:r>
          </a:p>
          <a:p>
            <a:pPr fontAlgn="base"/>
            <a:r>
              <a:rPr lang="en-IN" b="1" dirty="0">
                <a:latin typeface="Times New Roman" panose="02020603050405020304" pitchFamily="18" charset="0"/>
                <a:cs typeface="Times New Roman" panose="02020603050405020304" pitchFamily="18" charset="0"/>
              </a:rPr>
              <a:t>PT: </a:t>
            </a:r>
            <a:r>
              <a:rPr lang="en-IN" dirty="0">
                <a:latin typeface="Times New Roman" panose="02020603050405020304" pitchFamily="18" charset="0"/>
                <a:cs typeface="Times New Roman" panose="02020603050405020304" pitchFamily="18" charset="0"/>
              </a:rPr>
              <a:t>O  A  K</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NO: </a:t>
            </a:r>
            <a:r>
              <a:rPr lang="en-IN" dirty="0">
                <a:latin typeface="Times New Roman" panose="02020603050405020304" pitchFamily="18" charset="0"/>
                <a:cs typeface="Times New Roman" panose="02020603050405020304" pitchFamily="18" charset="0"/>
              </a:rPr>
              <a:t>14 00 10</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KEY: </a:t>
            </a:r>
            <a:r>
              <a:rPr lang="en-IN" dirty="0">
                <a:latin typeface="Times New Roman" panose="02020603050405020304" pitchFamily="18" charset="0"/>
                <a:cs typeface="Times New Roman" panose="02020603050405020304" pitchFamily="18" charset="0"/>
              </a:rPr>
              <a:t>S  O  N</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NO:  </a:t>
            </a:r>
            <a:r>
              <a:rPr lang="en-IN" dirty="0">
                <a:latin typeface="Times New Roman" panose="02020603050405020304" pitchFamily="18" charset="0"/>
                <a:cs typeface="Times New Roman" panose="02020603050405020304" pitchFamily="18" charset="0"/>
              </a:rPr>
              <a:t>18 14 13</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New Cipher-Text is after getting the corresponding character from the resulting number. </a:t>
            </a:r>
          </a:p>
          <a:p>
            <a:pPr fontAlgn="base"/>
            <a:r>
              <a:rPr lang="en-IN" b="1" dirty="0">
                <a:latin typeface="Times New Roman" panose="02020603050405020304" pitchFamily="18" charset="0"/>
                <a:cs typeface="Times New Roman" panose="02020603050405020304" pitchFamily="18" charset="0"/>
              </a:rPr>
              <a:t>CT-NO: </a:t>
            </a:r>
            <a:r>
              <a:rPr lang="en-IN" dirty="0">
                <a:latin typeface="Times New Roman" panose="02020603050405020304" pitchFamily="18" charset="0"/>
                <a:cs typeface="Times New Roman" panose="02020603050405020304" pitchFamily="18" charset="0"/>
              </a:rPr>
              <a:t>02 14 07</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CT:    </a:t>
            </a:r>
            <a:r>
              <a:rPr lang="en-IN" dirty="0">
                <a:latin typeface="Times New Roman" panose="02020603050405020304" pitchFamily="18" charset="0"/>
                <a:cs typeface="Times New Roman" panose="02020603050405020304" pitchFamily="18" charset="0"/>
              </a:rPr>
              <a:t>C  O  H</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6697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DACF2-B8E1-D546-04BE-2F992B56CE05}"/>
              </a:ext>
            </a:extLst>
          </p:cNvPr>
          <p:cNvSpPr>
            <a:spLocks noGrp="1"/>
          </p:cNvSpPr>
          <p:nvPr>
            <p:ph type="title"/>
          </p:nvPr>
        </p:nvSpPr>
        <p:spPr/>
        <p:txBody>
          <a:bodyPr/>
          <a:lstStyle/>
          <a:p>
            <a:r>
              <a:rPr lang="en-IN" b="1" dirty="0"/>
              <a:t>Book Cipher</a:t>
            </a:r>
          </a:p>
        </p:txBody>
      </p:sp>
      <p:sp>
        <p:nvSpPr>
          <p:cNvPr id="3" name="Content Placeholder 2">
            <a:extLst>
              <a:ext uri="{FF2B5EF4-FFF2-40B4-BE49-F238E27FC236}">
                <a16:creationId xmlns:a16="http://schemas.microsoft.com/office/drawing/2014/main" id="{91D82AE9-5A6C-E322-7CAA-DE827569F8A5}"/>
              </a:ext>
            </a:extLst>
          </p:cNvPr>
          <p:cNvSpPr>
            <a:spLocks noGrp="1"/>
          </p:cNvSpPr>
          <p:nvPr>
            <p:ph idx="1"/>
          </p:nvPr>
        </p:nvSpPr>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A book cipher is a method of encryption where words or letters in a secret message are replaced by numbers or codes that point to specific locations—such as page, line, or word numbers—within a shared reference book. Both sender and receiver must use the exact same book and edition.</a:t>
            </a:r>
          </a:p>
          <a:p>
            <a:endParaRPr lang="en-IN" b="1"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How It Works</a:t>
            </a:r>
          </a:p>
          <a:p>
            <a:pPr marL="0" indent="0">
              <a:buNone/>
            </a:pPr>
            <a:endParaRPr lang="en-IN" b="1"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Shared Key:</a:t>
            </a:r>
            <a:r>
              <a:rPr lang="en-IN" dirty="0">
                <a:latin typeface="Times New Roman" panose="02020603050405020304" pitchFamily="18" charset="0"/>
                <a:cs typeface="Times New Roman" panose="02020603050405020304" pitchFamily="18" charset="0"/>
              </a:rPr>
              <a:t> Both people own an identical copy of a book.</a:t>
            </a:r>
          </a:p>
          <a:p>
            <a:pPr lvl="0"/>
            <a:r>
              <a:rPr lang="en-IN" b="1" dirty="0">
                <a:latin typeface="Times New Roman" panose="02020603050405020304" pitchFamily="18" charset="0"/>
                <a:cs typeface="Times New Roman" panose="02020603050405020304" pitchFamily="18" charset="0"/>
              </a:rPr>
              <a:t>Coordinates:</a:t>
            </a:r>
            <a:r>
              <a:rPr lang="en-IN" dirty="0">
                <a:latin typeface="Times New Roman" panose="02020603050405020304" pitchFamily="18" charset="0"/>
                <a:cs typeface="Times New Roman" panose="02020603050405020304" pitchFamily="18" charset="0"/>
              </a:rPr>
              <a:t> Each word or letter of the secret text is swapped for a set of numbers.</a:t>
            </a:r>
          </a:p>
          <a:p>
            <a:pPr lvl="0"/>
            <a:r>
              <a:rPr lang="en-IN" b="1"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Code [45, 2, 5] tells the reader to look at page 45, line 2, and word 5 to find the real letter or word.</a:t>
            </a:r>
          </a:p>
          <a:p>
            <a:pPr lvl="0"/>
            <a:r>
              <a:rPr lang="en-IN" b="1" dirty="0">
                <a:latin typeface="Times New Roman" panose="02020603050405020304" pitchFamily="18" charset="0"/>
                <a:cs typeface="Times New Roman" panose="02020603050405020304" pitchFamily="18" charset="0"/>
              </a:rPr>
              <a:t>Decoding:</a:t>
            </a:r>
            <a:r>
              <a:rPr lang="en-IN" dirty="0">
                <a:latin typeface="Times New Roman" panose="02020603050405020304" pitchFamily="18" charset="0"/>
                <a:cs typeface="Times New Roman" panose="02020603050405020304" pitchFamily="18" charset="0"/>
              </a:rPr>
              <a:t> The receiver reverses the process by looking up each coordinate in their copy of the book to read the hidden message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9035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637A-576A-164A-ED70-BC82D0611B3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Pros and Cons</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0169F1A-520D-E46B-FB05-F3B512090CD8}"/>
              </a:ext>
            </a:extLst>
          </p:cNvPr>
          <p:cNvSpPr>
            <a:spLocks noGrp="1"/>
          </p:cNvSpPr>
          <p:nvPr>
            <p:ph idx="1"/>
          </p:nvPr>
        </p:nvSpPr>
        <p:spPr/>
        <p:txBody>
          <a:bodyPr/>
          <a:lstStyle/>
          <a:p>
            <a:pPr marL="342900" marR="0" lvl="0" indent="-342900">
              <a:spcBef>
                <a:spcPts val="900"/>
              </a:spcBef>
              <a:spcAft>
                <a:spcPts val="900"/>
              </a:spcAft>
              <a:buFont typeface="Arial" panose="020B0604020202020204" pitchFamily="34" charset="0"/>
              <a:buChar char="•"/>
            </a:pPr>
            <a:r>
              <a:rPr lang="en-IN" sz="2800" b="1" u="none" strike="noStrike" dirty="0">
                <a:effectLst/>
                <a:latin typeface="Times New Roman" panose="02020603050405020304" pitchFamily="18" charset="0"/>
                <a:cs typeface="Times New Roman" panose="02020603050405020304" pitchFamily="18" charset="0"/>
              </a:rPr>
              <a:t>Stealth:</a:t>
            </a:r>
            <a:r>
              <a:rPr lang="en-IN" sz="2800" b="0" u="none" strike="noStrike" dirty="0">
                <a:effectLst/>
                <a:latin typeface="Times New Roman" panose="02020603050405020304" pitchFamily="18" charset="0"/>
                <a:cs typeface="Times New Roman" panose="02020603050405020304" pitchFamily="18" charset="0"/>
              </a:rPr>
              <a:t> The secret message looks like random numbers, and the key is an ordinary book that does not arouse suspicion.</a:t>
            </a:r>
          </a:p>
          <a:p>
            <a:pPr marL="342900" marR="0" lvl="0" indent="-342900">
              <a:spcBef>
                <a:spcPts val="900"/>
              </a:spcBef>
              <a:spcAft>
                <a:spcPts val="900"/>
              </a:spcAft>
              <a:buFont typeface="Arial" panose="020B0604020202020204" pitchFamily="34" charset="0"/>
              <a:buChar char="•"/>
            </a:pPr>
            <a:r>
              <a:rPr lang="en-IN" sz="2800" b="1" u="none" strike="noStrike" dirty="0">
                <a:effectLst/>
                <a:latin typeface="Times New Roman" panose="02020603050405020304" pitchFamily="18" charset="0"/>
                <a:cs typeface="Times New Roman" panose="02020603050405020304" pitchFamily="18" charset="0"/>
              </a:rPr>
              <a:t>Security Risk:</a:t>
            </a:r>
            <a:r>
              <a:rPr lang="en-IN" sz="2800" b="0" u="none" strike="noStrike" dirty="0">
                <a:effectLst/>
                <a:latin typeface="Times New Roman" panose="02020603050405020304" pitchFamily="18" charset="0"/>
                <a:cs typeface="Times New Roman" panose="02020603050405020304" pitchFamily="18" charset="0"/>
              </a:rPr>
              <a:t> If intercepted, a book cipher can be cracked with frequency analysis if large amounts of text are sent, or if the specific book is identified.</a:t>
            </a:r>
          </a:p>
          <a:p>
            <a:pPr marL="342900" marR="0" lvl="0" indent="-342900">
              <a:spcBef>
                <a:spcPts val="900"/>
              </a:spcBef>
              <a:spcAft>
                <a:spcPts val="900"/>
              </a:spcAft>
              <a:buFont typeface="Arial" panose="020B0604020202020204" pitchFamily="34" charset="0"/>
              <a:buChar char="•"/>
            </a:pPr>
            <a:r>
              <a:rPr lang="en-IN" sz="2800" b="1" u="none" strike="noStrike" dirty="0">
                <a:effectLst/>
                <a:latin typeface="Times New Roman" panose="02020603050405020304" pitchFamily="18" charset="0"/>
                <a:cs typeface="Times New Roman" panose="02020603050405020304" pitchFamily="18" charset="0"/>
              </a:rPr>
              <a:t>Physical Dependency:</a:t>
            </a:r>
            <a:r>
              <a:rPr lang="en-IN" sz="2800" b="0" u="none" strike="noStrike" dirty="0">
                <a:effectLst/>
                <a:latin typeface="Times New Roman" panose="02020603050405020304" pitchFamily="18" charset="0"/>
                <a:cs typeface="Times New Roman" panose="02020603050405020304" pitchFamily="18" charset="0"/>
              </a:rPr>
              <a:t> Both parties must have secure access to the exact same physical or digital publication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647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1557</TotalTime>
  <Words>1318</Words>
  <Application>Microsoft Office PowerPoint</Application>
  <PresentationFormat>Widescreen</PresentationFormat>
  <Paragraphs>132</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Nunito</vt:lpstr>
      <vt:lpstr>Times New Roman</vt:lpstr>
      <vt:lpstr>Wingdings</vt:lpstr>
      <vt:lpstr>Office Theme</vt:lpstr>
      <vt:lpstr>Substitution Techniques CAESER CIPHER </vt:lpstr>
      <vt:lpstr>Substitution Cipher</vt:lpstr>
      <vt:lpstr>EXAMPLE</vt:lpstr>
      <vt:lpstr>Mono-alphabetic cipher</vt:lpstr>
      <vt:lpstr>PowerPoint Presentation</vt:lpstr>
      <vt:lpstr>Homophonic substitution cipher</vt:lpstr>
      <vt:lpstr>Example of Homophonic Substitution Cipher </vt:lpstr>
      <vt:lpstr>PowerPoint Presentation</vt:lpstr>
      <vt:lpstr>PowerPoint Presentation</vt:lpstr>
      <vt:lpstr>Polygram substitution cipher</vt:lpstr>
      <vt:lpstr>EXAMPLE</vt:lpstr>
      <vt:lpstr>PowerPoint Presentation</vt:lpstr>
      <vt:lpstr>Transposition Cipher Technique </vt:lpstr>
      <vt:lpstr>Types of Transposition Cipher Techniques </vt:lpstr>
      <vt:lpstr>Rail Fence Transposition Cipher </vt:lpstr>
      <vt:lpstr>Technique of Rail Fence Transposition Cipher </vt:lpstr>
      <vt:lpstr>Block (Single Columnar) Transposition Cipher </vt:lpstr>
      <vt:lpstr>PowerPoint Presentation</vt:lpstr>
      <vt:lpstr>For example: </vt:lpstr>
      <vt:lpstr>Vernam Cipher in Cryptography </vt:lpstr>
      <vt:lpstr>Encryption Algorithm </vt:lpstr>
      <vt:lpstr>Example </vt:lpstr>
      <vt:lpstr>PowerPoint Presentation</vt:lpstr>
      <vt:lpstr>Book Cipher</vt:lpstr>
      <vt:lpstr>Pros and Cons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Sukhbeer Kaur</dc:creator>
  <cp:lastModifiedBy>Sukhbeer Kaur</cp:lastModifiedBy>
  <cp:revision>1</cp:revision>
  <dcterms:created xsi:type="dcterms:W3CDTF">2026-08-17T09:16:29Z</dcterms:created>
  <dcterms:modified xsi:type="dcterms:W3CDTF">2026-08-18T11:13:55Z</dcterms:modified>
</cp:coreProperties>
</file>