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B4C4-E5E1-DD15-5055-25F3B0F64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A1464-122C-9346-73D7-971FE431B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7DBFE-3C33-2B35-A78E-6C66E722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F4D8D-11B4-3624-C6C8-F929C539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5A344-0856-5F72-63FE-A762F2F4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87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FB22-D29A-E74F-9412-55BDDC51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4490-A4A1-94FC-EA0A-58088C4F0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5ACA4-2573-8F0F-222C-15B15785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B0172-6876-C25F-BC44-0DAAB297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696B0-77CC-59CA-C722-4ADCFCE8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91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756F-8AE6-17D4-43F5-D7A2090C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C0C87-4C9F-9A55-9B7C-B5F733F59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0F4CB-EFBE-07D7-36AB-336C4466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F237A-82BE-2B02-0BC6-0EBF8F36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C93F1-6F9C-FC85-AF07-63FFF040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85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E5DA-FDC4-96B5-033F-A5407C19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D24F-444D-3051-BFB0-F91FE6D86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4EAA4-FE25-4CF0-F594-EDDD2C61D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D1993-231C-DB09-4966-E1777334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70870-C503-7865-FB57-62E0962A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DA596-927E-111B-D4CB-5279B6B7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8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24F2-0E58-DFAF-8A0E-8741BD5A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38D1E-A723-977C-150E-470AF04A8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AAC89-E38C-2E16-973A-A83460A65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3690D-10E6-A705-75AF-9289CAC43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30A9F-0E30-A963-2924-68DC1BCA2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9AC55-14C7-1182-AF5B-8551B4B7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4701B-327C-2D86-C3BD-37EA7A04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87D79-D3D0-2CEE-CAC6-D7EB57488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72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029F-51C6-1856-CA8D-797378BB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7896D-F7B5-CB07-D5FB-BBFE9E9F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D2F76-858D-3F02-A19D-995E77A2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20FCF-A0D0-398A-6742-227C06BD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FC6C1-3665-EDAF-B69E-32C9BF13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13335-2C3C-FE72-4AEC-E6FD463A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CF7A5-C71F-A9A3-D436-07517814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3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25A4-6985-ACE8-3160-38C9A1F0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D02F0-710C-4480-1405-BE535FB71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A66C5-D4E6-875A-8FDF-C4E0739BC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585E9-B3DD-34E8-8F53-B3646393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54D5D-80DF-DEDC-5E4E-4066ADE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C4A6-7CBA-3E36-1EAC-11BA9380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96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9777-65A1-9AE8-2EE7-5BBB3875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2DA1C-DA21-02B9-EF35-444ACABF6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11ADB-1E5A-108C-D636-DBDB8563B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B11F0-29FD-19F6-39B4-C82724EB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A88E1-A309-2264-A7DA-8C2757317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9AA8A-6F9F-9A8B-27CB-119AB6968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48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BD57-766A-E65F-5BCA-72A80D3A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B474C-9DBD-A9D3-9170-2EDD25978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2BCD7-2BC8-AC4E-9D92-CBE1F3AF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C319F-D522-9336-F8D0-53D4724B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745D4-F947-0B9B-5240-015652A4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96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E5DD8-8C05-EC48-5D29-2FEE9F533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B9877-2832-ADBD-E8FF-97B5E514F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75C9A-801C-97C0-B580-BC122138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7BA39-6045-262F-9F97-3808719F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AB76-6865-2DB7-8EAC-DC4E66AB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31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AEEA6-8AA3-A141-E821-37B0C29D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87C3B-11B6-3D6B-F01E-DF6C6453C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EC880-D213-7466-BC19-E6C42E979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77C26-E4CA-433A-8FB0-B192FCCD815B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A3D42-7A13-018B-C4E3-CC6ECF3CC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7A25B-83DB-5D6C-2962-7B043AC04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4164A-878F-4BBC-A0BF-F597624BB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15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0ABA-9D5F-EAF0-3C9F-10D3E630B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5749"/>
            <a:ext cx="12191999" cy="36004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UNIT-I</a:t>
            </a:r>
            <a:br>
              <a:rPr lang="en-US" b="1" dirty="0"/>
            </a:br>
            <a:r>
              <a:rPr lang="en-US" b="1" dirty="0"/>
              <a:t>Principal of Security, Security Services</a:t>
            </a:r>
            <a:br>
              <a:rPr lang="en-IN" b="1" dirty="0"/>
            </a:br>
            <a:r>
              <a:rPr lang="en-US" b="1" dirty="0"/>
              <a:t>CAP404</a:t>
            </a:r>
            <a:br>
              <a:rPr lang="en-US" b="1" dirty="0"/>
            </a:br>
            <a:r>
              <a:rPr lang="en-IN" b="1" dirty="0"/>
              <a:t>INFORMATION SECURITY AND PRIVACY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8E7D3-759B-3266-5778-DA514BB8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806" y="3886199"/>
            <a:ext cx="11857704" cy="231795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SCHOOL OF COMPUTER APPLICATIONS</a:t>
            </a:r>
          </a:p>
          <a:p>
            <a:r>
              <a:rPr lang="en-US" dirty="0"/>
              <a:t>DOMAIN: AI &amp;ML</a:t>
            </a:r>
          </a:p>
        </p:txBody>
      </p:sp>
    </p:spTree>
    <p:extLst>
      <p:ext uri="{BB962C8B-B14F-4D97-AF65-F5344CB8AC3E}">
        <p14:creationId xmlns:p14="http://schemas.microsoft.com/office/powerpoint/2010/main" val="330814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0CFB-0166-EBE1-4958-67FD8892C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Cryptography and Network Security Principles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16A50-DF15-19E7-26C9-B3F67129B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fontAlgn="base">
              <a:buNone/>
            </a:pPr>
            <a:r>
              <a:rPr lang="en-IN" dirty="0"/>
              <a:t>Cryptography and network security are essential for protecting information systems </a:t>
            </a:r>
            <a:r>
              <a:rPr lang="en-IN" b="1" dirty="0"/>
              <a:t>from unauthorized access, ensuring secure communication, and maintaining trust in today’s digital world</a:t>
            </a:r>
            <a:r>
              <a:rPr lang="en-IN" dirty="0"/>
              <a:t>.</a:t>
            </a:r>
          </a:p>
          <a:p>
            <a:pPr algn="just" fontAlgn="base"/>
            <a:r>
              <a:rPr lang="en-IN" dirty="0"/>
              <a:t>Protects sensitive data from cyber attackers</a:t>
            </a:r>
          </a:p>
          <a:p>
            <a:pPr algn="just" fontAlgn="base"/>
            <a:r>
              <a:rPr lang="en-IN" dirty="0"/>
              <a:t>Ensures secure communication over networks</a:t>
            </a:r>
          </a:p>
          <a:p>
            <a:pPr algn="just" fontAlgn="base"/>
            <a:r>
              <a:rPr lang="en-IN" dirty="0"/>
              <a:t>Maintains confidentiality, integrity, and availability</a:t>
            </a:r>
          </a:p>
          <a:p>
            <a:pPr algn="just" fontAlgn="base"/>
            <a:r>
              <a:rPr lang="en-IN" dirty="0"/>
              <a:t>Forms the foundation of modern cybersecurity systems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03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A533-A5B8-A804-24C9-FA45B7AD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Cryptography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58138-AB66-0116-E0C3-6BBA4722B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A2911F-F9B7-ECE5-FCD2-13610C2AE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78" y="2637170"/>
            <a:ext cx="7437765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4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B904-0B9B-0956-234C-7414781E3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IN" b="1" dirty="0"/>
              <a:t>Types of Cryptographic Attacks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7296-176A-9CA1-3506-5EF169EE5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IN" b="1" dirty="0"/>
              <a:t>Passive Attacks</a:t>
            </a:r>
          </a:p>
          <a:p>
            <a:pPr fontAlgn="base"/>
            <a:r>
              <a:rPr lang="en-IN" dirty="0"/>
              <a:t>Attackers silently monitor or intercept data</a:t>
            </a:r>
          </a:p>
          <a:p>
            <a:pPr fontAlgn="base"/>
            <a:r>
              <a:rPr lang="en-IN" dirty="0"/>
              <a:t>No modification of data occurs</a:t>
            </a:r>
          </a:p>
          <a:p>
            <a:pPr fontAlgn="base"/>
            <a:r>
              <a:rPr lang="en-IN" dirty="0"/>
              <a:t>Examples: Eavesdropping, traffic analysis</a:t>
            </a:r>
          </a:p>
          <a:p>
            <a:pPr fontAlgn="base"/>
            <a:endParaRPr lang="en-IN" dirty="0"/>
          </a:p>
          <a:p>
            <a:pPr marL="0" indent="0" fontAlgn="base">
              <a:buNone/>
            </a:pPr>
            <a:r>
              <a:rPr lang="en-IN" b="1" dirty="0"/>
              <a:t>Active Attacks</a:t>
            </a:r>
          </a:p>
          <a:p>
            <a:pPr fontAlgn="base"/>
            <a:r>
              <a:rPr lang="en-IN" dirty="0"/>
              <a:t>Attackers modify, delete, or disrupt data</a:t>
            </a:r>
          </a:p>
          <a:p>
            <a:pPr fontAlgn="base"/>
            <a:r>
              <a:rPr lang="en-IN" dirty="0"/>
              <a:t>Can cause serious damage to systems</a:t>
            </a:r>
          </a:p>
          <a:p>
            <a:pPr fontAlgn="base"/>
            <a:r>
              <a:rPr lang="en-IN" dirty="0"/>
              <a:t>Examples: Data modification, denial-of-service attacks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00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EE1D-4B8D-6772-22DF-4B0CAFA5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Fundamental Network Security Principles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95D9C-F4D2-46DB-D868-EB4FFFCCE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992"/>
            <a:ext cx="10515600" cy="4351338"/>
          </a:xfrm>
        </p:spPr>
        <p:txBody>
          <a:bodyPr/>
          <a:lstStyle/>
          <a:p>
            <a:pPr fontAlgn="base"/>
            <a:endParaRPr lang="en-IN" b="1" dirty="0"/>
          </a:p>
          <a:p>
            <a:pPr marL="0" indent="0" fontAlgn="base">
              <a:buNone/>
            </a:pPr>
            <a:r>
              <a:rPr lang="en-IN" b="1" dirty="0"/>
              <a:t>1. Confidentiality</a:t>
            </a:r>
          </a:p>
          <a:p>
            <a:pPr marL="0" indent="0" fontAlgn="base">
              <a:buNone/>
            </a:pPr>
            <a:endParaRPr lang="en-IN" b="1" dirty="0"/>
          </a:p>
          <a:p>
            <a:pPr fontAlgn="base"/>
            <a:r>
              <a:rPr lang="en-IN" dirty="0"/>
              <a:t>Ensures that information is accessible only to authorized users.</a:t>
            </a:r>
          </a:p>
          <a:p>
            <a:pPr fontAlgn="base"/>
            <a:r>
              <a:rPr lang="en-IN" dirty="0"/>
              <a:t>Prevents unauthorized disclosure of data</a:t>
            </a:r>
          </a:p>
          <a:p>
            <a:pPr fontAlgn="base"/>
            <a:r>
              <a:rPr lang="en-IN" dirty="0"/>
              <a:t>Encryption plays a major role</a:t>
            </a:r>
          </a:p>
          <a:p>
            <a:pPr fontAlgn="base"/>
            <a:r>
              <a:rPr lang="en-IN" dirty="0"/>
              <a:t>Compromised if intercepted by attackers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87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49406-3CC5-8131-7052-8C254D3C6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71"/>
            <a:ext cx="10515600" cy="5606692"/>
          </a:xfrm>
        </p:spPr>
        <p:txBody>
          <a:bodyPr/>
          <a:lstStyle/>
          <a:p>
            <a:pPr marL="0" indent="0" fontAlgn="base">
              <a:buNone/>
            </a:pPr>
            <a:r>
              <a:rPr lang="en-IN" b="1" dirty="0"/>
              <a:t>2. Authentication</a:t>
            </a:r>
          </a:p>
          <a:p>
            <a:pPr fontAlgn="base"/>
            <a:r>
              <a:rPr lang="en-IN" dirty="0"/>
              <a:t>Verifies the identity of users or systems.</a:t>
            </a:r>
          </a:p>
          <a:p>
            <a:pPr fontAlgn="base"/>
            <a:r>
              <a:rPr lang="en-IN" dirty="0"/>
              <a:t>Ensures only legitimate users gain access</a:t>
            </a:r>
          </a:p>
          <a:p>
            <a:pPr fontAlgn="base"/>
            <a:r>
              <a:rPr lang="en-IN" dirty="0"/>
              <a:t>Common methods include usernames, passwords, and biometrics</a:t>
            </a:r>
          </a:p>
          <a:p>
            <a:pPr fontAlgn="base"/>
            <a:endParaRPr lang="en-IN" dirty="0"/>
          </a:p>
          <a:p>
            <a:pPr marL="0" indent="0" fontAlgn="base">
              <a:buNone/>
            </a:pPr>
            <a:r>
              <a:rPr lang="en-IN" b="1" dirty="0"/>
              <a:t>3. Integrity</a:t>
            </a:r>
          </a:p>
          <a:p>
            <a:pPr fontAlgn="base"/>
            <a:r>
              <a:rPr lang="en-IN" dirty="0"/>
              <a:t>Guarantees that data remains accurate and unchanged.</a:t>
            </a:r>
          </a:p>
          <a:p>
            <a:pPr fontAlgn="base"/>
            <a:r>
              <a:rPr lang="en-IN" dirty="0"/>
              <a:t>Detects unauthorized modifications</a:t>
            </a:r>
          </a:p>
          <a:p>
            <a:pPr fontAlgn="base"/>
            <a:r>
              <a:rPr lang="en-IN" dirty="0"/>
              <a:t>Applies to both stored and transmitted data</a:t>
            </a:r>
          </a:p>
          <a:p>
            <a:pPr fontAlgn="base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14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B7980-1D3F-0B4A-18B0-0715565B7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948"/>
            <a:ext cx="10515600" cy="5705015"/>
          </a:xfrm>
        </p:spPr>
        <p:txBody>
          <a:bodyPr/>
          <a:lstStyle/>
          <a:p>
            <a:pPr marL="0" indent="0" fontAlgn="base">
              <a:buNone/>
            </a:pPr>
            <a:r>
              <a:rPr lang="en-IN" b="1" dirty="0"/>
              <a:t>4. Non-Repudiation</a:t>
            </a:r>
          </a:p>
          <a:p>
            <a:pPr fontAlgn="base"/>
            <a:r>
              <a:rPr lang="en-IN" dirty="0"/>
              <a:t>Prevents users from denying their actions.</a:t>
            </a:r>
          </a:p>
          <a:p>
            <a:pPr fontAlgn="base"/>
            <a:r>
              <a:rPr lang="en-IN" dirty="0"/>
              <a:t>Ensures proof of message origin</a:t>
            </a:r>
          </a:p>
          <a:p>
            <a:pPr fontAlgn="base"/>
            <a:r>
              <a:rPr lang="en-IN" dirty="0"/>
              <a:t>Commonly achieved using digital signatures</a:t>
            </a:r>
          </a:p>
          <a:p>
            <a:pPr fontAlgn="base"/>
            <a:endParaRPr lang="en-IN" dirty="0"/>
          </a:p>
          <a:p>
            <a:pPr marL="0" indent="0" fontAlgn="base">
              <a:buNone/>
            </a:pPr>
            <a:r>
              <a:rPr lang="en-IN" b="1" dirty="0"/>
              <a:t>5. Access Control</a:t>
            </a:r>
          </a:p>
          <a:p>
            <a:pPr fontAlgn="base"/>
            <a:r>
              <a:rPr lang="en-IN" dirty="0"/>
              <a:t>Controls who can access data and to what extent.</a:t>
            </a:r>
          </a:p>
          <a:p>
            <a:pPr fontAlgn="base"/>
            <a:r>
              <a:rPr lang="en-IN" dirty="0"/>
              <a:t>Based on roles and permissions</a:t>
            </a:r>
          </a:p>
          <a:p>
            <a:pPr fontAlgn="base"/>
            <a:r>
              <a:rPr lang="en-IN" dirty="0"/>
              <a:t>Prevents misuse of sensitive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381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3144A-60D9-8422-314E-1E1F965B6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IN" b="1" dirty="0"/>
              <a:t>6. Availability</a:t>
            </a:r>
          </a:p>
          <a:p>
            <a:pPr marL="0" indent="0" fontAlgn="base">
              <a:buNone/>
            </a:pPr>
            <a:endParaRPr lang="en-IN" b="1" dirty="0"/>
          </a:p>
          <a:p>
            <a:pPr fontAlgn="base"/>
            <a:r>
              <a:rPr lang="en-IN" dirty="0"/>
              <a:t>Ensures systems and data are accessible when needed.</a:t>
            </a:r>
          </a:p>
          <a:p>
            <a:pPr fontAlgn="base"/>
            <a:r>
              <a:rPr lang="en-IN" dirty="0"/>
              <a:t>Protects against service disruptions</a:t>
            </a:r>
          </a:p>
          <a:p>
            <a:pPr fontAlgn="base"/>
            <a:r>
              <a:rPr lang="en-IN" dirty="0"/>
              <a:t>Requires backups and redundancy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29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0EDA-47E7-1596-2BAD-EFC48744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138D-FCC4-6390-3B09-5159CBBD4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3C065-7C78-CBC7-0670-D3679B5F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91"/>
            <a:ext cx="12113342" cy="676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03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93DC9-79DA-6ED7-D8A0-33B77207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Security Services 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CE6BC-3FC9-4D1F-4232-E76359D34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800" dirty="0"/>
              <a:t>Security services in cryptography are </a:t>
            </a:r>
            <a:r>
              <a:rPr lang="en-IN" sz="3800" b="1" dirty="0"/>
              <a:t>system features that protect data, maintain privacy, and build trust using mathematical algorithms</a:t>
            </a:r>
            <a:r>
              <a:rPr lang="en-IN" sz="3800" dirty="0"/>
              <a:t>. The key services are confidentiality, integrity, and authentication</a:t>
            </a:r>
            <a:br>
              <a:rPr lang="en-IN" sz="3800" dirty="0"/>
            </a:br>
            <a:endParaRPr lang="en-IN" sz="3800" dirty="0"/>
          </a:p>
          <a:p>
            <a:pPr marL="0" indent="0">
              <a:buNone/>
            </a:pPr>
            <a:r>
              <a:rPr lang="en-IN" sz="3800" b="1" dirty="0"/>
              <a:t>Core Security Services </a:t>
            </a:r>
          </a:p>
          <a:p>
            <a:pPr marL="0" indent="0">
              <a:buNone/>
            </a:pPr>
            <a:endParaRPr lang="en-IN" sz="3800" b="1" dirty="0"/>
          </a:p>
          <a:p>
            <a:r>
              <a:rPr lang="en-IN" sz="3800" b="1" dirty="0"/>
              <a:t>Confidentiality (Secrecy):</a:t>
            </a:r>
            <a:r>
              <a:rPr lang="en-IN" sz="3800" dirty="0"/>
              <a:t> Keeps data private by turning it into unreadable code using encryption so only authorized people can read it. </a:t>
            </a:r>
          </a:p>
          <a:p>
            <a:r>
              <a:rPr lang="en-IN" sz="3800" b="1" dirty="0"/>
              <a:t>Integrity (Data Accuracy):</a:t>
            </a:r>
            <a:r>
              <a:rPr lang="en-IN" sz="3800" dirty="0"/>
              <a:t> Ensures data has not been changed, tampered with, or destroyed by unauthorized users during transfer or storage. </a:t>
            </a:r>
          </a:p>
          <a:p>
            <a:r>
              <a:rPr lang="en-IN" sz="3800" b="1" dirty="0"/>
              <a:t>Authentication (Identity Verification):</a:t>
            </a:r>
            <a:r>
              <a:rPr lang="en-IN" sz="3800" dirty="0"/>
              <a:t> Confirms that users, devices, or data sources are who they claim to be. </a:t>
            </a:r>
          </a:p>
          <a:p>
            <a:r>
              <a:rPr lang="en-IN" sz="3800" b="1" dirty="0"/>
              <a:t>Non-Repudiation (Proof of Action):</a:t>
            </a:r>
            <a:r>
              <a:rPr lang="en-IN" sz="3800" dirty="0"/>
              <a:t> Stops a person from falsely denying they sent or received a message or transaction. </a:t>
            </a:r>
          </a:p>
          <a:p>
            <a:r>
              <a:rPr lang="en-IN" sz="3800" b="1" dirty="0"/>
              <a:t>Access Control (Authorization):</a:t>
            </a:r>
            <a:r>
              <a:rPr lang="en-IN" sz="3800" dirty="0"/>
              <a:t> Limits who can view or use specific system resources and data based on verified permissions.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645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424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UNIT-I Principal of Security, Security Services CAP404 INFORMATION SECURITY AND PRIVACY</vt:lpstr>
      <vt:lpstr>Cryptography and Network Security Principles </vt:lpstr>
      <vt:lpstr>Cryptography</vt:lpstr>
      <vt:lpstr>Types of Cryptographic Attacks  </vt:lpstr>
      <vt:lpstr>Fundamental Network Security Principles </vt:lpstr>
      <vt:lpstr>PowerPoint Presentation</vt:lpstr>
      <vt:lpstr>PowerPoint Presentation</vt:lpstr>
      <vt:lpstr>PowerPoint Presentation</vt:lpstr>
      <vt:lpstr>PowerPoint Presentation</vt:lpstr>
      <vt:lpstr>Security Services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Sukhbeer Kaur</dc:creator>
  <cp:lastModifiedBy>Sukhbeer Kaur</cp:lastModifiedBy>
  <cp:revision>1</cp:revision>
  <dcterms:created xsi:type="dcterms:W3CDTF">2026-08-05T06:06:41Z</dcterms:created>
  <dcterms:modified xsi:type="dcterms:W3CDTF">2026-08-05T07:21:46Z</dcterms:modified>
</cp:coreProperties>
</file>