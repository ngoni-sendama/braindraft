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6" r:id="rId9"/>
    <p:sldId id="285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B03F3-0AAF-4E99-A2E5-C372AF1F453F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64DBA-47D1-474D-BB8B-662CC03EB5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754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64DBA-47D1-474D-BB8B-662CC03EB5F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384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13A-5E50-94C5-D4AD-5D9B21CF0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84C28-8E66-673F-5FEC-2CD7999C3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20A9C-867B-20AE-F604-911F7B86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A0454-36D0-EFD1-03E8-4EF55D6C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E669F-BDBC-5238-AEF2-CDACBBC6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59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40C74-E327-BDD4-4ED4-07277750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C9802-68D9-C016-5B41-AE8F594BB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FB9F3-87F6-5F38-79E2-664AC9E5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C6C24-62CB-1A15-3D7D-213AC010E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CA872-2E76-C2BD-B246-482B3A5C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045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4245-FAA1-8499-99BC-5BB2742D4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B0256-02C4-6664-0EFF-028526F5F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B421-350B-FE17-D6A4-3DD64F9D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7A101-2E80-46B9-5CCB-4744F59C7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41758-BF23-5FB5-EA0F-6A477BDC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839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969C3-E522-FAAA-C479-9C73C595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42D8-A377-65FB-9C99-751C5F7C0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2A97E-C23E-5986-F7FF-4F7426693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B95B4-063B-2756-16DD-6581174E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EAF20-040C-3D19-5C3E-BDBFE36D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6235F-51EB-F987-6D8E-528ECC10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45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B3B94-3A1D-FE81-CAC4-3888E6B11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BF0FC-E73A-34B4-BF46-4B2143C00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DA5B7-A3AE-8A5E-E6D8-CA5558527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898F5-04FF-231F-D820-155D542A3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477DD-345B-E187-7F9A-1DD2B4E97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11655A-DF5F-6CD2-DAF1-C58CFCB9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90C6E2-AF46-59B0-2ABD-E8EB21F2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63A5AE-F54D-118A-9F16-6F2D9173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956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1C7C-3162-450E-9DFF-6BECA45E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C6995-3C9D-1811-87D6-E11AEC0A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C6578-58F5-24F1-B2CA-890731F1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AA9FC-C7C6-F549-8D49-6178B22F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68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9172F-4450-09FC-1755-D08F30B61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7F3F97-1878-7B15-70C0-1E175FA7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CA1C7-C97B-8D9F-D020-AB8DEC7F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1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7BE6-53E4-3CB5-B626-631D73196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D7339-8AE4-FFA2-3ADC-3C254AF5B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99764-3A70-115A-9E6C-15BD38FA0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57754-CD12-D2D1-FB7C-E0B648D9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8DCC3-BC78-70BC-B103-FCC79C72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2A303-FFE3-40CF-B731-CD0CBA72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43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930B-5E0D-ED01-9365-1EB76CBF6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E60014-386F-E10C-4D50-4765BDB51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40702-A6F6-07CB-328E-1DD899486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99E4E-9712-5882-C473-E5149B99F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BAE69-EBD1-DE90-6FCE-30B5EDAD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4FA3A-6A9E-548B-F0F7-0C355F94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5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18DE-FC92-E7B7-25E2-24F06968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97570-41FB-4CA1-2135-17FDF27E8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C13D-1446-39BF-F426-3FF9DE94C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AEE2C-5AF0-4F63-7568-0EA811857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BA569-DDFD-2BB4-632B-1C77D38F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73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EA4D1-3FA1-C33E-E35C-9EEF6A85B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0C92A-7D6E-073D-E948-80D472CFD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9473B-EE53-365A-4ED2-4E1ABFCE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057CC-0998-952A-9D4F-465D4F125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90BD-0E45-224D-BEA5-CD026E8F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7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3C950-04F1-D096-6F01-C8D1C55B2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4AEEE-DA3B-85B6-C9CC-6CD59DA8E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D3C1D-6DFC-9CB9-7668-42FD95C8D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0E4F94-1A11-4414-BE0D-4D139F8316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D361-1B8D-49B5-D729-D09442A50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3204F-2249-E63F-7B99-6F6932881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901E1-3DFE-4F5D-B300-768446C2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72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80ABA-9D5F-EAF0-3C9F-10D3E630B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5749"/>
            <a:ext cx="12191999" cy="36004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UNIT-I</a:t>
            </a:r>
            <a:br>
              <a:rPr lang="en-US" b="1" dirty="0"/>
            </a:br>
            <a:r>
              <a:rPr lang="en-IN" b="1" dirty="0"/>
              <a:t>Importance of Information System</a:t>
            </a:r>
            <a:br>
              <a:rPr lang="en-IN" b="1" dirty="0"/>
            </a:br>
            <a:r>
              <a:rPr lang="en-US" b="1" dirty="0"/>
              <a:t>CAP404</a:t>
            </a:r>
            <a:br>
              <a:rPr lang="en-US" b="1" dirty="0"/>
            </a:br>
            <a:r>
              <a:rPr lang="en-IN" b="1" dirty="0"/>
              <a:t>INFORMATION SECURITY AND PRIVACY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8E7D3-759B-3266-5778-DA514BB8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806" y="3886199"/>
            <a:ext cx="11857704" cy="231795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SCHOOL OF COMPUTER APPLICATIONS</a:t>
            </a:r>
          </a:p>
          <a:p>
            <a:r>
              <a:rPr lang="en-US" dirty="0"/>
              <a:t>DOMAIN: AI &amp;ML</a:t>
            </a:r>
          </a:p>
        </p:txBody>
      </p:sp>
    </p:spTree>
    <p:extLst>
      <p:ext uri="{BB962C8B-B14F-4D97-AF65-F5344CB8AC3E}">
        <p14:creationId xmlns:p14="http://schemas.microsoft.com/office/powerpoint/2010/main" val="330814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42CA1-026C-BB40-FB5B-6D58AB7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Information Systems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2FD7C-0B66-5EC5-6A4F-5B87D2930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providing accurate and timely information.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efficiency through automation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routine tasks and processes.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organizations and with customers or partners.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business operations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inventory, sales, finance, and employee management.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competitive advantage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improving productivity, innovation, and customer service.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93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68F3-E337-6C7A-36B3-1599E0884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Improves Decision-Making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99F760-051A-2C05-A088-7DD6B2713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39" y="1258529"/>
            <a:ext cx="11307096" cy="523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05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DDA4-A36C-DCDE-F9F6-9E2FDE3B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16438F-1D2C-A7F4-0B94-3410F01C0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" y="0"/>
            <a:ext cx="12270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33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3C725-5EF9-E569-A514-F4AA8277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Increases efficiency through automation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FDF262-78B3-20EE-A026-E957F9C60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55" y="1789471"/>
            <a:ext cx="11818373" cy="48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03D0B-66EC-31EA-43E3-A9841DB5C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AF06E0-15F7-F27A-CF57-9DC6F7885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4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C06D-843E-DC1F-D37D-B3AF5730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64" y="18255"/>
            <a:ext cx="10515600" cy="1325563"/>
          </a:xfrm>
        </p:spPr>
        <p:txBody>
          <a:bodyPr/>
          <a:lstStyle/>
          <a:p>
            <a:r>
              <a:rPr lang="en-IN" b="1" dirty="0"/>
              <a:t>3. Enhances Communication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90DD776-33A8-F706-50B2-475A34E40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89702"/>
            <a:ext cx="12270658" cy="566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53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106D-1FC1-B64A-3637-3F312A7F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Cont.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00427-6700-99FC-EF27-7E6042FDF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E7337-D37A-DAA6-407C-7B06C4522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819"/>
            <a:ext cx="12191999" cy="689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9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163E-17CE-52A5-2279-31D4EEB26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0" y="138983"/>
            <a:ext cx="10515600" cy="863907"/>
          </a:xfrm>
        </p:spPr>
        <p:txBody>
          <a:bodyPr/>
          <a:lstStyle/>
          <a:p>
            <a:r>
              <a:rPr lang="en-IN" b="1" dirty="0"/>
              <a:t>4. Supports Daily Business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A1E87-BEF4-0399-48FD-40A79F5DC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" y="1002890"/>
            <a:ext cx="11009671" cy="517407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F85AB-8C4B-FB57-82B8-BA0D0BC4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568"/>
            <a:ext cx="12192000" cy="581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1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F3E6-A2C4-B113-546A-FB3C48B6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Cont.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049A-4CB8-C96D-FCA8-FA2E4506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9173F-368C-6904-423A-03B8CB448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7986"/>
            <a:ext cx="12192000" cy="685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47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5E710-67E6-2815-77FA-1B7F5D0CD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Provides Competitive Advantage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82B1A-7C16-8629-4112-9BC0DA139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9D0A8-8461-83FE-CB1A-0A37EFEC4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5" y="1690688"/>
            <a:ext cx="11002296" cy="491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058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8D7A-E542-3F7D-1C5A-1B96F6A6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Cont.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5F506-DCE7-CDDA-A453-BBB9EBB5D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6BA73-C5E2-099D-A35B-2EEF1001C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082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32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B35F-ADB9-6840-F2CD-A69E1055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5028-4105-F850-774E-7F9CDB14D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570C3-8279-C3DB-BE2D-81776D95E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154" y="0"/>
            <a:ext cx="121526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1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FA0A-3FD8-2DE1-DDBA-932D9D2FA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029335" cy="207327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Which sequence correctly represents the logical flow of information within most Information Systems?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ACBDA-FD5B-1745-B7FF-01AA54144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A. Retrieval → Collection → Storage → Processing</a:t>
            </a:r>
          </a:p>
          <a:p>
            <a:pPr marL="0" indent="0">
              <a:buNone/>
            </a:pPr>
            <a:r>
              <a:rPr lang="en-IN" dirty="0"/>
              <a:t>B. Collection → Processing → Storage → Retrieval</a:t>
            </a:r>
          </a:p>
          <a:p>
            <a:pPr marL="0" indent="0">
              <a:buNone/>
            </a:pPr>
            <a:r>
              <a:rPr lang="en-IN" dirty="0"/>
              <a:t>C. Processing → Collection → Retrieval → Storage</a:t>
            </a:r>
          </a:p>
          <a:p>
            <a:pPr marL="0" indent="0">
              <a:buNone/>
            </a:pPr>
            <a:r>
              <a:rPr lang="en-IN" dirty="0"/>
              <a:t>D. Storage → Collection → Processing → Retrieval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21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E0CE-937E-4D02-64EA-8EF09AA6A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8958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 university system automatically generates attendance reports from daily biometric scans. Which combination of features is involved?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2C662-6E37-B52A-76CD-37F73E25E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4709"/>
            <a:ext cx="10515600" cy="352225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A. Data Collection and Data Processing</a:t>
            </a:r>
          </a:p>
          <a:p>
            <a:pPr marL="0" indent="0">
              <a:buNone/>
            </a:pPr>
            <a:r>
              <a:rPr lang="en-IN" dirty="0"/>
              <a:t>B. Data Storage and Information Retrieval</a:t>
            </a:r>
          </a:p>
          <a:p>
            <a:pPr marL="0" indent="0">
              <a:buNone/>
            </a:pPr>
            <a:r>
              <a:rPr lang="en-IN" dirty="0"/>
              <a:t>C. Automation and Timely Information only</a:t>
            </a:r>
          </a:p>
          <a:p>
            <a:pPr marL="0" indent="0">
              <a:buNone/>
            </a:pPr>
            <a:r>
              <a:rPr lang="en-IN" dirty="0"/>
              <a:t>D. Accuracy &amp; Reliability only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743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E15B-D4F5-09E1-333B-8D688A8C2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3226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Which feature enables organizations to respond rapidly to changing market conditions?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1F075-630F-CEE5-672A-FB8BB8C70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24155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A. Data Storage</a:t>
            </a:r>
          </a:p>
          <a:p>
            <a:pPr marL="0" indent="0">
              <a:buNone/>
            </a:pPr>
            <a:r>
              <a:rPr lang="en-IN" dirty="0"/>
              <a:t>B. Timely Information</a:t>
            </a:r>
          </a:p>
          <a:p>
            <a:pPr marL="0" indent="0">
              <a:buNone/>
            </a:pPr>
            <a:r>
              <a:rPr lang="en-IN" dirty="0"/>
              <a:t>C. Information Retrieval</a:t>
            </a:r>
          </a:p>
          <a:p>
            <a:pPr marL="0" indent="0">
              <a:buNone/>
            </a:pPr>
            <a:r>
              <a:rPr lang="en-IN" dirty="0"/>
              <a:t>D. Data Collection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8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3BD5E-1F0B-A029-AD19-49C52AD5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Which statement best distinguishes Data Processing from Information Retrieval?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303CC-7D32-28A1-B290-6D257C96A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A. Processing stores data permanently, while retrieval deletes data.</a:t>
            </a:r>
          </a:p>
          <a:p>
            <a:pPr marL="0" indent="0">
              <a:buNone/>
            </a:pPr>
            <a:r>
              <a:rPr lang="en-IN" dirty="0"/>
              <a:t>B. Processing transforms raw data into information, while retrieval accesses stored information when needed.</a:t>
            </a:r>
          </a:p>
          <a:p>
            <a:pPr marL="0" indent="0">
              <a:buNone/>
            </a:pPr>
            <a:r>
              <a:rPr lang="en-IN" dirty="0"/>
              <a:t>C. Processing collects data from users, while retrieval validates data accuracy.</a:t>
            </a:r>
          </a:p>
          <a:p>
            <a:pPr marL="0" indent="0">
              <a:buNone/>
            </a:pPr>
            <a:r>
              <a:rPr lang="en-IN" dirty="0"/>
              <a:t>D. Processing automates tasks, while retrieval provides timely information only.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366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315</Words>
  <Application>Microsoft Office PowerPoint</Application>
  <PresentationFormat>Widescreen</PresentationFormat>
  <Paragraphs>43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UNIT-I Importance of Information System CAP404 INFORMATION SECURITY AND PRIVACY</vt:lpstr>
      <vt:lpstr>Importance of Information Systems </vt:lpstr>
      <vt:lpstr>1. Improves Decision-Making</vt:lpstr>
      <vt:lpstr>Cont.</vt:lpstr>
      <vt:lpstr>2. Increases efficiency through automation</vt:lpstr>
      <vt:lpstr>Cont.</vt:lpstr>
      <vt:lpstr>3. Enhances Communication</vt:lpstr>
      <vt:lpstr>Cont.</vt:lpstr>
      <vt:lpstr>4. Supports Daily Business Operations</vt:lpstr>
      <vt:lpstr>Cont.</vt:lpstr>
      <vt:lpstr>5. Provides Competitive Advantage</vt:lpstr>
      <vt:lpstr>Cont.</vt:lpstr>
      <vt:lpstr>PowerPoint Presentation</vt:lpstr>
      <vt:lpstr>Which sequence correctly represents the logical flow of information within most Information Systems? </vt:lpstr>
      <vt:lpstr>A university system automatically generates attendance reports from daily biometric scans. Which combination of features is involved? </vt:lpstr>
      <vt:lpstr>Which feature enables organizations to respond rapidly to changing market conditions? </vt:lpstr>
      <vt:lpstr>Which statement best distinguishes Data Processing from Information Retrieval?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Sukhbeer Kaur</dc:creator>
  <cp:lastModifiedBy>Sukhbeer Kaur</cp:lastModifiedBy>
  <cp:revision>1</cp:revision>
  <dcterms:created xsi:type="dcterms:W3CDTF">2026-07-29T08:36:59Z</dcterms:created>
  <dcterms:modified xsi:type="dcterms:W3CDTF">2026-07-30T08:44:17Z</dcterms:modified>
</cp:coreProperties>
</file>