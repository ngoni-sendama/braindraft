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0ABA-9D5F-EAF0-3C9F-10D3E630B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749"/>
            <a:ext cx="12191999" cy="360045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UNIT-I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for security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CAP404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 AND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8E7D3-759B-3266-5778-DA514BB87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806" y="3886199"/>
            <a:ext cx="11857704" cy="2317955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AI &amp;ML</a:t>
            </a:r>
          </a:p>
        </p:txBody>
      </p:sp>
    </p:spTree>
    <p:extLst>
      <p:ext uri="{BB962C8B-B14F-4D97-AF65-F5344CB8AC3E}">
        <p14:creationId xmlns:p14="http://schemas.microsoft.com/office/powerpoint/2010/main" val="330814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86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FEDC6C-FB20-553D-0AD5-4624A0437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0"/>
            <a:ext cx="12064181" cy="69612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8600BE-F1A4-43F2-7D8A-E4D402975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37652"/>
            <a:ext cx="12192000" cy="7157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2A7AA8-EB00-C882-08C5-F42004663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7842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AF1A97-1F35-AAD7-AE58-1292140B0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809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54CD33-3B50-5CFA-ACDD-BA303100C78B}"/>
              </a:ext>
            </a:extLst>
          </p:cNvPr>
          <p:cNvSpPr txBox="1"/>
          <p:nvPr/>
        </p:nvSpPr>
        <p:spPr>
          <a:xfrm>
            <a:off x="353960" y="605813"/>
            <a:ext cx="103730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Arjun connects to free Wi-Fi at a café and logs in to his online banking account. A cybercriminal intercepts his login details and transfers money from his account.</a:t>
            </a:r>
          </a:p>
          <a:p>
            <a:pPr>
              <a:buNone/>
            </a:pPr>
            <a:endParaRPr lang="en-IN" sz="3200" b="1" dirty="0"/>
          </a:p>
          <a:p>
            <a:pPr>
              <a:buNone/>
            </a:pPr>
            <a:r>
              <a:rPr lang="en-IN" sz="3200" b="1" dirty="0"/>
              <a:t>Questions: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Which cyber threat is involved?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Why is public Wi-Fi risky?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Suggest two preventive measures.</a:t>
            </a:r>
          </a:p>
        </p:txBody>
      </p:sp>
    </p:spTree>
    <p:extLst>
      <p:ext uri="{BB962C8B-B14F-4D97-AF65-F5344CB8AC3E}">
        <p14:creationId xmlns:p14="http://schemas.microsoft.com/office/powerpoint/2010/main" val="2454362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A2EA6-1E98-EF46-AA97-37CDCC6E62A5}"/>
              </a:ext>
            </a:extLst>
          </p:cNvPr>
          <p:cNvSpPr txBox="1"/>
          <p:nvPr/>
        </p:nvSpPr>
        <p:spPr>
          <a:xfrm>
            <a:off x="963562" y="511387"/>
            <a:ext cx="102648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Which cyber threat is involved?</a:t>
            </a:r>
          </a:p>
          <a:p>
            <a:pPr>
              <a:buNone/>
            </a:pPr>
            <a:r>
              <a:rPr lang="en-IN" sz="2400" dirty="0"/>
              <a:t>Man-in-the-Middle (MitM) attack / Data interception</a:t>
            </a:r>
          </a:p>
          <a:p>
            <a:pPr>
              <a:buNone/>
            </a:pPr>
            <a:r>
              <a:rPr lang="en-IN" sz="2400" dirty="0"/>
              <a:t>The attacker intercepts the communication between Arjun and the banking website and steals his login credentials.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2. Why is public Wi-Fi risky?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Public Wi-Fi networks are often unsecured or weakly protected.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Hackers on the same network can monitor internet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Sensitive information such as usernames, passwords, OTPs, and banking details may be captured.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None/>
            </a:pPr>
            <a:r>
              <a:rPr lang="en-IN" sz="2400" b="1" dirty="0"/>
              <a:t>3. Suggest two preventive measures.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Avoid online banking or entering sensitive information on public Wi-Fi.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Use a VPN (Virtual Private Network) or switch to mobile data when accessing financial accounts.</a:t>
            </a:r>
          </a:p>
        </p:txBody>
      </p:sp>
    </p:spTree>
    <p:extLst>
      <p:ext uri="{BB962C8B-B14F-4D97-AF65-F5344CB8AC3E}">
        <p14:creationId xmlns:p14="http://schemas.microsoft.com/office/powerpoint/2010/main" val="650152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5F07F5-5176-756B-BA8C-1C2E59CCD95B}"/>
              </a:ext>
            </a:extLst>
          </p:cNvPr>
          <p:cNvSpPr txBox="1"/>
          <p:nvPr/>
        </p:nvSpPr>
        <p:spPr>
          <a:xfrm>
            <a:off x="648929" y="428178"/>
            <a:ext cx="1031403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Fake internship offer</a:t>
            </a:r>
          </a:p>
          <a:p>
            <a:pPr>
              <a:buNone/>
            </a:pPr>
            <a:r>
              <a:rPr lang="en-IN" sz="3200" b="1" dirty="0"/>
              <a:t>Rahul receives a message offering a paid internship and is asked to pay a "registration fee" and upload Aadhaar and bank details. After paying, the recruiter disappears.</a:t>
            </a:r>
          </a:p>
          <a:p>
            <a:pPr>
              <a:buNone/>
            </a:pPr>
            <a:endParaRPr lang="en-IN" sz="3200" b="1" dirty="0"/>
          </a:p>
          <a:p>
            <a:pPr>
              <a:buNone/>
            </a:pPr>
            <a:r>
              <a:rPr lang="en-IN" sz="3200" b="1" dirty="0"/>
              <a:t>Questions: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What type of cybercrime occurred?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What warning signs were present?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What should Rahul do immediately after the fraud?</a:t>
            </a:r>
          </a:p>
        </p:txBody>
      </p:sp>
    </p:spTree>
    <p:extLst>
      <p:ext uri="{BB962C8B-B14F-4D97-AF65-F5344CB8AC3E}">
        <p14:creationId xmlns:p14="http://schemas.microsoft.com/office/powerpoint/2010/main" val="114985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614A23-9310-879A-8385-82FBA43555E2}"/>
              </a:ext>
            </a:extLst>
          </p:cNvPr>
          <p:cNvSpPr txBox="1"/>
          <p:nvPr/>
        </p:nvSpPr>
        <p:spPr>
          <a:xfrm>
            <a:off x="108155" y="615303"/>
            <a:ext cx="1174954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 What type of cybercrime occurred?</a:t>
            </a:r>
          </a:p>
          <a:p>
            <a:r>
              <a:rPr lang="en-IN" sz="2400" dirty="0"/>
              <a:t>Online fraud / Phishing scam / Identity theft</a:t>
            </a:r>
          </a:p>
          <a:p>
            <a:r>
              <a:rPr lang="en-IN" sz="2400" dirty="0"/>
              <a:t>The attacker tricked Rahul into sending money and personal information by pretending to be a genuine recruiter.</a:t>
            </a:r>
          </a:p>
          <a:p>
            <a:r>
              <a:rPr lang="en-IN" sz="2400" b="1" dirty="0"/>
              <a:t>2. What warning signs were present?</a:t>
            </a:r>
          </a:p>
          <a:p>
            <a:r>
              <a:rPr lang="en-IN" sz="2400" dirty="0"/>
              <a:t>Request for a registration fee before joining.</a:t>
            </a:r>
          </a:p>
          <a:p>
            <a:r>
              <a:rPr lang="en-IN" sz="2400" dirty="0"/>
              <a:t>Demand for Aadhaar and bank details.</a:t>
            </a:r>
          </a:p>
          <a:p>
            <a:r>
              <a:rPr lang="en-IN" sz="2400" dirty="0"/>
              <a:t>No official company email, website, or verified contact.</a:t>
            </a:r>
          </a:p>
          <a:p>
            <a:r>
              <a:rPr lang="en-IN" sz="2400" dirty="0"/>
              <a:t>Pressure to make payment quickly.</a:t>
            </a:r>
          </a:p>
          <a:p>
            <a:r>
              <a:rPr lang="en-IN" sz="2400" dirty="0"/>
              <a:t>Communication through an unknown number or social media account.</a:t>
            </a:r>
          </a:p>
          <a:p>
            <a:r>
              <a:rPr lang="en-IN" sz="2400" b="1" dirty="0"/>
              <a:t>3. What should Rahul do immediately after the fraud?</a:t>
            </a:r>
          </a:p>
          <a:p>
            <a:r>
              <a:rPr lang="en-IN" sz="2400" dirty="0"/>
              <a:t>Contact his bank immediately and request that the transaction be blocked or the account monitored.</a:t>
            </a:r>
          </a:p>
          <a:p>
            <a:r>
              <a:rPr lang="en-IN" sz="2400" dirty="0"/>
              <a:t>Report the fraud to the National Cyber Crime Reporting Portal (cybercrime.gov.in) or call 1930 (India’s cyber fraud helpline).</a:t>
            </a:r>
          </a:p>
          <a:p>
            <a:r>
              <a:rPr lang="en-IN" sz="2400" dirty="0"/>
              <a:t>Change passwords for affected accounts and monitor bank transactions.</a:t>
            </a:r>
          </a:p>
          <a:p>
            <a:r>
              <a:rPr lang="en-IN" sz="2400" dirty="0"/>
              <a:t>Inform family members or friends so they do not fall for the same scam.</a:t>
            </a:r>
          </a:p>
        </p:txBody>
      </p:sp>
    </p:spTree>
    <p:extLst>
      <p:ext uri="{BB962C8B-B14F-4D97-AF65-F5344CB8AC3E}">
        <p14:creationId xmlns:p14="http://schemas.microsoft.com/office/powerpoint/2010/main" val="353400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8ED474-39EA-3361-BB6B-AE816FF436F6}"/>
              </a:ext>
            </a:extLst>
          </p:cNvPr>
          <p:cNvSpPr txBox="1"/>
          <p:nvPr/>
        </p:nvSpPr>
        <p:spPr>
          <a:xfrm>
            <a:off x="639097" y="646081"/>
            <a:ext cx="850490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7. Defaced college website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The homepage of a university website is replaced with offensive images and political slogans by an unknown attacker.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Questions:</a:t>
            </a:r>
          </a:p>
          <a:p>
            <a:pPr>
              <a:buNone/>
            </a:pPr>
            <a:endParaRPr lang="en-I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Which type of cybercrime is this?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What is the likely intention of the attacker?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How can organizations reduce the risk of such attacks?</a:t>
            </a:r>
          </a:p>
        </p:txBody>
      </p:sp>
    </p:spTree>
    <p:extLst>
      <p:ext uri="{BB962C8B-B14F-4D97-AF65-F5344CB8AC3E}">
        <p14:creationId xmlns:p14="http://schemas.microsoft.com/office/powerpoint/2010/main" val="2245740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B8059B-24CD-3C47-5AF1-74008CEA4813}"/>
              </a:ext>
            </a:extLst>
          </p:cNvPr>
          <p:cNvSpPr txBox="1"/>
          <p:nvPr/>
        </p:nvSpPr>
        <p:spPr>
          <a:xfrm>
            <a:off x="1076632" y="0"/>
            <a:ext cx="1003873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 Which type of cybercrime is this?</a:t>
            </a:r>
          </a:p>
          <a:p>
            <a:r>
              <a:rPr lang="en-IN" sz="2400" dirty="0"/>
              <a:t>Computer Vandalism (Website Defacement)</a:t>
            </a:r>
          </a:p>
          <a:p>
            <a:r>
              <a:rPr lang="en-IN" sz="2400" dirty="0"/>
              <a:t>The attacker has intentionally modified the university website without permission.</a:t>
            </a:r>
          </a:p>
          <a:p>
            <a:endParaRPr lang="en-IN" sz="2400" dirty="0"/>
          </a:p>
          <a:p>
            <a:r>
              <a:rPr lang="en-IN" sz="2400" b="1" dirty="0"/>
              <a:t>2. What is the likely intention of the attacker?</a:t>
            </a:r>
          </a:p>
          <a:p>
            <a:r>
              <a:rPr lang="en-IN" sz="2400" dirty="0"/>
              <a:t>To damage the university’s reputation.</a:t>
            </a:r>
          </a:p>
          <a:p>
            <a:r>
              <a:rPr lang="en-IN" sz="2400" dirty="0"/>
              <a:t>To spread political, ideological, or offensive messages.</a:t>
            </a:r>
          </a:p>
          <a:p>
            <a:r>
              <a:rPr lang="en-IN" sz="2400" dirty="0"/>
              <a:t>To gain attention or demonstrate hacking skills.</a:t>
            </a:r>
          </a:p>
          <a:p>
            <a:r>
              <a:rPr lang="en-IN" sz="2400" dirty="0"/>
              <a:t>To create fear, embarrassment, or public disruption.</a:t>
            </a:r>
          </a:p>
          <a:p>
            <a:endParaRPr lang="en-IN" sz="2400" dirty="0"/>
          </a:p>
          <a:p>
            <a:r>
              <a:rPr lang="en-IN" sz="2400" b="1" dirty="0"/>
              <a:t>3. How can organizations reduce the risk of such attacks?</a:t>
            </a:r>
          </a:p>
          <a:p>
            <a:r>
              <a:rPr lang="en-IN" sz="2400" dirty="0"/>
              <a:t>Keep websites, servers, and software updated with security patches.</a:t>
            </a:r>
          </a:p>
          <a:p>
            <a:r>
              <a:rPr lang="en-IN" sz="2400" dirty="0"/>
              <a:t>Use strong passwords and multi-factor authentication (MFA).</a:t>
            </a:r>
          </a:p>
          <a:p>
            <a:r>
              <a:rPr lang="en-IN" sz="2400" dirty="0"/>
              <a:t>Deploy firewalls and web application firewalls (WAFs).</a:t>
            </a:r>
          </a:p>
          <a:p>
            <a:r>
              <a:rPr lang="en-IN" sz="2400" dirty="0"/>
              <a:t>Perform regular security audits and website monitoring.</a:t>
            </a:r>
          </a:p>
          <a:p>
            <a:r>
              <a:rPr lang="en-IN" sz="2400" dirty="0"/>
              <a:t>Maintain secure backups so the website can be restored quickly.</a:t>
            </a:r>
          </a:p>
        </p:txBody>
      </p:sp>
    </p:spTree>
    <p:extLst>
      <p:ext uri="{BB962C8B-B14F-4D97-AF65-F5344CB8AC3E}">
        <p14:creationId xmlns:p14="http://schemas.microsoft.com/office/powerpoint/2010/main" val="3590216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477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588</Words>
  <Application>Microsoft Office PowerPoint</Application>
  <PresentationFormat>Widescreen</PresentationFormat>
  <Paragraphs>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UNIT-I Need for security CAP404 INFORMATION SECURITY AND PRIVACY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Sukhbeer Kaur</cp:lastModifiedBy>
  <cp:revision>3</cp:revision>
  <dcterms:created xsi:type="dcterms:W3CDTF">2013-01-27T09:14:16Z</dcterms:created>
  <dcterms:modified xsi:type="dcterms:W3CDTF">2026-07-31T09:08:18Z</dcterms:modified>
  <cp:category/>
</cp:coreProperties>
</file>