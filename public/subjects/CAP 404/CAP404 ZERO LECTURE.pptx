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5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iOAuaeSA2SyntzQmWcVVqLrazt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8F28EED-D4C9-405A-ACAA-3DCABE6937B9}">
  <a:tblStyle styleId="{98F28EED-D4C9-405A-ACAA-3DCABE6937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5A4B7DB-A7A4-4DE7-ADC8-E3AEF9F50A0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7" name="Google Shape;31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5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8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8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0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0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60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nptel.pdf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projects.pdf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internship.pdf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rpl.pdf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5_cs16/preview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onlinecourses.swayam2.ac.in/cec25_cs03/preview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3000" y="2215798"/>
            <a:ext cx="9001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SzPct val="100000"/>
            </a:pPr>
            <a:r>
              <a:rPr lang="en-IN" b="1" dirty="0"/>
              <a:t>CAP404</a:t>
            </a:r>
            <a:br>
              <a:rPr lang="en-IN" b="1" dirty="0"/>
            </a:br>
            <a:r>
              <a:rPr lang="en-IN" b="1" dirty="0"/>
              <a:t>INFORMATION SECURITY AND PRIVACY</a:t>
            </a:r>
            <a:br>
              <a:rPr lang="en-IN" sz="4800" b="1" dirty="0"/>
            </a:br>
            <a:br>
              <a:rPr lang="en-IN" sz="4800" b="1" dirty="0"/>
            </a:br>
            <a:r>
              <a:rPr lang="en-IN" sz="3100" b="1" dirty="0"/>
              <a:t>Lecture Zero</a:t>
            </a:r>
            <a:endParaRPr b="1"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375187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b="1"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dirty="0"/>
              <a:t>School of Computer Applications</a:t>
            </a: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dirty="0"/>
              <a:t>Domain: AI &amp; ML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dirty="0"/>
              <a:t>Lovely Professional University</a:t>
            </a:r>
            <a:endParaRPr dirty="0"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251520" y="116632"/>
            <a:ext cx="8712968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 dirty="0">
                <a:solidFill>
                  <a:schemeClr val="dk1"/>
                </a:solidFill>
              </a:rPr>
              <a:t>About the Course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271436" y="966738"/>
            <a:ext cx="8621044" cy="555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algn="just" fontAlgn="base"/>
            <a:r>
              <a:rPr lang="en-IN" sz="2800" dirty="0"/>
              <a:t>This is an introductory course in </a:t>
            </a:r>
            <a:r>
              <a:rPr lang="en-IN" sz="2800" b="1" dirty="0"/>
              <a:t>cryptography and security risk management. </a:t>
            </a:r>
          </a:p>
          <a:p>
            <a:pPr algn="just" fontAlgn="base"/>
            <a:r>
              <a:rPr lang="en-IN" sz="2800" dirty="0"/>
              <a:t>This course provides an introduction to </a:t>
            </a:r>
            <a:r>
              <a:rPr lang="en-IN" sz="2800" b="1" dirty="0"/>
              <a:t>information security</a:t>
            </a:r>
            <a:r>
              <a:rPr lang="en-IN" sz="2800" dirty="0"/>
              <a:t> and other fundamental concepts of </a:t>
            </a:r>
            <a:r>
              <a:rPr lang="en-IN" sz="2800" b="1" dirty="0"/>
              <a:t>risk management. </a:t>
            </a:r>
          </a:p>
          <a:p>
            <a:pPr algn="just" fontAlgn="base"/>
            <a:r>
              <a:rPr lang="en-IN" sz="2800" dirty="0"/>
              <a:t>This course also discusses </a:t>
            </a:r>
            <a:r>
              <a:rPr lang="en-IN" sz="2800" b="1" dirty="0"/>
              <a:t>cryptocurrency</a:t>
            </a:r>
            <a:r>
              <a:rPr lang="en-IN" sz="2800" dirty="0"/>
              <a:t>, with a special focus on bitcoin and mining techniques. </a:t>
            </a:r>
          </a:p>
          <a:p>
            <a:pPr algn="just" fontAlgn="base"/>
            <a:r>
              <a:rPr lang="en-IN" sz="2800" dirty="0"/>
              <a:t>Topics include layered computer security and privacy, cryptography fundamentals, cryptocurrency, risk identification, and assessment techniques.</a:t>
            </a:r>
          </a:p>
          <a:p>
            <a:pPr algn="just" fontAlgn="base"/>
            <a:r>
              <a:rPr lang="en-IN" sz="2800" dirty="0"/>
              <a:t>At the end of the course there will be a discussion on various security and risk management techniques used in the computer system.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251520" y="260647"/>
            <a:ext cx="8568952" cy="2378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4400" b="1" dirty="0">
                <a:solidFill>
                  <a:schemeClr val="dk1"/>
                </a:solidFill>
              </a:rPr>
              <a:t>Text Book</a:t>
            </a: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251520" y="2930236"/>
            <a:ext cx="8568952" cy="21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7800" algn="just">
              <a:spcBef>
                <a:spcPts val="0"/>
              </a:spcBef>
              <a:buSzPts val="2800"/>
            </a:pPr>
            <a:r>
              <a:rPr lang="en-IN" sz="2800" dirty="0"/>
              <a:t>CRYPTOGRAPHY AND NETWORK SECURITY BY ATUL KAHATE, </a:t>
            </a:r>
            <a:r>
              <a:rPr lang="en-IN" sz="2800" dirty="0" err="1"/>
              <a:t>M.G.Hills</a:t>
            </a:r>
            <a:endParaRPr sz="2800" dirty="0"/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323528" y="817707"/>
            <a:ext cx="836327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sz="4400" b="1" dirty="0">
                <a:solidFill>
                  <a:schemeClr val="dk1"/>
                </a:solidFill>
              </a:rPr>
              <a:t>Reference Books</a:t>
            </a:r>
            <a:endParaRPr sz="4400" dirty="0"/>
          </a:p>
        </p:txBody>
      </p:sp>
      <p:sp>
        <p:nvSpPr>
          <p:cNvPr id="113" name="Google Shape;113;p4"/>
          <p:cNvSpPr txBox="1"/>
          <p:nvPr/>
        </p:nvSpPr>
        <p:spPr>
          <a:xfrm>
            <a:off x="472715" y="2564904"/>
            <a:ext cx="8473857" cy="278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800" b="1" dirty="0"/>
              <a:t>R-1</a:t>
            </a:r>
            <a:r>
              <a:rPr lang="en-IN" sz="2800" dirty="0"/>
              <a:t> INFORMATION SYSTEMS SECURITY - SECURITY MANAGEMENT, METRICS, FRAMEWORKS AND BEST PRACTICES SECOND EDITION BY NINA GODBOLE, BHUVAN UNHELKAR, WILEY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4320" marR="0" lvl="0" indent="-134525" algn="just" rtl="0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395288" y="260350"/>
            <a:ext cx="8569325" cy="1008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 fontScale="975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Organization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395288" y="1268413"/>
            <a:ext cx="8424862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4013" marR="0" lvl="0" indent="-354013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T P of the course is 4 0 0, </a:t>
            </a:r>
            <a:r>
              <a:rPr lang="en-IN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</a:t>
            </a: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4 hours of lecture per week for 14 weeks.</a:t>
            </a:r>
            <a:endParaRPr dirty="0"/>
          </a:p>
          <a:p>
            <a:pPr marL="274320" marR="0" lvl="0" indent="-274320" algn="l" rtl="0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Evaulations</a:t>
            </a: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274320" marR="0" lvl="0" indent="-274320" algn="l" rtl="0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endParaRPr dirty="0"/>
          </a:p>
          <a:p>
            <a:pPr marL="717550" lvl="1" indent="-363538">
              <a:spcBef>
                <a:spcPts val="370"/>
              </a:spcBef>
              <a:buClr>
                <a:schemeClr val="accent2"/>
              </a:buClr>
              <a:buSzPts val="1870"/>
              <a:buFont typeface="Noto Sans Symbols"/>
              <a:buChar char="⚫"/>
            </a:pPr>
            <a:r>
              <a:rPr lang="en-IN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Continuous Assessments will be held in the 5, 9</a:t>
            </a:r>
            <a:r>
              <a:rPr lang="en-IN" sz="2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IN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12</a:t>
            </a:r>
            <a:r>
              <a:rPr lang="en-IN" sz="2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IN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weeks of the term. (</a:t>
            </a:r>
            <a:r>
              <a:rPr lang="en-I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A0203 (2 best out of 3))</a:t>
            </a:r>
            <a:endParaRPr dirty="0"/>
          </a:p>
          <a:p>
            <a:pPr marL="717550" marR="0" lvl="1" indent="-363538" algn="l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Noto Sans Symbols"/>
              <a:buChar char="⚫"/>
            </a:pPr>
            <a:r>
              <a:rPr lang="en-IN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Term Exam will be held after week 7.</a:t>
            </a:r>
            <a:endParaRPr dirty="0"/>
          </a:p>
          <a:p>
            <a:pPr marL="717550" marR="0" lvl="1" indent="-363538" algn="just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Noto Sans Symbols"/>
              <a:buChar char="⚫"/>
            </a:pPr>
            <a:r>
              <a:rPr lang="en-IN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Term Exam will be held after week 14.</a:t>
            </a:r>
            <a:endParaRPr dirty="0"/>
          </a:p>
          <a:p>
            <a:pPr marL="354012" marR="0" lvl="1" indent="0" algn="just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277813" y="549275"/>
            <a:ext cx="85693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 fontScale="90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 sz="4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Course Assessment Model</a:t>
            </a:r>
            <a:endParaRPr sz="4400" b="1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p6"/>
          <p:cNvGraphicFramePr/>
          <p:nvPr>
            <p:extLst>
              <p:ext uri="{D42A27DB-BD31-4B8C-83A1-F6EECF244321}">
                <p14:modId xmlns:p14="http://schemas.microsoft.com/office/powerpoint/2010/main" val="3142516017"/>
              </p:ext>
            </p:extLst>
          </p:nvPr>
        </p:nvGraphicFramePr>
        <p:xfrm>
          <a:off x="539750" y="1196975"/>
          <a:ext cx="8064500" cy="4464100"/>
        </p:xfrm>
        <a:graphic>
          <a:graphicData uri="http://schemas.openxmlformats.org/drawingml/2006/table">
            <a:tbl>
              <a:tblPr firstRow="1" bandRow="1">
                <a:noFill/>
                <a:tableStyleId>{98F28EED-D4C9-405A-ACAA-3DCABE6937B9}</a:tableStyleId>
              </a:tblPr>
              <a:tblGrid>
                <a:gridCol w="523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4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 Criteria</a:t>
                      </a:r>
                      <a:endParaRPr/>
                    </a:p>
                  </a:txBody>
                  <a:tcPr marL="91425" marR="914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4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Weightage</a:t>
                      </a:r>
                      <a:endParaRPr/>
                    </a:p>
                  </a:txBody>
                  <a:tcPr marL="91425" marR="91425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Attendance</a:t>
                      </a:r>
                      <a:endParaRPr/>
                    </a:p>
                  </a:txBody>
                  <a:tcPr marL="91425" marR="914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05%</a:t>
                      </a:r>
                      <a:endParaRPr/>
                    </a:p>
                  </a:txBody>
                  <a:tcPr marL="91425" marR="91425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Assessments</a:t>
                      </a:r>
                      <a:endParaRPr/>
                    </a:p>
                  </a:txBody>
                  <a:tcPr marL="91425" marR="914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25%</a:t>
                      </a:r>
                      <a:endParaRPr/>
                    </a:p>
                  </a:txBody>
                  <a:tcPr marL="91425" marR="91425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IN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 Term Exam Theory</a:t>
                      </a:r>
                      <a:endParaRPr/>
                    </a:p>
                  </a:txBody>
                  <a:tcPr marL="91425" marR="914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b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/>
                    </a:p>
                  </a:txBody>
                  <a:tcPr marL="91425" marR="91425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 Term Exam</a:t>
                      </a:r>
                      <a:endParaRPr sz="2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2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/>
                    </a:p>
                  </a:txBody>
                  <a:tcPr marL="91425" marR="914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dirty="0"/>
                    </a:p>
                  </a:txBody>
                  <a:tcPr marL="91425" marR="91425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>
                <a:solidFill>
                  <a:schemeClr val="dk1"/>
                </a:solidFill>
              </a:rPr>
              <a:t>Program</a:t>
            </a:r>
            <a:r>
              <a:rPr lang="en-IN"/>
              <a:t> </a:t>
            </a:r>
            <a:r>
              <a:rPr lang="en-IN" b="1">
                <a:solidFill>
                  <a:schemeClr val="dk1"/>
                </a:solidFill>
              </a:rPr>
              <a:t>Outcomes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41" name="Google Shape;141;p8" descr="Timelin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5496" y="1700808"/>
            <a:ext cx="8928992" cy="479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4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 rotWithShape="1">
          <a:blip r:embed="rId5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>
                <a:solidFill>
                  <a:schemeClr val="dk1"/>
                </a:solidFill>
              </a:rPr>
              <a:t>Program Specific Outcomes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49" name="Google Shape;149;p9" descr="A picture containing applicatio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6255" y="1772815"/>
            <a:ext cx="8977745" cy="3329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9"/>
          <p:cNvPicPr preferRelativeResize="0"/>
          <p:nvPr/>
        </p:nvPicPr>
        <p:blipFill rotWithShape="1">
          <a:blip r:embed="rId4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 rotWithShape="1">
          <a:blip r:embed="rId5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>
            <a:spLocks noGrp="1"/>
          </p:cNvSpPr>
          <p:nvPr>
            <p:ph type="title"/>
          </p:nvPr>
        </p:nvSpPr>
        <p:spPr>
          <a:xfrm>
            <a:off x="242012" y="403135"/>
            <a:ext cx="8659975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4400" b="1" dirty="0">
                <a:solidFill>
                  <a:schemeClr val="dk1"/>
                </a:solidFill>
              </a:rPr>
              <a:t>Course Outcomes</a:t>
            </a:r>
            <a:endParaRPr dirty="0"/>
          </a:p>
        </p:txBody>
      </p:sp>
      <p:sp>
        <p:nvSpPr>
          <p:cNvPr id="157" name="Google Shape;157;p10"/>
          <p:cNvSpPr txBox="1">
            <a:spLocks noGrp="1"/>
          </p:cNvSpPr>
          <p:nvPr>
            <p:ph type="body" idx="1"/>
          </p:nvPr>
        </p:nvSpPr>
        <p:spPr>
          <a:xfrm>
            <a:off x="242013" y="1974272"/>
            <a:ext cx="8578460" cy="4479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81088" lvl="0" indent="-1081088" algn="just">
              <a:spcBef>
                <a:spcPts val="0"/>
              </a:spcBef>
              <a:buSzPts val="2800"/>
              <a:buNone/>
            </a:pPr>
            <a:r>
              <a:rPr lang="en-IN" sz="2800" b="1" dirty="0"/>
              <a:t>CO1</a:t>
            </a:r>
            <a:r>
              <a:rPr lang="en-IN" sz="2800" dirty="0"/>
              <a:t> :: define the fundamental security concepts and recognize importance of information security in the computer-driven world </a:t>
            </a:r>
          </a:p>
          <a:p>
            <a:pPr marL="1081088" lvl="0" indent="-1081088" algn="just">
              <a:spcBef>
                <a:spcPts val="0"/>
              </a:spcBef>
              <a:buSzPts val="2800"/>
              <a:buNone/>
            </a:pPr>
            <a:r>
              <a:rPr lang="en-IN" sz="2800" b="1" dirty="0"/>
              <a:t>CO2 </a:t>
            </a:r>
            <a:r>
              <a:rPr lang="en-IN" sz="2800" dirty="0"/>
              <a:t>:: explain the basics of cryptography and the working of cryptographic algorithms </a:t>
            </a:r>
          </a:p>
          <a:p>
            <a:pPr marL="1081088" lvl="0" indent="-1081088" algn="just">
              <a:spcBef>
                <a:spcPts val="0"/>
              </a:spcBef>
              <a:buSzPts val="2800"/>
              <a:buNone/>
            </a:pPr>
            <a:r>
              <a:rPr lang="en-IN" sz="2800" b="1" dirty="0"/>
              <a:t>CO3</a:t>
            </a:r>
            <a:r>
              <a:rPr lang="en-IN" sz="2800" dirty="0"/>
              <a:t> :: demonstrate the underlying vulnerabilities of system and network Security </a:t>
            </a:r>
          </a:p>
          <a:p>
            <a:pPr marL="1081088" lvl="0" indent="-1081088" algn="just">
              <a:spcBef>
                <a:spcPts val="0"/>
              </a:spcBef>
              <a:buSzPts val="2800"/>
              <a:buNone/>
            </a:pPr>
            <a:r>
              <a:rPr lang="en-IN" sz="2800" b="1" dirty="0"/>
              <a:t>CO4 </a:t>
            </a:r>
            <a:r>
              <a:rPr lang="en-IN" sz="2800" dirty="0"/>
              <a:t>:: </a:t>
            </a:r>
            <a:r>
              <a:rPr lang="en-IN" sz="2800" dirty="0" err="1"/>
              <a:t>analyze</a:t>
            </a:r>
            <a:r>
              <a:rPr lang="en-IN" sz="2800" dirty="0"/>
              <a:t> the key privacy concepts in IT, principles, and requirements</a:t>
            </a:r>
            <a:endParaRPr sz="2800" dirty="0"/>
          </a:p>
        </p:txBody>
      </p:sp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0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>
            <a:spLocks noGrp="1"/>
          </p:cNvSpPr>
          <p:nvPr>
            <p:ph type="title"/>
          </p:nvPr>
        </p:nvSpPr>
        <p:spPr>
          <a:xfrm>
            <a:off x="242012" y="403135"/>
            <a:ext cx="8659975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4400" b="1">
                <a:solidFill>
                  <a:schemeClr val="dk1"/>
                </a:solidFill>
              </a:rPr>
              <a:t>Syllabus</a:t>
            </a:r>
            <a:endParaRPr/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1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0B0D3-10B7-7901-0A6D-3F34E583E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12" y="1057168"/>
            <a:ext cx="8659975" cy="52916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3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3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182" name="Google Shape;18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08720"/>
            <a:ext cx="9108504" cy="593670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 txBox="1"/>
          <p:nvPr/>
        </p:nvSpPr>
        <p:spPr>
          <a:xfrm>
            <a:off x="332509" y="3216464"/>
            <a:ext cx="546362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1" i="0" u="none" strike="noStrike" cap="none" dirty="0">
                <a:solidFill>
                  <a:schemeClr val="lt1"/>
                </a:solidFill>
                <a:latin typeface="Federo"/>
                <a:ea typeface="Federo"/>
                <a:cs typeface="Federo"/>
                <a:sym typeface="Federo"/>
              </a:rPr>
              <a:t>INTRODUCTION TO COURSE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br>
              <a:rPr lang="en-IN" b="1">
                <a:solidFill>
                  <a:schemeClr val="dk1"/>
                </a:solidFill>
              </a:rPr>
            </a:br>
            <a:r>
              <a:rPr lang="en-IN" b="1">
                <a:solidFill>
                  <a:schemeClr val="dk1"/>
                </a:solidFill>
              </a:rPr>
              <a:t>Acts of Human Error and Failure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89" name="Google Shape;189;p14" descr="Timelin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8209" y="1610591"/>
            <a:ext cx="8890295" cy="513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4"/>
          <p:cNvPicPr preferRelativeResize="0"/>
          <p:nvPr/>
        </p:nvPicPr>
        <p:blipFill rotWithShape="1">
          <a:blip r:embed="rId4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4"/>
          <p:cNvPicPr preferRelativeResize="0"/>
          <p:nvPr/>
        </p:nvPicPr>
        <p:blipFill rotWithShape="1">
          <a:blip r:embed="rId5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>
                <a:solidFill>
                  <a:schemeClr val="dk1"/>
                </a:solidFill>
              </a:rPr>
              <a:t>Continue..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97" name="Google Shape;197;p15" descr="Graphical user interfac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6645" y="1319645"/>
            <a:ext cx="8562109" cy="5268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5"/>
          <p:cNvPicPr preferRelativeResize="0"/>
          <p:nvPr/>
        </p:nvPicPr>
        <p:blipFill rotWithShape="1">
          <a:blip r:embed="rId4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5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>
                <a:solidFill>
                  <a:schemeClr val="dk1"/>
                </a:solidFill>
              </a:rPr>
              <a:t>What mistakes do people usually do?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05" name="Google Shape;205;p1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Revealing classified information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Entry of erroneous data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Accidental deletion or modification of data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Storage of data in an unprotected area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Failure to protect information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206" name="Google Shape;206;p16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6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>
                <a:solidFill>
                  <a:schemeClr val="dk1"/>
                </a:solidFill>
              </a:rPr>
              <a:t>What do you think about the cause?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13" name="Google Shape;213;p1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Inexperience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Improper Training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Incorrect Assumptions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Hurry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Other Circumstances </a:t>
            </a: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214" name="Google Shape;214;p17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7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>
                <a:solidFill>
                  <a:schemeClr val="dk1"/>
                </a:solidFill>
              </a:rPr>
              <a:t>Hackers – Biggest Threat to Organization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237" name="Google Shape;237;p20" descr="Timelin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1336" y="1916831"/>
            <a:ext cx="8478982" cy="4400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/>
          <p:cNvPicPr preferRelativeResize="0"/>
          <p:nvPr/>
        </p:nvPicPr>
        <p:blipFill rotWithShape="1">
          <a:blip r:embed="rId4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/>
          <p:cNvPicPr preferRelativeResize="0"/>
          <p:nvPr/>
        </p:nvPicPr>
        <p:blipFill rotWithShape="1">
          <a:blip r:embed="rId5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>
                <a:solidFill>
                  <a:schemeClr val="dk1"/>
                </a:solidFill>
              </a:rPr>
              <a:t>5 Problems 1 Solutions 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221" name="Google Shape;221;p18" descr="Cryptographic Implementations: Hardware vs. Software | Electronic Design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693545"/>
            <a:ext cx="7330008" cy="4080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/>
          <p:cNvPicPr preferRelativeResize="0"/>
          <p:nvPr/>
        </p:nvPicPr>
        <p:blipFill rotWithShape="1">
          <a:blip r:embed="rId4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/>
          <p:cNvPicPr preferRelativeResize="0"/>
          <p:nvPr/>
        </p:nvPicPr>
        <p:blipFill rotWithShape="1">
          <a:blip r:embed="rId5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>
                <a:solidFill>
                  <a:schemeClr val="dk1"/>
                </a:solidFill>
              </a:rPr>
              <a:t>Other possible solutions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29" name="Google Shape;229;p1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Organization must have a secure infrastructure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Additional security services may have been provided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More robust solutions may be needed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Must have information about the threats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/>
              <a:t>Must identify the possible vulnerabilities </a:t>
            </a: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230" name="Google Shape;230;p19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1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4350" y="732656"/>
            <a:ext cx="811530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/>
          <p:nvPr/>
        </p:nvSpPr>
        <p:spPr>
          <a:xfrm>
            <a:off x="1143000" y="1500188"/>
            <a:ext cx="6858000" cy="38576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554163" y="2014538"/>
            <a:ext cx="2046287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8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 Revolution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13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Learning Beyond the Classroom</a:t>
            </a:r>
            <a:br>
              <a:rPr lang="en-IN" sz="1013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013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Division of Academic Affairs</a:t>
            </a:r>
            <a:endParaRPr/>
          </a:p>
        </p:txBody>
      </p:sp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075" y="789325"/>
            <a:ext cx="7798825" cy="49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>
            <a:off x="1980300" y="631575"/>
            <a:ext cx="53130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50" b="1">
                <a:solidFill>
                  <a:srgbClr val="538135"/>
                </a:solidFill>
                <a:latin typeface="Arial"/>
                <a:ea typeface="Arial"/>
                <a:cs typeface="Arial"/>
                <a:sym typeface="Arial"/>
              </a:rPr>
              <a:t>Why EDU-Revolution!!!</a:t>
            </a:r>
            <a:endParaRPr sz="1900"/>
          </a:p>
        </p:txBody>
      </p:sp>
      <p:sp>
        <p:nvSpPr>
          <p:cNvPr id="259" name="Google Shape;259;p23"/>
          <p:cNvSpPr/>
          <p:nvPr/>
        </p:nvSpPr>
        <p:spPr>
          <a:xfrm>
            <a:off x="1072225" y="1981800"/>
            <a:ext cx="7630500" cy="2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/>
          <a:p>
            <a:pPr marL="257532" marR="0" lvl="1" indent="-211931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</a:pPr>
            <a:r>
              <a:rPr lang="en-IN" sz="18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the </a:t>
            </a:r>
            <a:r>
              <a:rPr lang="en-IN" sz="18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'Earn Your Fee'</a:t>
            </a:r>
            <a:r>
              <a:rPr lang="en-IN" sz="18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vision through </a:t>
            </a:r>
            <a:r>
              <a:rPr lang="en-IN" sz="18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Revenue Generation </a:t>
            </a:r>
            <a:r>
              <a:rPr lang="en-IN" sz="18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</a:t>
            </a:r>
            <a:endParaRPr sz="1700"/>
          </a:p>
          <a:p>
            <a:pPr marL="257532" marR="0" lvl="1" indent="-211931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</a:pPr>
            <a:r>
              <a:rPr lang="en-IN" sz="18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 Real World Skills ensuring </a:t>
            </a:r>
            <a:r>
              <a:rPr lang="en-IN" sz="18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Industry readiness</a:t>
            </a:r>
            <a:endParaRPr sz="187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532" marR="0" lvl="1" indent="-211931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</a:pPr>
            <a:r>
              <a:rPr lang="en-IN" sz="18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Promote </a:t>
            </a:r>
            <a:r>
              <a:rPr lang="en-IN" sz="18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Creativity</a:t>
            </a:r>
            <a:r>
              <a:rPr lang="en-IN" sz="18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handle real world challenges</a:t>
            </a:r>
            <a:endParaRPr sz="1700"/>
          </a:p>
          <a:p>
            <a:pPr marL="257532" marR="0" lvl="1" indent="-211931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</a:pPr>
            <a:r>
              <a:rPr lang="en-IN" sz="18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Promote </a:t>
            </a:r>
            <a:r>
              <a:rPr lang="en-IN" sz="18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Lifelong Learning</a:t>
            </a:r>
            <a:endParaRPr sz="187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 txBox="1"/>
          <p:nvPr/>
        </p:nvSpPr>
        <p:spPr>
          <a:xfrm>
            <a:off x="2459075" y="633638"/>
            <a:ext cx="44322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Initiatives under EDU Revolution </a:t>
            </a:r>
            <a:endParaRPr sz="1800"/>
          </a:p>
        </p:txBody>
      </p:sp>
      <p:pic>
        <p:nvPicPr>
          <p:cNvPr id="265" name="Google Shape;26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2150" y="1277800"/>
            <a:ext cx="6919900" cy="48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 txBox="1"/>
          <p:nvPr/>
        </p:nvSpPr>
        <p:spPr>
          <a:xfrm>
            <a:off x="1247775" y="1092100"/>
            <a:ext cx="6477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1" u="sng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Academic and beyond Curriculum Benefits</a:t>
            </a:r>
            <a:endParaRPr sz="27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788" y="1948500"/>
            <a:ext cx="7786425" cy="399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/>
          <p:nvPr/>
        </p:nvSpPr>
        <p:spPr>
          <a:xfrm>
            <a:off x="1053600" y="900950"/>
            <a:ext cx="7266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75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Edu Revolution continues to gain awareness and student participation</a:t>
            </a:r>
            <a:endParaRPr sz="2000"/>
          </a:p>
        </p:txBody>
      </p:sp>
      <p:pic>
        <p:nvPicPr>
          <p:cNvPr id="277" name="Google Shape;27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300" y="1649175"/>
            <a:ext cx="7358149" cy="41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 txBox="1"/>
          <p:nvPr/>
        </p:nvSpPr>
        <p:spPr>
          <a:xfrm>
            <a:off x="1112838" y="1937904"/>
            <a:ext cx="5513388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structured framework for evaluating EDU Revolution submissions to</a:t>
            </a:r>
            <a:endParaRPr sz="2000"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800" b="1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92901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 Standardization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92901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 Transparency</a:t>
            </a:r>
            <a:endParaRPr sz="2000"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92901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Fair Assessment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92901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Promote Accountability in assessment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1112838" y="1005898"/>
            <a:ext cx="5816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Why are Criteria Sheets Important?</a:t>
            </a:r>
            <a:endParaRPr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 txBox="1"/>
          <p:nvPr/>
        </p:nvSpPr>
        <p:spPr>
          <a:xfrm>
            <a:off x="923492" y="1654464"/>
            <a:ext cx="7441190" cy="28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Standing Committee-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reviews EDU Revolution nominations and recommends eligible academic benefits. </a:t>
            </a:r>
            <a:endParaRPr sz="2400"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Composition-</a:t>
            </a:r>
            <a:endParaRPr sz="2400" dirty="0"/>
          </a:p>
          <a:p>
            <a:pPr marL="160735" marR="0" lvl="0" indent="-16073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5–7 members constituted by the </a:t>
            </a:r>
            <a:r>
              <a:rPr lang="en-IN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0735" marR="0" lvl="0" indent="-16073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members may be nominated by the </a:t>
            </a:r>
            <a:r>
              <a:rPr lang="en-IN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0735" marR="0" lvl="0" indent="-16073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relevant committee coordinators are members ;</a:t>
            </a:r>
            <a:endParaRPr sz="2400" dirty="0"/>
          </a:p>
          <a:p>
            <a:pPr marL="160735" marR="0" lvl="0" indent="-82122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8"/>
              <a:buFont typeface="Arial"/>
              <a:buNone/>
            </a:pPr>
            <a:endParaRPr sz="1238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2369126" y="614795"/>
            <a:ext cx="419792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Standing Committee</a:t>
            </a:r>
            <a:endParaRPr sz="32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/>
        </p:nvSpPr>
        <p:spPr>
          <a:xfrm>
            <a:off x="2019299" y="484187"/>
            <a:ext cx="535824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Processing of Student Nominations</a:t>
            </a:r>
            <a:endParaRPr sz="2000" dirty="0"/>
          </a:p>
        </p:txBody>
      </p:sp>
      <p:pic>
        <p:nvPicPr>
          <p:cNvPr id="295" name="Google Shape;29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9300" y="1701800"/>
            <a:ext cx="48768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2000" y="2006601"/>
            <a:ext cx="48006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1044" y="2911475"/>
            <a:ext cx="47879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48522" y="4395860"/>
            <a:ext cx="4826000" cy="11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4297363" y="2217738"/>
            <a:ext cx="195262" cy="19526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297363" y="2911475"/>
            <a:ext cx="212725" cy="1841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4308475" y="4452938"/>
            <a:ext cx="214313" cy="17621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44700" y="3822700"/>
            <a:ext cx="4826000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/>
          <p:nvPr/>
        </p:nvSpPr>
        <p:spPr>
          <a:xfrm>
            <a:off x="4297363" y="3649663"/>
            <a:ext cx="212725" cy="17621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>
            <a:spLocks noGrp="1"/>
          </p:cNvSpPr>
          <p:nvPr>
            <p:ph type="title"/>
          </p:nvPr>
        </p:nvSpPr>
        <p:spPr>
          <a:xfrm>
            <a:off x="1578408" y="636443"/>
            <a:ext cx="56578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/>
              <a:buNone/>
            </a:pPr>
            <a:r>
              <a:rPr lang="en-IN" sz="4000" b="1" u="sng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Revenue Generation</a:t>
            </a:r>
            <a:br>
              <a:rPr lang="en-IN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endParaRPr b="1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0"/>
          <p:cNvSpPr txBox="1">
            <a:spLocks noGrp="1"/>
          </p:cNvSpPr>
          <p:nvPr>
            <p:ph type="body" idx="1"/>
          </p:nvPr>
        </p:nvSpPr>
        <p:spPr>
          <a:xfrm>
            <a:off x="467592" y="1579418"/>
            <a:ext cx="8188036" cy="4642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1450" lvl="0" indent="-381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38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Revenue Generation refers to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income earned by students 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through entrepreneurial, professional, technical, creative, or service-based activities by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applying their knowledge and skills. </a:t>
            </a:r>
            <a:endParaRPr sz="4500" dirty="0"/>
          </a:p>
          <a:p>
            <a:pPr marL="78613" indent="0" algn="just">
              <a:buSzPts val="1238"/>
              <a:buNone/>
            </a:pPr>
            <a:endParaRPr sz="2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38"/>
              <a:buNone/>
            </a:pP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Eligibility </a:t>
            </a:r>
            <a:endParaRPr sz="45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38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💰Revenue must be generated through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university-approved activities (family-owned businesses not considered)</a:t>
            </a:r>
            <a:endParaRPr sz="45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38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💰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No minimum CGPA 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requirement </a:t>
            </a:r>
            <a:endParaRPr sz="45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38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💰Applicable only to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courses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 in which the student has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secured a passing grade (for grade upgradation)</a:t>
            </a:r>
            <a:endParaRPr sz="45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38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💰A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minimum of 60% attendance in current term.</a:t>
            </a:r>
            <a:endParaRPr sz="4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3909"/>
            <a:ext cx="8582891" cy="6452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1238684" y="513773"/>
            <a:ext cx="6318250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300"/>
              <a:buFont typeface="Arial"/>
              <a:buNone/>
            </a:pPr>
            <a:r>
              <a:rPr lang="en-IN" b="1" u="sng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NPTEL/ Proctored MOOCs/Certifications </a:t>
            </a:r>
            <a:endParaRPr b="1" dirty="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1"/>
          </p:nvPr>
        </p:nvSpPr>
        <p:spPr>
          <a:xfrm>
            <a:off x="228600" y="1454727"/>
            <a:ext cx="8582891" cy="459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85725" indent="0" algn="just">
              <a:spcBef>
                <a:spcPts val="0"/>
              </a:spcBef>
              <a:buSzPts val="1350"/>
              <a:buNone/>
            </a:pPr>
            <a:endParaRPr sz="2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NPTEL, Proctored MOOCs, and Certifications refer to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structured learning programs 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offered by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recognized platforms and institutions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 that enable students to acquire additional knowledge, skills, and competencies beyond the regular curriculum. </a:t>
            </a:r>
            <a:endParaRPr sz="4300" dirty="0"/>
          </a:p>
          <a:p>
            <a:pPr marL="85725" indent="0" algn="just">
              <a:buSzPts val="1350"/>
              <a:buNone/>
            </a:pPr>
            <a:endParaRPr sz="2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Eligibility </a:t>
            </a:r>
            <a:endParaRPr sz="43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🎓Course must be completed through a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recognized platform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 approved by university</a:t>
            </a:r>
            <a:endParaRPr sz="43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🎓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Minimum CGPA of 7.0 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for Students seeking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Complete Course Equivalence</a:t>
            </a:r>
            <a:endParaRPr sz="43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🎓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No CGPA requirement 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for availing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Partial Course Equivalence 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benefits</a:t>
            </a:r>
            <a:endParaRPr sz="43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🎓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Course content 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must be relevant to the </a:t>
            </a:r>
            <a:r>
              <a:rPr lang="en-IN" sz="2600" b="1" dirty="0">
                <a:latin typeface="Arial"/>
                <a:ea typeface="Arial"/>
                <a:cs typeface="Arial"/>
                <a:sym typeface="Arial"/>
              </a:rPr>
              <a:t>mapped university course</a:t>
            </a:r>
            <a:r>
              <a:rPr lang="en-IN" sz="2600" dirty="0">
                <a:latin typeface="Arial"/>
                <a:ea typeface="Arial"/>
                <a:cs typeface="Arial"/>
                <a:sym typeface="Arial"/>
              </a:rPr>
              <a:t>. </a:t>
            </a:r>
            <a:endParaRPr sz="4300" dirty="0"/>
          </a:p>
          <a:p>
            <a:pPr marL="171450" lvl="0" indent="-85725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endParaRPr sz="135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4300"/>
            <a:ext cx="8946573" cy="67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"/>
          <p:cNvSpPr txBox="1">
            <a:spLocks noGrp="1"/>
          </p:cNvSpPr>
          <p:nvPr>
            <p:ph type="title"/>
          </p:nvPr>
        </p:nvSpPr>
        <p:spPr>
          <a:xfrm>
            <a:off x="1438420" y="90055"/>
            <a:ext cx="5657850" cy="81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300"/>
              <a:buFont typeface="Arial"/>
              <a:buNone/>
            </a:pPr>
            <a:r>
              <a:rPr lang="en-IN" b="1" u="sng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Projects </a:t>
            </a:r>
            <a:endParaRPr b="1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4"/>
          <p:cNvSpPr txBox="1">
            <a:spLocks noGrp="1"/>
          </p:cNvSpPr>
          <p:nvPr>
            <p:ph type="body" idx="1"/>
          </p:nvPr>
        </p:nvSpPr>
        <p:spPr>
          <a:xfrm>
            <a:off x="415636" y="1153392"/>
            <a:ext cx="8250381" cy="4675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85725" indent="0" algn="just">
              <a:spcBef>
                <a:spcPts val="0"/>
              </a:spcBef>
              <a:buSzPts val="1350"/>
              <a:buNone/>
            </a:pPr>
            <a:endParaRPr sz="3800" dirty="0"/>
          </a:p>
          <a:p>
            <a:pPr marL="0" indent="0" algn="just">
              <a:buSzPts val="1350"/>
              <a:buNone/>
            </a:pPr>
            <a:r>
              <a:rPr lang="en-IN" sz="3800" dirty="0">
                <a:latin typeface="Arial"/>
                <a:ea typeface="Arial"/>
                <a:cs typeface="Arial"/>
                <a:sym typeface="Arial"/>
              </a:rPr>
              <a:t>A Project is a </a:t>
            </a:r>
            <a:r>
              <a:rPr lang="en-IN" sz="3800" b="1" dirty="0">
                <a:latin typeface="Arial"/>
                <a:ea typeface="Arial"/>
                <a:cs typeface="Arial"/>
                <a:sym typeface="Arial"/>
              </a:rPr>
              <a:t>structured, outcome-driven activity</a:t>
            </a:r>
            <a:r>
              <a:rPr lang="en-IN" sz="3800" dirty="0">
                <a:latin typeface="Arial"/>
                <a:ea typeface="Arial"/>
                <a:cs typeface="Arial"/>
                <a:sym typeface="Arial"/>
              </a:rPr>
              <a:t> undertaken by a student to solve a real-world problem, develop innovation, or conduct </a:t>
            </a:r>
            <a:r>
              <a:rPr lang="en-IN" sz="3800" b="1" dirty="0">
                <a:latin typeface="Arial"/>
                <a:ea typeface="Arial"/>
                <a:cs typeface="Arial"/>
                <a:sym typeface="Arial"/>
              </a:rPr>
              <a:t>academic, industry-oriented, or field-based research</a:t>
            </a:r>
            <a:r>
              <a:rPr lang="en-IN" sz="3800" dirty="0">
                <a:latin typeface="Arial"/>
                <a:ea typeface="Arial"/>
                <a:cs typeface="Arial"/>
                <a:sym typeface="Arial"/>
              </a:rPr>
              <a:t> under guided supervision. </a:t>
            </a:r>
            <a:endParaRPr sz="5100" dirty="0"/>
          </a:p>
          <a:p>
            <a:pPr marL="0" indent="0" algn="just">
              <a:buSzPts val="1350"/>
              <a:buNone/>
            </a:pPr>
            <a:endParaRPr sz="3800" b="1" dirty="0">
              <a:latin typeface="Arial"/>
              <a:ea typeface="Arial"/>
              <a:cs typeface="Arial"/>
              <a:sym typeface="Arial"/>
            </a:endParaRPr>
          </a:p>
          <a:p>
            <a:pPr marL="0" indent="0" algn="just">
              <a:buSzPts val="1350"/>
              <a:buNone/>
            </a:pPr>
            <a:r>
              <a:rPr lang="en-IN" sz="3800" b="1" dirty="0">
                <a:latin typeface="Arial"/>
                <a:ea typeface="Arial"/>
                <a:cs typeface="Arial"/>
                <a:sym typeface="Arial"/>
              </a:rPr>
              <a:t>Eligibility </a:t>
            </a:r>
            <a:endParaRPr sz="5100" dirty="0"/>
          </a:p>
          <a:p>
            <a:pPr marL="0" indent="0" algn="just">
              <a:buSzPts val="1350"/>
              <a:buNone/>
            </a:pPr>
            <a:r>
              <a:rPr lang="en-IN" sz="3800" dirty="0">
                <a:latin typeface="Arial"/>
                <a:ea typeface="Arial"/>
                <a:cs typeface="Arial"/>
                <a:sym typeface="Arial"/>
              </a:rPr>
              <a:t>💡A </a:t>
            </a:r>
            <a:r>
              <a:rPr lang="en-IN" sz="3800" b="1" dirty="0">
                <a:latin typeface="Arial"/>
                <a:ea typeface="Arial"/>
                <a:cs typeface="Arial"/>
                <a:sym typeface="Arial"/>
              </a:rPr>
              <a:t>minimum CGPA of 6.0 </a:t>
            </a:r>
            <a:endParaRPr sz="5100" dirty="0"/>
          </a:p>
          <a:p>
            <a:pPr marL="0" indent="0" algn="just">
              <a:buSzPts val="1350"/>
              <a:buNone/>
            </a:pPr>
            <a:r>
              <a:rPr lang="en-IN" sz="3800" dirty="0">
                <a:latin typeface="Arial"/>
                <a:ea typeface="Arial"/>
                <a:cs typeface="Arial"/>
                <a:sym typeface="Arial"/>
              </a:rPr>
              <a:t>💡Duty Leave-related benefits, only if the student has a </a:t>
            </a:r>
            <a:r>
              <a:rPr lang="en-IN" sz="3800" b="1" dirty="0">
                <a:latin typeface="Arial"/>
                <a:ea typeface="Arial"/>
                <a:cs typeface="Arial"/>
                <a:sym typeface="Arial"/>
              </a:rPr>
              <a:t>minimum of 65% attendance</a:t>
            </a:r>
            <a:endParaRPr sz="5100" dirty="0"/>
          </a:p>
          <a:p>
            <a:pPr marL="0" indent="0" algn="just">
              <a:buSzPts val="1350"/>
              <a:buNone/>
            </a:pPr>
            <a:r>
              <a:rPr lang="en-IN" sz="3800" dirty="0">
                <a:latin typeface="Arial"/>
                <a:ea typeface="Arial"/>
                <a:cs typeface="Arial"/>
                <a:sym typeface="Arial"/>
              </a:rPr>
              <a:t>💡Standing Committee approval required for </a:t>
            </a:r>
            <a:r>
              <a:rPr lang="en-IN" sz="3800" b="1" dirty="0">
                <a:latin typeface="Arial"/>
                <a:ea typeface="Arial"/>
                <a:cs typeface="Arial"/>
                <a:sym typeface="Arial"/>
              </a:rPr>
              <a:t>Duty Leave if project work to be done during classes.</a:t>
            </a:r>
            <a:endParaRPr sz="5100" dirty="0"/>
          </a:p>
          <a:p>
            <a:pPr marL="171450" lvl="0" indent="-85725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endParaRPr sz="135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09" y="1"/>
            <a:ext cx="88011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"/>
          <p:cNvSpPr txBox="1">
            <a:spLocks noGrp="1"/>
          </p:cNvSpPr>
          <p:nvPr>
            <p:ph type="title"/>
          </p:nvPr>
        </p:nvSpPr>
        <p:spPr>
          <a:xfrm>
            <a:off x="1533382" y="301047"/>
            <a:ext cx="5657850" cy="81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-IN" b="1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Internship beyond Curriculum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6"/>
          <p:cNvSpPr txBox="1">
            <a:spLocks noGrp="1"/>
          </p:cNvSpPr>
          <p:nvPr>
            <p:ph type="body" idx="1"/>
          </p:nvPr>
        </p:nvSpPr>
        <p:spPr>
          <a:xfrm>
            <a:off x="426027" y="1117021"/>
            <a:ext cx="8624455" cy="523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8928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4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81"/>
              <a:buFont typeface="Noto Sans Symbols"/>
              <a:buNone/>
            </a:pP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An internship is 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a supervised, work-based learning experience 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that provides practical skills and industry exposure. Internships undertaken beyond the curriculum, which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demonstrate 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substantial academic relevance, professional value, and meaningful learning outcomes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, shall be considered under this policy. </a:t>
            </a:r>
            <a:endParaRPr sz="4000" dirty="0"/>
          </a:p>
          <a:p>
            <a:pPr marL="0" indent="0" algn="just">
              <a:buSzPts val="1181"/>
              <a:buNone/>
            </a:pP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Eligibility</a:t>
            </a:r>
            <a:endParaRPr sz="4000" dirty="0"/>
          </a:p>
          <a:p>
            <a:pPr marL="0" indent="0" algn="just">
              <a:buSzPts val="1181"/>
              <a:buNone/>
            </a:pP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🌍</a:t>
            </a:r>
            <a:r>
              <a:rPr lang="en-IN" sz="2000" b="1" dirty="0"/>
              <a:t>Minimum CGPA:</a:t>
            </a:r>
            <a:r>
              <a:rPr lang="en-IN" sz="2000" dirty="0"/>
              <a:t> 6.0 (Exceptional internships may be considered even with CGPA below 6).</a:t>
            </a:r>
            <a:endParaRPr sz="4000" dirty="0"/>
          </a:p>
          <a:p>
            <a:pPr marL="0" indent="0" algn="just">
              <a:buSzPts val="1181"/>
              <a:buNone/>
            </a:pP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🌍</a:t>
            </a:r>
            <a:r>
              <a:rPr lang="en-IN" sz="2000" b="1" dirty="0"/>
              <a:t>Duty Leave:</a:t>
            </a:r>
            <a:r>
              <a:rPr lang="en-IN" sz="2000" dirty="0"/>
              <a:t> Prior </a:t>
            </a:r>
            <a:r>
              <a:rPr lang="en-IN" sz="2000" b="1" dirty="0"/>
              <a:t>Standing Committee</a:t>
            </a:r>
            <a:r>
              <a:rPr lang="en-IN" sz="2000" dirty="0"/>
              <a:t> approval is mandatory if the internship requires engagement during scheduled class hours. </a:t>
            </a:r>
            <a:endParaRPr sz="4000" dirty="0"/>
          </a:p>
          <a:p>
            <a:pPr marL="0" indent="0" algn="just">
              <a:buSzPts val="1181"/>
              <a:buNone/>
            </a:pP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🌍</a:t>
            </a:r>
            <a:r>
              <a:rPr lang="en-IN" sz="2000" b="1" dirty="0"/>
              <a:t>Attendance Requirement:</a:t>
            </a:r>
            <a:r>
              <a:rPr lang="en-IN" sz="2000" dirty="0"/>
              <a:t> Minimum </a:t>
            </a:r>
            <a:r>
              <a:rPr lang="en-IN" sz="2000" b="1" dirty="0"/>
              <a:t>65% attendance</a:t>
            </a:r>
            <a:r>
              <a:rPr lang="en-IN" sz="2000" dirty="0"/>
              <a:t> (excluding bonus/Duty Leave) is mandatory to avail Duty Leave benefits.</a:t>
            </a:r>
            <a:endParaRPr sz="4000" dirty="0"/>
          </a:p>
          <a:p>
            <a:pPr marL="0" indent="0" algn="just">
              <a:buSzPts val="1181"/>
              <a:buNone/>
            </a:pP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Mandatory documents 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to be submitted 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Offer letter, Completion letter, Stipend proof 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IN" sz="2000" dirty="0" err="1">
                <a:latin typeface="Arial"/>
                <a:ea typeface="Arial"/>
                <a:cs typeface="Arial"/>
                <a:sym typeface="Arial"/>
              </a:rPr>
              <a:t>appicable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518" y="114300"/>
            <a:ext cx="8925791" cy="6348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"/>
          <p:cNvSpPr txBox="1">
            <a:spLocks noGrp="1"/>
          </p:cNvSpPr>
          <p:nvPr>
            <p:ph type="title"/>
          </p:nvPr>
        </p:nvSpPr>
        <p:spPr>
          <a:xfrm>
            <a:off x="426027" y="667327"/>
            <a:ext cx="8271164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-IN" b="1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Recognition of Prior Learning (RPL)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8"/>
          <p:cNvSpPr txBox="1">
            <a:spLocks noGrp="1"/>
          </p:cNvSpPr>
          <p:nvPr>
            <p:ph type="body" idx="1"/>
          </p:nvPr>
        </p:nvSpPr>
        <p:spPr>
          <a:xfrm>
            <a:off x="218209" y="1745673"/>
            <a:ext cx="8749145" cy="453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3"/>
              <a:buChar char="•"/>
            </a:pPr>
            <a:r>
              <a:rPr lang="en-IN" sz="2300" dirty="0">
                <a:latin typeface="Arial"/>
                <a:ea typeface="Arial"/>
                <a:cs typeface="Arial"/>
                <a:sym typeface="Arial"/>
              </a:rPr>
              <a:t>Recognition of Prior Learning (RPL) is the process of </a:t>
            </a:r>
            <a:r>
              <a:rPr lang="en-IN" sz="2300" b="1" dirty="0">
                <a:latin typeface="Arial"/>
                <a:ea typeface="Arial"/>
                <a:cs typeface="Arial"/>
                <a:sym typeface="Arial"/>
              </a:rPr>
              <a:t>recognizing a student's prior knowledge </a:t>
            </a:r>
            <a:r>
              <a:rPr lang="en-IN" sz="2300" dirty="0">
                <a:latin typeface="Arial"/>
                <a:ea typeface="Arial"/>
                <a:cs typeface="Arial"/>
                <a:sym typeface="Arial"/>
              </a:rPr>
              <a:t>and competencies gained through formal, informal, or experiential learning, enabling the student to </a:t>
            </a:r>
            <a:r>
              <a:rPr lang="en-IN" sz="2300" b="1" dirty="0">
                <a:latin typeface="Arial"/>
                <a:ea typeface="Arial"/>
                <a:cs typeface="Arial"/>
                <a:sym typeface="Arial"/>
              </a:rPr>
              <a:t>receive academic recognition </a:t>
            </a:r>
            <a:r>
              <a:rPr lang="en-IN" sz="2300" dirty="0">
                <a:latin typeface="Arial"/>
                <a:ea typeface="Arial"/>
                <a:cs typeface="Arial"/>
                <a:sym typeface="Arial"/>
              </a:rPr>
              <a:t>for learning already achieved.</a:t>
            </a:r>
            <a:endParaRPr sz="3600" dirty="0"/>
          </a:p>
          <a:p>
            <a:pPr marL="171450" lvl="0" indent="-1714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63"/>
              <a:buChar char="•"/>
            </a:pPr>
            <a:br>
              <a:rPr lang="en-IN" sz="2300" dirty="0"/>
            </a:br>
            <a:r>
              <a:rPr lang="en-IN" sz="2300" b="1" dirty="0"/>
              <a:t>Eligibility and conditions</a:t>
            </a:r>
            <a:endParaRPr sz="360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63"/>
              <a:buChar char="•"/>
            </a:pPr>
            <a:br>
              <a:rPr lang="en-IN" sz="23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300" dirty="0">
                <a:latin typeface="Arial"/>
                <a:ea typeface="Arial"/>
                <a:cs typeface="Arial"/>
                <a:sym typeface="Arial"/>
              </a:rPr>
              <a:t>📜</a:t>
            </a:r>
            <a:r>
              <a:rPr lang="en-IN" sz="2300" b="1" dirty="0">
                <a:latin typeface="Arial"/>
                <a:ea typeface="Arial"/>
                <a:cs typeface="Arial"/>
                <a:sym typeface="Arial"/>
              </a:rPr>
              <a:t>Minimum CGPA:</a:t>
            </a:r>
            <a:r>
              <a:rPr lang="en-IN" sz="2300" dirty="0">
                <a:latin typeface="Arial"/>
                <a:ea typeface="Arial"/>
                <a:cs typeface="Arial"/>
                <a:sym typeface="Arial"/>
              </a:rPr>
              <a:t> 5.0 at the time of application. </a:t>
            </a:r>
            <a:endParaRPr sz="360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63"/>
              <a:buChar char="•"/>
            </a:pPr>
            <a:br>
              <a:rPr lang="en-IN" sz="23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300" dirty="0">
                <a:latin typeface="Arial"/>
                <a:ea typeface="Arial"/>
                <a:cs typeface="Arial"/>
                <a:sym typeface="Arial"/>
              </a:rPr>
              <a:t>📜</a:t>
            </a:r>
            <a:r>
              <a:rPr lang="en-IN" sz="2300" b="1" dirty="0">
                <a:latin typeface="Arial"/>
                <a:ea typeface="Arial"/>
                <a:cs typeface="Arial"/>
                <a:sym typeface="Arial"/>
              </a:rPr>
              <a:t> Relevant, verifiable evidence of prior learning</a:t>
            </a:r>
            <a:r>
              <a:rPr lang="en-IN" sz="2300" dirty="0">
                <a:latin typeface="Arial"/>
                <a:ea typeface="Arial"/>
                <a:cs typeface="Arial"/>
                <a:sym typeface="Arial"/>
              </a:rPr>
              <a:t> (minimum </a:t>
            </a:r>
            <a:r>
              <a:rPr lang="en-IN" sz="2300" b="1" dirty="0">
                <a:latin typeface="Arial"/>
                <a:ea typeface="Arial"/>
                <a:cs typeface="Arial"/>
                <a:sym typeface="Arial"/>
              </a:rPr>
              <a:t>12-hour</a:t>
            </a:r>
            <a:r>
              <a:rPr lang="en-IN" sz="2300" dirty="0">
                <a:latin typeface="Arial"/>
                <a:ea typeface="Arial"/>
                <a:cs typeface="Arial"/>
                <a:sym typeface="Arial"/>
              </a:rPr>
              <a:t> learning duration, where applicable).</a:t>
            </a:r>
            <a:endParaRPr sz="3600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311727"/>
            <a:ext cx="8177645" cy="5974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>
            <a:spLocks noGrp="1"/>
          </p:cNvSpPr>
          <p:nvPr>
            <p:ph type="title"/>
          </p:nvPr>
        </p:nvSpPr>
        <p:spPr>
          <a:xfrm>
            <a:off x="1062903" y="218209"/>
            <a:ext cx="6678323" cy="134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Arial"/>
              <a:buNone/>
            </a:pPr>
            <a:r>
              <a:rPr lang="en-IN" b="1" u="sng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Grade Upgradation</a:t>
            </a:r>
            <a:endParaRPr b="1" dirty="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0"/>
          <p:cNvSpPr txBox="1">
            <a:spLocks noGrp="1"/>
          </p:cNvSpPr>
          <p:nvPr>
            <p:ph type="body" idx="1"/>
          </p:nvPr>
        </p:nvSpPr>
        <p:spPr>
          <a:xfrm>
            <a:off x="270165" y="1562533"/>
            <a:ext cx="8572500" cy="452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</a:pPr>
            <a:r>
              <a:rPr lang="en-IN" dirty="0">
                <a:latin typeface="Arial"/>
                <a:ea typeface="Arial"/>
                <a:cs typeface="Arial"/>
                <a:sym typeface="Arial"/>
              </a:rPr>
              <a:t>Grade Upgradation is an academic benefit that </a:t>
            </a:r>
            <a:r>
              <a:rPr lang="en-IN" b="1" dirty="0">
                <a:latin typeface="Arial"/>
                <a:ea typeface="Arial"/>
                <a:cs typeface="Arial"/>
                <a:sym typeface="Arial"/>
              </a:rPr>
              <a:t>enhances a student’s course grade </a:t>
            </a:r>
            <a:r>
              <a:rPr lang="en-IN" dirty="0">
                <a:latin typeface="Arial"/>
                <a:ea typeface="Arial"/>
                <a:cs typeface="Arial"/>
                <a:sym typeface="Arial"/>
              </a:rPr>
              <a:t>based on eligible </a:t>
            </a:r>
            <a:r>
              <a:rPr lang="en-IN" b="1" dirty="0">
                <a:latin typeface="Arial"/>
                <a:ea typeface="Arial"/>
                <a:cs typeface="Arial"/>
                <a:sym typeface="Arial"/>
              </a:rPr>
              <a:t>academic, research, or co-curricular accomplishments</a:t>
            </a:r>
            <a:r>
              <a:rPr lang="en-IN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360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</a:pPr>
            <a:br>
              <a:rPr lang="en-IN" dirty="0">
                <a:latin typeface="Arial"/>
                <a:ea typeface="Arial"/>
                <a:cs typeface="Arial"/>
                <a:sym typeface="Arial"/>
              </a:rPr>
            </a:br>
            <a:r>
              <a:rPr lang="en-IN" b="1" dirty="0">
                <a:latin typeface="Arial"/>
                <a:ea typeface="Arial"/>
                <a:cs typeface="Arial"/>
                <a:sym typeface="Arial"/>
              </a:rPr>
              <a:t>Eligibility and conditions</a:t>
            </a:r>
            <a:r>
              <a:rPr lang="en-IN" dirty="0"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n-IN" dirty="0">
                <a:latin typeface="Arial"/>
                <a:ea typeface="Arial"/>
                <a:cs typeface="Arial"/>
                <a:sym typeface="Arial"/>
              </a:rPr>
            </a:br>
            <a:r>
              <a:rPr lang="en-IN" dirty="0"/>
              <a:t>⬆️ </a:t>
            </a:r>
            <a:r>
              <a:rPr lang="en-IN" b="1" dirty="0">
                <a:latin typeface="Arial"/>
                <a:ea typeface="Arial"/>
                <a:cs typeface="Arial"/>
                <a:sym typeface="Arial"/>
              </a:rPr>
              <a:t>A minimum CGPA of 5.0 </a:t>
            </a:r>
            <a:r>
              <a:rPr lang="en-IN" dirty="0">
                <a:latin typeface="Arial"/>
                <a:ea typeface="Arial"/>
                <a:cs typeface="Arial"/>
                <a:sym typeface="Arial"/>
              </a:rPr>
              <a:t>is required to avail the grade-up benefits.</a:t>
            </a:r>
            <a:endParaRPr sz="3600" dirty="0"/>
          </a:p>
          <a:p>
            <a:pPr marL="171450" lvl="0" indent="-85725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</a:pPr>
            <a:r>
              <a:rPr lang="en-IN" dirty="0"/>
              <a:t>⬆️ </a:t>
            </a:r>
            <a:r>
              <a:rPr lang="en-IN" dirty="0">
                <a:latin typeface="Arial"/>
                <a:ea typeface="Arial"/>
                <a:cs typeface="Arial"/>
                <a:sym typeface="Arial"/>
              </a:rPr>
              <a:t>Grade upgradation can be given on the basis of </a:t>
            </a:r>
            <a:r>
              <a:rPr lang="en-IN" b="1" dirty="0">
                <a:latin typeface="Arial"/>
                <a:ea typeface="Arial"/>
                <a:cs typeface="Arial"/>
                <a:sym typeface="Arial"/>
              </a:rPr>
              <a:t>Patent, Scopus publications, copyright/designs, </a:t>
            </a:r>
            <a:r>
              <a:rPr lang="en-IN" b="1" dirty="0"/>
              <a:t>Technical Competitions/Hackathons, Proctored Certification like Oracle, Recruitment Exam, Full Term Paid Internship/Placement, Industry Grade Assessment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82" y="166255"/>
            <a:ext cx="8873836" cy="6546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"/>
          <p:cNvSpPr txBox="1">
            <a:spLocks noGrp="1"/>
          </p:cNvSpPr>
          <p:nvPr>
            <p:ph type="title"/>
          </p:nvPr>
        </p:nvSpPr>
        <p:spPr>
          <a:xfrm>
            <a:off x="1588366" y="190933"/>
            <a:ext cx="5657850" cy="81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300"/>
              <a:buFont typeface="Arial"/>
              <a:buNone/>
            </a:pPr>
            <a:r>
              <a:rPr lang="en-IN" b="1" u="sng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Community Service</a:t>
            </a:r>
            <a:endParaRPr b="1" dirty="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2"/>
          <p:cNvSpPr txBox="1">
            <a:spLocks noGrp="1"/>
          </p:cNvSpPr>
          <p:nvPr>
            <p:ph type="body" idx="1"/>
          </p:nvPr>
        </p:nvSpPr>
        <p:spPr>
          <a:xfrm>
            <a:off x="353291" y="1006908"/>
            <a:ext cx="8458200" cy="4001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Community Service refers to </a:t>
            </a: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voluntary and unpaid work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undertaken by students for the </a:t>
            </a: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benefit of society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, communities, individuals, animals, or the environment.</a:t>
            </a:r>
            <a:endParaRPr sz="4000" dirty="0"/>
          </a:p>
          <a:p>
            <a:pPr marL="85725" indent="0">
              <a:buSzPts val="135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Eligibility</a:t>
            </a:r>
            <a:endParaRPr sz="40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400" dirty="0"/>
              <a:t>🤝 </a:t>
            </a:r>
            <a:r>
              <a:rPr lang="en-IN" sz="2400" b="1" dirty="0"/>
              <a:t>Service must be with a University-approved organization or an NGO eligible under Section 80G of the Income Tax Act.</a:t>
            </a:r>
            <a:r>
              <a:rPr lang="en-IN" sz="2400" dirty="0"/>
              <a:t> </a:t>
            </a:r>
            <a:endParaRPr sz="40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400" dirty="0"/>
              <a:t>⏳ </a:t>
            </a:r>
            <a:r>
              <a:rPr lang="en-IN" sz="2400" b="1" dirty="0"/>
              <a:t>Minimum 80 hours</a:t>
            </a:r>
            <a:r>
              <a:rPr lang="en-IN" sz="2400" dirty="0"/>
              <a:t> of community service per semester/term. </a:t>
            </a:r>
            <a:endParaRPr sz="40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IN" sz="2400" dirty="0"/>
              <a:t>📋 </a:t>
            </a:r>
            <a:r>
              <a:rPr lang="en-IN" sz="2400" b="1" dirty="0"/>
              <a:t>Activity must be separate from any credited Community Development Project (CDP) course</a:t>
            </a:r>
            <a:br>
              <a:rPr lang="en-IN" sz="1350" dirty="0">
                <a:latin typeface="Arial"/>
                <a:ea typeface="Arial"/>
                <a:cs typeface="Arial"/>
                <a:sym typeface="Arial"/>
              </a:rPr>
            </a:br>
            <a:endParaRPr sz="135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245" y="0"/>
            <a:ext cx="7865919" cy="667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"/>
          <p:cNvSpPr txBox="1">
            <a:spLocks noGrp="1"/>
          </p:cNvSpPr>
          <p:nvPr>
            <p:ph type="title"/>
          </p:nvPr>
        </p:nvSpPr>
        <p:spPr>
          <a:xfrm>
            <a:off x="1797844" y="396875"/>
            <a:ext cx="5657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-IN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Up to 10 % Attendance Benefit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4"/>
          <p:cNvSpPr txBox="1">
            <a:spLocks noGrp="1"/>
          </p:cNvSpPr>
          <p:nvPr>
            <p:ph type="body" idx="1"/>
          </p:nvPr>
        </p:nvSpPr>
        <p:spPr>
          <a:xfrm>
            <a:off x="249382" y="1236518"/>
            <a:ext cx="8894618" cy="4595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Attendance Benefit refers to a provision through which eligible students may receive 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up to 10% attendance relaxation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 for participation in </a:t>
            </a:r>
            <a:r>
              <a:rPr lang="en-IN" sz="20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approved academic, professional, recruitment, competitive examination, research, innovation, entrepreneurship, or other institutionally approved activities.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Eligibility</a:t>
            </a:r>
            <a:endParaRPr sz="3200" dirty="0"/>
          </a:p>
          <a:p>
            <a:pPr marL="0" indent="0" algn="just">
              <a:buSzPts val="1500"/>
              <a:buNone/>
            </a:pP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📅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Minimum CGPA of 7.5</a:t>
            </a:r>
            <a:endParaRPr sz="3200" dirty="0"/>
          </a:p>
          <a:p>
            <a:pPr marL="0" indent="0" algn="just">
              <a:buSzPts val="1500"/>
              <a:buNone/>
            </a:pP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📅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Minimum 65% 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aggregate 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 by the end of the term.</a:t>
            </a:r>
            <a:endParaRPr sz="3200" dirty="0"/>
          </a:p>
          <a:p>
            <a:pPr marL="0" indent="0" algn="just">
              <a:buSzPts val="1500"/>
              <a:buNone/>
            </a:pP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📅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No record of indiscipline 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during the academic session.</a:t>
            </a:r>
            <a:endParaRPr sz="3200" dirty="0"/>
          </a:p>
          <a:p>
            <a:pPr marL="0" indent="0">
              <a:buSzPts val="1500"/>
              <a:buNone/>
            </a:pP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📅Must be in the 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pre-final or final year 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(for programmes of duration greater than three years); otherwise, only final-year students shall be eligible.</a:t>
            </a:r>
            <a:endParaRPr sz="3200" dirty="0"/>
          </a:p>
          <a:p>
            <a:pPr marL="0" indent="0">
              <a:buSzPts val="1500"/>
              <a:buNone/>
            </a:pP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📅 </a:t>
            </a:r>
            <a:r>
              <a:rPr lang="en-IN" sz="2000" dirty="0"/>
              <a:t>Students must appear in and qualify the prescribed mock test conducted by the University, wherever applicable.</a:t>
            </a:r>
            <a:br>
              <a:rPr lang="en-IN" sz="1400" dirty="0">
                <a:latin typeface="Arial"/>
                <a:ea typeface="Arial"/>
                <a:cs typeface="Arial"/>
                <a:sym typeface="Arial"/>
              </a:rPr>
            </a:br>
            <a:endParaRPr sz="1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37755" y="103909"/>
            <a:ext cx="10546773" cy="6421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6"/>
          <p:cNvSpPr txBox="1">
            <a:spLocks noGrp="1"/>
          </p:cNvSpPr>
          <p:nvPr>
            <p:ph type="title"/>
          </p:nvPr>
        </p:nvSpPr>
        <p:spPr>
          <a:xfrm>
            <a:off x="1532370" y="350549"/>
            <a:ext cx="5657850" cy="63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300"/>
              <a:buFont typeface="Arial"/>
              <a:buNone/>
            </a:pPr>
            <a:r>
              <a:rPr lang="en-IN" b="1" u="sng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Duty Leave (DL)</a:t>
            </a:r>
            <a:endParaRPr b="1" dirty="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6"/>
          <p:cNvSpPr txBox="1">
            <a:spLocks noGrp="1"/>
          </p:cNvSpPr>
          <p:nvPr>
            <p:ph type="body" idx="1"/>
          </p:nvPr>
        </p:nvSpPr>
        <p:spPr>
          <a:xfrm>
            <a:off x="249382" y="1226128"/>
            <a:ext cx="8167543" cy="427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spcBef>
                <a:spcPts val="0"/>
              </a:spcBef>
              <a:buSzPts val="1500"/>
              <a:buNone/>
            </a:pP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Duty Leave (DL) refers to </a:t>
            </a:r>
            <a:r>
              <a:rPr lang="en-IN" sz="2000" b="1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attendance relaxation 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granted to students for </a:t>
            </a:r>
            <a:r>
              <a:rPr lang="en-IN" sz="2000" b="1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participation in approved academic, recruitment, competitive examination, co-curricular, professional, research, innovation, or institutional activities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 conducted during scheduled class hours.</a:t>
            </a: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Eligibility</a:t>
            </a:r>
            <a:endParaRPr sz="3200" dirty="0"/>
          </a:p>
          <a:p>
            <a:pPr marL="0" indent="0" algn="just">
              <a:buSzPts val="1500"/>
              <a:buNone/>
            </a:pP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✈ Students must maintain a 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minimum of 60% attendance</a:t>
            </a:r>
            <a:endParaRPr sz="3200" dirty="0"/>
          </a:p>
          <a:p>
            <a:pPr marL="0" indent="0" algn="just">
              <a:buSzPts val="1500"/>
              <a:buNone/>
            </a:pP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✈The student must have 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no record of indiscipline.</a:t>
            </a:r>
            <a:endParaRPr sz="3200" dirty="0"/>
          </a:p>
          <a:p>
            <a:pPr marL="0" indent="0">
              <a:buSzPts val="1500"/>
              <a:buNone/>
            </a:pPr>
            <a:br>
              <a:rPr lang="en-IN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✈ For recruitment or competitive examinations or events, </a:t>
            </a:r>
            <a:r>
              <a:rPr lang="en-IN" sz="2000" b="1" dirty="0">
                <a:latin typeface="Arial"/>
                <a:ea typeface="Arial"/>
                <a:cs typeface="Arial"/>
                <a:sym typeface="Arial"/>
              </a:rPr>
              <a:t>the examination or event must be relevant </a:t>
            </a:r>
            <a:r>
              <a:rPr lang="en-IN" sz="2000" dirty="0">
                <a:latin typeface="Arial"/>
                <a:ea typeface="Arial"/>
                <a:cs typeface="Arial"/>
                <a:sym typeface="Arial"/>
              </a:rPr>
              <a:t>to the student's current academic programme.</a:t>
            </a:r>
            <a:br>
              <a:rPr lang="en-IN" sz="3600" dirty="0">
                <a:latin typeface="Arial"/>
                <a:ea typeface="Arial"/>
                <a:cs typeface="Arial"/>
                <a:sym typeface="Arial"/>
              </a:rPr>
            </a:br>
            <a:endParaRPr sz="36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79318" y="0"/>
            <a:ext cx="10692245" cy="6639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8"/>
          <p:cNvSpPr txBox="1"/>
          <p:nvPr/>
        </p:nvSpPr>
        <p:spPr>
          <a:xfrm>
            <a:off x="176645" y="2665413"/>
            <a:ext cx="8728364" cy="259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 structured academic mobility program that allows students to study at a partner, host, or foreign university for one or more academic semesters while continuing to remain enrolled at LPU. 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marR="0" lvl="0" indent="0" algn="just" rtl="0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During this period, students earn academic credits that may be transferred towards the completion of their degree at the home university, subject to the academic requirements of both institutions. </a:t>
            </a:r>
            <a:endParaRPr sz="2800" dirty="0"/>
          </a:p>
        </p:txBody>
      </p:sp>
      <p:sp>
        <p:nvSpPr>
          <p:cNvPr id="409" name="Google Shape;409;p48"/>
          <p:cNvSpPr txBox="1"/>
          <p:nvPr/>
        </p:nvSpPr>
        <p:spPr>
          <a:xfrm>
            <a:off x="3317443" y="1048761"/>
            <a:ext cx="437183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u="sng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Semester Abroad </a:t>
            </a:r>
            <a:endParaRPr sz="3200" b="1" dirty="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"/>
          <p:cNvSpPr txBox="1">
            <a:spLocks noGrp="1"/>
          </p:cNvSpPr>
          <p:nvPr>
            <p:ph type="body" idx="1"/>
          </p:nvPr>
        </p:nvSpPr>
        <p:spPr>
          <a:xfrm>
            <a:off x="473075" y="1751013"/>
            <a:ext cx="8143875" cy="324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</a:pPr>
            <a:r>
              <a:rPr lang="en-IN" sz="1350" b="1">
                <a:latin typeface="Arial"/>
                <a:ea typeface="Arial"/>
                <a:cs typeface="Arial"/>
                <a:sym typeface="Arial"/>
              </a:rPr>
              <a:t>Eligibility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b="1">
                <a:latin typeface="Arial"/>
                <a:ea typeface="Arial"/>
                <a:cs typeface="Arial"/>
                <a:sym typeface="Arial"/>
              </a:rPr>
              <a:t> Valid passport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 (minimum 6 months validity beyond intended stay).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b="1">
                <a:latin typeface="Arial"/>
                <a:ea typeface="Arial"/>
                <a:cs typeface="Arial"/>
                <a:sym typeface="Arial"/>
              </a:rPr>
              <a:t> Minimum CGPA: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 6.5 and fulfil host university eligibility criteria.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b="1">
                <a:latin typeface="Arial"/>
                <a:ea typeface="Arial"/>
                <a:cs typeface="Arial"/>
                <a:sym typeface="Arial"/>
              </a:rPr>
              <a:t>No re-appears/backlogs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 (up to </a:t>
            </a:r>
            <a:r>
              <a:rPr lang="en-IN" b="1">
                <a:latin typeface="Arial"/>
                <a:ea typeface="Arial"/>
                <a:cs typeface="Arial"/>
                <a:sym typeface="Arial"/>
              </a:rPr>
              <a:t>2 re-appears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 may be considered in exceptional cases).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 Meet the </a:t>
            </a:r>
            <a:r>
              <a:rPr lang="en-IN" b="1">
                <a:latin typeface="Arial"/>
                <a:ea typeface="Arial"/>
                <a:cs typeface="Arial"/>
                <a:sym typeface="Arial"/>
              </a:rPr>
              <a:t>English/other language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 requirements of the host university.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b="1">
                <a:latin typeface="Arial"/>
                <a:ea typeface="Arial"/>
                <a:cs typeface="Arial"/>
                <a:sym typeface="Arial"/>
              </a:rPr>
              <a:t> Parent/Guardian consent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 is mandatory.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b="1">
                <a:latin typeface="Arial"/>
                <a:ea typeface="Arial"/>
                <a:cs typeface="Arial"/>
                <a:sym typeface="Arial"/>
              </a:rPr>
              <a:t> First-semester and final-semester students are not eligible.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50"/>
          <p:cNvPicPr preferRelativeResize="0"/>
          <p:nvPr/>
        </p:nvPicPr>
        <p:blipFill rotWithShape="1">
          <a:blip r:embed="rId3">
            <a:alphaModFix/>
          </a:blip>
          <a:srcRect t="7936"/>
          <a:stretch/>
        </p:blipFill>
        <p:spPr>
          <a:xfrm>
            <a:off x="394855" y="502869"/>
            <a:ext cx="8229599" cy="635513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0"/>
          <p:cNvSpPr txBox="1"/>
          <p:nvPr/>
        </p:nvSpPr>
        <p:spPr>
          <a:xfrm>
            <a:off x="1415183" y="185450"/>
            <a:ext cx="6190961" cy="317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63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of approval for Semester Abroad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rPr lang="en-IN" sz="2250" b="1">
                <a:latin typeface="Arial"/>
                <a:ea typeface="Arial"/>
                <a:cs typeface="Arial"/>
                <a:sym typeface="Arial"/>
              </a:rPr>
              <a:t>Require assistance?</a:t>
            </a:r>
            <a:endParaRPr sz="2250" b="1"/>
          </a:p>
        </p:txBody>
      </p:sp>
      <p:graphicFrame>
        <p:nvGraphicFramePr>
          <p:cNvPr id="426" name="Google Shape;426;p51"/>
          <p:cNvGraphicFramePr/>
          <p:nvPr>
            <p:extLst>
              <p:ext uri="{D42A27DB-BD31-4B8C-83A1-F6EECF244321}">
                <p14:modId xmlns:p14="http://schemas.microsoft.com/office/powerpoint/2010/main" val="899184973"/>
              </p:ext>
            </p:extLst>
          </p:nvPr>
        </p:nvGraphicFramePr>
        <p:xfrm>
          <a:off x="509155" y="1690690"/>
          <a:ext cx="8006195" cy="3702190"/>
        </p:xfrm>
        <a:graphic>
          <a:graphicData uri="http://schemas.openxmlformats.org/drawingml/2006/table">
            <a:tbl>
              <a:tblPr>
                <a:noFill/>
                <a:tableStyleId>{A5A4B7DB-A7A4-4DE7-ADC8-E3AEF9F50A0E}</a:tableStyleId>
              </a:tblPr>
              <a:tblGrid>
                <a:gridCol w="4120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04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🆘 Assistance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💻 Application Process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4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🏢 Assistance Zone (Room 38-205B)</a:t>
                      </a:r>
                      <a:endParaRPr/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💻 Login to UMS</a:t>
                      </a:r>
                      <a:endParaRPr/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4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💬 Queries &amp; Guidance</a:t>
                      </a:r>
                      <a:endParaRPr/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➜ LMS</a:t>
                      </a:r>
                      <a:endParaRPr/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4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🤝 One-to-one Support</a:t>
                      </a:r>
                      <a:endParaRPr/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➜ Edu Revolution: Be the Change</a:t>
                      </a:r>
                      <a:endParaRPr/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4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➜ Apply for EDU Revolution</a:t>
                      </a:r>
                      <a:endParaRPr dirty="0"/>
                    </a:p>
                  </a:txBody>
                  <a:tcPr marL="51425" marR="51425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IN" b="1"/>
              <a:t>RPL</a:t>
            </a:r>
            <a:endParaRPr/>
          </a:p>
        </p:txBody>
      </p:sp>
      <p:sp>
        <p:nvSpPr>
          <p:cNvPr id="432" name="Google Shape;432;p5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u="sng" dirty="0">
                <a:solidFill>
                  <a:schemeClr val="hlink"/>
                </a:solidFill>
                <a:hlinkClick r:id="rId3"/>
              </a:rPr>
              <a:t>https://onlinecourses.nptel.ac.in/noc25_cs16/preview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Certified Information Systems Security Professional (CISSP)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Certified Information Security Manager (CISM)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Certified Information Systems Auditor (CISA)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Certified Ethical Hacker (CEH)	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 Certified Encryption Specialist (ECES)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Certified Cryptographer (CC)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Certified Cloud Security Professional (CCSP)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Certified Information Privacy Professional (CIPP)	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dirty="0"/>
              <a:t> </a:t>
            </a:r>
            <a:r>
              <a:rPr lang="en-IN" u="sng" dirty="0">
                <a:solidFill>
                  <a:schemeClr val="hlink"/>
                </a:solidFill>
                <a:hlinkClick r:id="rId4"/>
              </a:rPr>
              <a:t>https://onlinecourses.swayam2.ac.in/cec25_cs03/preview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5">
            <a:alphaModFix/>
          </a:blip>
          <a:srcRect t="29636" b="28026"/>
          <a:stretch/>
        </p:blipFill>
        <p:spPr>
          <a:xfrm>
            <a:off x="35496" y="12576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2"/>
          <p:cNvPicPr preferRelativeResize="0"/>
          <p:nvPr/>
        </p:nvPicPr>
        <p:blipFill rotWithShape="1">
          <a:blip r:embed="rId6">
            <a:alphaModFix/>
          </a:blip>
          <a:srcRect t="34146" b="34145"/>
          <a:stretch/>
        </p:blipFill>
        <p:spPr>
          <a:xfrm>
            <a:off x="7098704" y="188640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"/>
          <p:cNvSpPr txBox="1">
            <a:spLocks noGrp="1"/>
          </p:cNvSpPr>
          <p:nvPr>
            <p:ph type="body" idx="1"/>
          </p:nvPr>
        </p:nvSpPr>
        <p:spPr>
          <a:xfrm>
            <a:off x="1361137" y="2671305"/>
            <a:ext cx="6768752" cy="216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Noto Sans Symbols"/>
              <a:buNone/>
            </a:pPr>
            <a:r>
              <a:rPr lang="en-IN" sz="8800" dirty="0">
                <a:latin typeface="Algerian"/>
                <a:ea typeface="Algerian"/>
                <a:cs typeface="Algerian"/>
                <a:sym typeface="Algerian"/>
              </a:rPr>
              <a:t>THANK 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4198</TotalTime>
  <Words>1670</Words>
  <Application>Microsoft Office PowerPoint</Application>
  <PresentationFormat>On-screen Show (4:3)</PresentationFormat>
  <Paragraphs>195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Algerian</vt:lpstr>
      <vt:lpstr>Arial</vt:lpstr>
      <vt:lpstr>Calibri</vt:lpstr>
      <vt:lpstr>Federo</vt:lpstr>
      <vt:lpstr>Noto Sans Symbols</vt:lpstr>
      <vt:lpstr>Times New Roman</vt:lpstr>
      <vt:lpstr>Office Theme</vt:lpstr>
      <vt:lpstr>CAP404 INFORMATION SECURITY AND PRIVACY  Lecture Zero</vt:lpstr>
      <vt:lpstr>About the Course</vt:lpstr>
      <vt:lpstr>Text Book</vt:lpstr>
      <vt:lpstr>Reference Books</vt:lpstr>
      <vt:lpstr>PowerPoint Presentation</vt:lpstr>
      <vt:lpstr>PowerPoint Presentation</vt:lpstr>
      <vt:lpstr>Program Outcomes</vt:lpstr>
      <vt:lpstr>Program Specific Outcomes</vt:lpstr>
      <vt:lpstr>Course Outcomes</vt:lpstr>
      <vt:lpstr>Syllabus</vt:lpstr>
      <vt:lpstr>PowerPoint Presentation</vt:lpstr>
      <vt:lpstr> Acts of Human Error and Failure</vt:lpstr>
      <vt:lpstr>Continue..</vt:lpstr>
      <vt:lpstr>What mistakes do people usually do? </vt:lpstr>
      <vt:lpstr>What do you think about the cause? </vt:lpstr>
      <vt:lpstr>Hackers – Biggest Threat to Organization</vt:lpstr>
      <vt:lpstr>5 Problems 1 Solutions </vt:lpstr>
      <vt:lpstr>Other possible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Revenue Generation </vt:lpstr>
      <vt:lpstr>PowerPoint Presentation</vt:lpstr>
      <vt:lpstr>NPTEL/ Proctored MOOCs/Certifications </vt:lpstr>
      <vt:lpstr>PowerPoint Presentation</vt:lpstr>
      <vt:lpstr>Projects </vt:lpstr>
      <vt:lpstr>PowerPoint Presentation</vt:lpstr>
      <vt:lpstr>Internship beyond Curriculum </vt:lpstr>
      <vt:lpstr>PowerPoint Presentation</vt:lpstr>
      <vt:lpstr>Recognition of Prior Learning (RPL)</vt:lpstr>
      <vt:lpstr>PowerPoint Presentation</vt:lpstr>
      <vt:lpstr>Grade Upgradation</vt:lpstr>
      <vt:lpstr>PowerPoint Presentation</vt:lpstr>
      <vt:lpstr>Community Service</vt:lpstr>
      <vt:lpstr>PowerPoint Presentation</vt:lpstr>
      <vt:lpstr>Up to 10 % Attendance Benefit</vt:lpstr>
      <vt:lpstr>PowerPoint Presentation</vt:lpstr>
      <vt:lpstr>Duty Leave (DL)</vt:lpstr>
      <vt:lpstr>PowerPoint Presentation</vt:lpstr>
      <vt:lpstr>PowerPoint Presentation</vt:lpstr>
      <vt:lpstr>PowerPoint Presentation</vt:lpstr>
      <vt:lpstr>PowerPoint Presentation</vt:lpstr>
      <vt:lpstr>Require assistance?</vt:lpstr>
      <vt:lpstr>RPL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HP-PC</dc:creator>
  <cp:lastModifiedBy>Sukhbeer Kaur</cp:lastModifiedBy>
  <cp:revision>5</cp:revision>
  <dcterms:created xsi:type="dcterms:W3CDTF">2019-01-17T04:48:58Z</dcterms:created>
  <dcterms:modified xsi:type="dcterms:W3CDTF">2026-07-29T07:20:37Z</dcterms:modified>
</cp:coreProperties>
</file>