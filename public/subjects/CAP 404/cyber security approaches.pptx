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4" r:id="rId2"/>
    <p:sldId id="265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C665B-3AA8-4A1F-8EB4-57E1E05B50D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2C0FD6-C41B-41A7-A580-1BC80C4EEC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63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8E2FA-623F-13CA-6F53-F4DAC7968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707D8-CD2F-FE37-FAFB-CC97A0FC8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6761A-0CE9-BDA7-87F2-27657F5B3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AC85-907B-40B3-A5E3-BDC3385187F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D20FB-C4C4-DCDA-37B5-0398E1A55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60EC5-DB82-EEFC-797D-9C380B76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39AFF-7206-4020-97FB-E5A7B8E4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9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2565-B19C-B027-0549-350D34B0D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A68E6-66FD-CE6F-A073-53382A630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193A1-CC32-EE9F-5A14-31531F8EB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AC85-907B-40B3-A5E3-BDC3385187F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BB2E6-58E2-302D-2681-3230691FE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20910-B533-6E2B-47EB-49D3D8B4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39AFF-7206-4020-97FB-E5A7B8E4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546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66889-0DEB-4DDD-DEDF-6E1363ECC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B0940-A513-9642-A9CB-FF97EC1E4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66EC6-08B5-B6F9-1586-A3A3A94A2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AC85-907B-40B3-A5E3-BDC3385187F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498A5-9DE6-E961-13C4-4A7F22C8E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08A2D-F94F-F9F9-86C4-9CF93882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39AFF-7206-4020-97FB-E5A7B8E4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93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EA26-F25E-41AB-027D-F473D1CB4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1D8A9-4AA3-057E-4CF5-202C80160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8EF16-58C3-896B-8E96-B6DCE3CD0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3BAE6-5A07-5D08-4A1C-E18B3FE6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AC85-907B-40B3-A5E3-BDC3385187F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0EE8D-EED8-E734-0A83-10B070C2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1F0F-BAF0-3957-0C6A-82533065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39AFF-7206-4020-97FB-E5A7B8E4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965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DBBFE-D86C-EAD5-FF8C-CBA85C353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E0508-4F02-C992-B302-45F8EAC49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0AF9C-F9A8-A4DC-C47C-FF90753B6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F2A0D6-FAD4-C953-93C4-6847EFE19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C8C7C5-5E80-CE72-8CFE-BAFB51FCC1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348AF-A20C-B859-C082-35628C7B8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AC85-907B-40B3-A5E3-BDC3385187F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97D87C-FB7B-D03D-D285-6CB37F30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FFB510-63BD-190D-37F0-4EA98B21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39AFF-7206-4020-97FB-E5A7B8E4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367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F0F1E-804E-1F90-2729-4EEB34164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C0FA72-13CC-5B94-A613-44131DD4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AC85-907B-40B3-A5E3-BDC3385187F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7968DC-2D18-1C23-BEFC-DFCFF24F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867EB4-B6CA-B059-D201-9CF6FC699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39AFF-7206-4020-97FB-E5A7B8E4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143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589F54-324E-6BE8-D55A-17D0C607D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AC85-907B-40B3-A5E3-BDC3385187F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60A0D-C24D-BC69-E8F7-8991F2EB4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461A0-166C-82BD-7B4A-3035251C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39AFF-7206-4020-97FB-E5A7B8E4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487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2DBCB-B540-41A4-3D1F-47499736A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8C913-0512-4410-BF7B-1732E56F4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7D7D9-76A8-7060-5F48-AC9716AEA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67914-64D4-7327-7BE4-BF54B9673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AC85-907B-40B3-A5E3-BDC3385187F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C339-7876-7C4F-B6E8-85F68CD4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F99C3-CF44-F099-DC97-209A470F1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39AFF-7206-4020-97FB-E5A7B8E4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495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51427-5B98-E157-8C92-E10ECEE9E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A92798-03AF-5FEC-4838-6D4AA0F08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88758-BF60-33E0-864D-4C54758FC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37FCC-97FB-C29B-B48F-DE8F4159C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AC85-907B-40B3-A5E3-BDC3385187F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04A7B-68CD-A041-D33B-5A900A28C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437A7-D3FE-0064-FB05-1F5A82E9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39AFF-7206-4020-97FB-E5A7B8E4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10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15161-04FC-BD5A-2629-038235CD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C6C2A-EF3F-2538-1ADE-C24A9DB6F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87B1F-0089-479E-4BFD-65A5C8BCE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AC85-907B-40B3-A5E3-BDC3385187F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9276E-05F1-7630-7C90-BBCB70DC0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4EFCA-32C5-05E3-506E-686EF3DD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39AFF-7206-4020-97FB-E5A7B8E4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38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2D9502-40BC-A50A-BA15-C28D4D45E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49F3C-4B5A-8AF0-B273-C58110BF7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041E2-07FA-7381-0B38-EE0C9A7AA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AC85-907B-40B3-A5E3-BDC3385187F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92371-2485-04DE-4245-DDF520B6C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4CBDF-F3F6-46F6-4748-CB81B272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39AFF-7206-4020-97FB-E5A7B8E4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352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675FD-24D3-36F9-28D3-BB3BF11E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5FCD5-D9BC-54E0-85F6-FF845326C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45C3E-1570-0BE2-2B21-A96672369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6AAC85-907B-40B3-A5E3-BDC3385187F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D7E13-9182-3634-430C-C4009492D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9DF65-A072-3178-83AE-E9124AC5E3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639AFF-7206-4020-97FB-E5A7B8E4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429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667000" y="2215799"/>
            <a:ext cx="90010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/>
          <a:p>
            <a:pPr lvl="0">
              <a:buSzPct val="100000"/>
            </a:pPr>
            <a:r>
              <a:rPr lang="en-IN" sz="4800" b="1" dirty="0"/>
              <a:t>CAP404</a:t>
            </a:r>
            <a:br>
              <a:rPr lang="en-IN" sz="4800" b="1" dirty="0"/>
            </a:br>
            <a:r>
              <a:rPr lang="en-IN" sz="4800" b="1" dirty="0"/>
              <a:t>INFORMATION SECURITY AND PRIVACY</a:t>
            </a:r>
            <a:br>
              <a:rPr lang="en-IN" sz="2000" b="1" dirty="0"/>
            </a:br>
            <a:br>
              <a:rPr lang="en-IN" sz="2000" b="1" dirty="0"/>
            </a:br>
            <a:r>
              <a:rPr lang="en-IN" sz="2000" b="1" dirty="0"/>
              <a:t>Lecture on security approaches</a:t>
            </a:r>
            <a:br>
              <a:rPr lang="en-IN" sz="2000" b="1" dirty="0"/>
            </a:br>
            <a:endParaRPr sz="2000" b="1" dirty="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2895600" y="375187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92500" lnSpcReduction="10000"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200"/>
            </a:pPr>
            <a:endParaRPr sz="3200" b="1" dirty="0"/>
          </a:p>
          <a:p>
            <a:pPr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IN" dirty="0"/>
              <a:t>School of Computer Applications</a:t>
            </a:r>
          </a:p>
          <a:p>
            <a:pPr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IN" dirty="0"/>
              <a:t>Domain: AI &amp; ML</a:t>
            </a:r>
            <a:endParaRPr dirty="0"/>
          </a:p>
          <a:p>
            <a:pPr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IN" dirty="0"/>
              <a:t>Lovely Professional University</a:t>
            </a:r>
            <a:endParaRPr dirty="0"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t="29636" b="28026"/>
          <a:stretch/>
        </p:blipFill>
        <p:spPr>
          <a:xfrm>
            <a:off x="566438" y="127664"/>
            <a:ext cx="1700808" cy="72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t="34146" b="34145"/>
          <a:stretch/>
        </p:blipFill>
        <p:spPr>
          <a:xfrm>
            <a:off x="8622704" y="188641"/>
            <a:ext cx="2009800" cy="47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5138A-9628-1871-B19A-2E21A58AF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34B57-3C55-7D46-47F9-A2A05F202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5A6C2-8FF1-80C7-EBA8-232ED749A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826" y="0"/>
            <a:ext cx="12447639" cy="704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4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DC6A7-8477-99CA-8A71-F01D20283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CAF24-5BBA-2B68-89AA-A77FCC31D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E5EAD7-5BE4-5DF2-4418-BEEE3A93C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55"/>
            <a:ext cx="12260826" cy="689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6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CBAAC-8009-3866-66E9-BF73F70C4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Network Security – 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E4E9C-729D-C689-F924-B9BCF2718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Protects Networks:</a:t>
            </a:r>
            <a:r>
              <a:rPr lang="en-IN" dirty="0"/>
              <a:t> Safeguards computer networks and connected devices from unauthorized access and cyber threats. </a:t>
            </a:r>
          </a:p>
          <a:p>
            <a:r>
              <a:rPr lang="en-IN" b="1" dirty="0"/>
              <a:t>Controls Access:</a:t>
            </a:r>
            <a:r>
              <a:rPr lang="en-IN" dirty="0"/>
              <a:t> Ensures only authenticated and authorized users can access network resources. </a:t>
            </a:r>
          </a:p>
          <a:p>
            <a:r>
              <a:rPr lang="en-IN" b="1" dirty="0"/>
              <a:t>Monitors Traffic:</a:t>
            </a:r>
            <a:r>
              <a:rPr lang="en-IN" dirty="0"/>
              <a:t> Detects and blocks suspicious or malicious network activity using security tools. </a:t>
            </a:r>
          </a:p>
          <a:p>
            <a:r>
              <a:rPr lang="en-IN" b="1" dirty="0"/>
              <a:t>Secures Data:</a:t>
            </a:r>
            <a:r>
              <a:rPr lang="en-IN" dirty="0"/>
              <a:t> Protects data during transmission through encryption and secure communication protocols. </a:t>
            </a:r>
          </a:p>
          <a:p>
            <a:r>
              <a:rPr lang="en-IN" b="1" dirty="0"/>
              <a:t>Uses Security Technologies:</a:t>
            </a:r>
            <a:r>
              <a:rPr lang="en-IN" dirty="0"/>
              <a:t> Employs firewalls, IDS/IPS (Intrusion Detection and Prevention Systems), VPNs, and network segmentation to strengthen </a:t>
            </a:r>
            <a:r>
              <a:rPr lang="en-IN" dirty="0" err="1"/>
              <a:t>defenses</a:t>
            </a:r>
            <a:r>
              <a:rPr lang="en-IN" dirty="0"/>
              <a:t>. </a:t>
            </a:r>
          </a:p>
          <a:p>
            <a:r>
              <a:rPr lang="en-IN" b="1" dirty="0"/>
              <a:t>Ensures Availability:</a:t>
            </a:r>
            <a:r>
              <a:rPr lang="en-IN" dirty="0"/>
              <a:t> Maintains reliable network operations by preventing attacks, reducing downtime, and supporting business continuity.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9974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6AD04-8F35-1EC2-E0D8-657682E49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Application Security – Key Points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A03A4-1C58-EA71-4059-563C4A10F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836"/>
            <a:ext cx="10515600" cy="463416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b="1" dirty="0"/>
              <a:t>Protects Applications:</a:t>
            </a:r>
            <a:r>
              <a:rPr lang="en-IN" dirty="0"/>
              <a:t> Secures software and web applications from cyber threats and unauthorized access. </a:t>
            </a:r>
          </a:p>
          <a:p>
            <a:pPr algn="just"/>
            <a:r>
              <a:rPr lang="en-IN" b="1" dirty="0"/>
              <a:t>Secure Development:</a:t>
            </a:r>
            <a:r>
              <a:rPr lang="en-IN" dirty="0"/>
              <a:t> Integrates security practices throughout the Software Development Life Cycle (SDLC). </a:t>
            </a:r>
          </a:p>
          <a:p>
            <a:pPr algn="just"/>
            <a:r>
              <a:rPr lang="en-IN" b="1" dirty="0"/>
              <a:t>Identifies Vulnerabilities:</a:t>
            </a:r>
            <a:r>
              <a:rPr lang="en-IN" dirty="0"/>
              <a:t> Uses code reviews, vulnerability assessments, and penetration testing to detect security flaws. </a:t>
            </a:r>
          </a:p>
          <a:p>
            <a:pPr algn="just"/>
            <a:r>
              <a:rPr lang="en-IN" b="1" dirty="0"/>
              <a:t>Implements Authentication:</a:t>
            </a:r>
            <a:r>
              <a:rPr lang="en-IN" dirty="0"/>
              <a:t> Enforces strong authentication, authorization, and session management to protect user accounts. </a:t>
            </a:r>
          </a:p>
          <a:p>
            <a:pPr algn="just"/>
            <a:r>
              <a:rPr lang="en-IN" b="1" dirty="0"/>
              <a:t>Applies Regular Updates:</a:t>
            </a:r>
            <a:r>
              <a:rPr lang="en-IN" dirty="0"/>
              <a:t> Installs security patches and software updates to fix known vulnerabilities. </a:t>
            </a:r>
          </a:p>
          <a:p>
            <a:pPr algn="just"/>
            <a:r>
              <a:rPr lang="en-IN" b="1" dirty="0"/>
              <a:t>Prevents Common Attacks:</a:t>
            </a:r>
            <a:r>
              <a:rPr lang="en-IN" dirty="0"/>
              <a:t> Defends against threats such as SQL injection, Cross-Site Scripting (XSS), Cross-Site Request Forgery (CSRF), and malware.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047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001A-B961-6ACE-9274-6449C714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IN" b="1" dirty="0"/>
              <a:t>3. Identity and Access Management (IAM)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377D6-FEEC-4E9D-B104-6D391B2D1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174"/>
            <a:ext cx="10515600" cy="472178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b="1" dirty="0"/>
              <a:t>Controls User Access:</a:t>
            </a:r>
            <a:r>
              <a:rPr lang="en-IN" dirty="0"/>
              <a:t> Ensures only authorized users can access systems, applications, and sensitive data. </a:t>
            </a:r>
          </a:p>
          <a:p>
            <a:pPr algn="just"/>
            <a:r>
              <a:rPr lang="en-IN" b="1" dirty="0"/>
              <a:t>User Authentication:</a:t>
            </a:r>
            <a:r>
              <a:rPr lang="en-IN" dirty="0"/>
              <a:t> Verifies user identity using passwords, biometrics, or </a:t>
            </a:r>
            <a:r>
              <a:rPr lang="en-IN" b="1" dirty="0"/>
              <a:t>Multi-Factor Authentication (MFA)</a:t>
            </a:r>
            <a:r>
              <a:rPr lang="en-IN" dirty="0"/>
              <a:t>. </a:t>
            </a:r>
          </a:p>
          <a:p>
            <a:pPr algn="just"/>
            <a:r>
              <a:rPr lang="en-IN" b="1" dirty="0"/>
              <a:t>Role-Based Access Control (RBAC):</a:t>
            </a:r>
            <a:r>
              <a:rPr lang="en-IN" dirty="0"/>
              <a:t> Grants permissions based on a user's role, following the principle of least privilege. </a:t>
            </a:r>
          </a:p>
          <a:p>
            <a:pPr algn="just"/>
            <a:r>
              <a:rPr lang="en-IN" b="1" dirty="0"/>
              <a:t>Access Monitoring:</a:t>
            </a:r>
            <a:r>
              <a:rPr lang="en-IN" dirty="0"/>
              <a:t> Tracks user login activities and access attempts to detect unauthorized or suspicious </a:t>
            </a:r>
            <a:r>
              <a:rPr lang="en-IN" dirty="0" err="1"/>
              <a:t>behavior</a:t>
            </a:r>
            <a:r>
              <a:rPr lang="en-IN" dirty="0"/>
              <a:t>. </a:t>
            </a:r>
          </a:p>
          <a:p>
            <a:pPr algn="just"/>
            <a:r>
              <a:rPr lang="en-IN" b="1" dirty="0"/>
              <a:t>Centralized Identity Management:</a:t>
            </a:r>
            <a:r>
              <a:rPr lang="en-IN" dirty="0"/>
              <a:t> Manages user accounts, permissions, and credentials from a single platform for improved security. </a:t>
            </a:r>
          </a:p>
          <a:p>
            <a:pPr algn="just"/>
            <a:r>
              <a:rPr lang="en-IN" b="1" dirty="0"/>
              <a:t>Enhances Security &amp; Compliance:</a:t>
            </a:r>
            <a:r>
              <a:rPr lang="en-IN" dirty="0"/>
              <a:t> Reduces the risk of unauthorized access, insider threats, and helps organizations comply with security regulations.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2684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4123F-D4CA-A7D9-228F-6A16413A3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Cloud Security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28A2A-D2A0-3032-0548-5B2E59551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b="1" dirty="0"/>
              <a:t>Protects Cloud Resources:</a:t>
            </a:r>
            <a:r>
              <a:rPr lang="en-IN" dirty="0"/>
              <a:t> Secures cloud applications, infrastructure, and data.</a:t>
            </a:r>
          </a:p>
          <a:p>
            <a:pPr algn="just"/>
            <a:r>
              <a:rPr lang="en-IN" dirty="0"/>
              <a:t> </a:t>
            </a:r>
            <a:r>
              <a:rPr lang="en-IN" b="1" dirty="0"/>
              <a:t>Encrypts Data:</a:t>
            </a:r>
            <a:r>
              <a:rPr lang="en-IN" dirty="0"/>
              <a:t> Protects data during storage and transmission. </a:t>
            </a:r>
          </a:p>
          <a:p>
            <a:pPr algn="just"/>
            <a:r>
              <a:rPr lang="en-IN" b="1" dirty="0"/>
              <a:t>Controls Access:</a:t>
            </a:r>
            <a:r>
              <a:rPr lang="en-IN" dirty="0"/>
              <a:t> Restricts access to authorized users using IAM and MFA. </a:t>
            </a:r>
          </a:p>
          <a:p>
            <a:pPr algn="just"/>
            <a:r>
              <a:rPr lang="en-IN" b="1" dirty="0"/>
              <a:t>Continuous Monitoring:</a:t>
            </a:r>
            <a:r>
              <a:rPr lang="en-IN" dirty="0"/>
              <a:t> Detects threats and suspicious activities in real time. </a:t>
            </a:r>
          </a:p>
          <a:p>
            <a:pPr algn="just"/>
            <a:r>
              <a:rPr lang="en-IN" b="1" dirty="0"/>
              <a:t>Ensures Compliance:</a:t>
            </a:r>
            <a:r>
              <a:rPr lang="en-IN" dirty="0"/>
              <a:t> Meets industry security standards and regulations. </a:t>
            </a:r>
          </a:p>
          <a:p>
            <a:pPr algn="just"/>
            <a:r>
              <a:rPr lang="en-IN" b="1" dirty="0"/>
              <a:t>Prevents Data Breaches:</a:t>
            </a:r>
            <a:r>
              <a:rPr lang="en-IN" dirty="0"/>
              <a:t> Reduces the risk of cyberattacks and unauthorized access.</a:t>
            </a:r>
          </a:p>
        </p:txBody>
      </p:sp>
    </p:spTree>
    <p:extLst>
      <p:ext uri="{BB962C8B-B14F-4D97-AF65-F5344CB8AC3E}">
        <p14:creationId xmlns:p14="http://schemas.microsoft.com/office/powerpoint/2010/main" val="404627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97C7B-98E7-4EAC-9514-67D8C8E0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5. Data Security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1AC09-F42B-B93D-2AF3-347A9B8E5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Protects Sensitive Data:</a:t>
            </a:r>
            <a:r>
              <a:rPr lang="en-IN" dirty="0"/>
              <a:t> Prevents unauthorized access, theft, or loss of information. </a:t>
            </a:r>
          </a:p>
          <a:p>
            <a:r>
              <a:rPr lang="en-IN" b="1" dirty="0"/>
              <a:t>Uses Encryption:</a:t>
            </a:r>
            <a:r>
              <a:rPr lang="en-IN" dirty="0"/>
              <a:t> Secures data during storage and transmission. </a:t>
            </a:r>
          </a:p>
          <a:p>
            <a:r>
              <a:rPr lang="en-IN" b="1" dirty="0"/>
              <a:t>Regular Backups:</a:t>
            </a:r>
            <a:r>
              <a:rPr lang="en-IN" dirty="0"/>
              <a:t> Ensures data can be recovered after failures or attacks. </a:t>
            </a:r>
          </a:p>
          <a:p>
            <a:r>
              <a:rPr lang="en-IN" b="1" dirty="0"/>
              <a:t>Data Loss Prevention (DLP):</a:t>
            </a:r>
            <a:r>
              <a:rPr lang="en-IN" dirty="0"/>
              <a:t> Monitors and prevents unauthorized data sharing or leakage. </a:t>
            </a:r>
          </a:p>
          <a:p>
            <a:r>
              <a:rPr lang="en-IN" b="1" dirty="0"/>
              <a:t>Access Control:</a:t>
            </a:r>
            <a:r>
              <a:rPr lang="en-IN" dirty="0"/>
              <a:t> Limits data access to authorized users only. </a:t>
            </a:r>
          </a:p>
          <a:p>
            <a:r>
              <a:rPr lang="en-IN" b="1" dirty="0"/>
              <a:t>Maintains Data Integrity:</a:t>
            </a:r>
            <a:r>
              <a:rPr lang="en-IN" dirty="0"/>
              <a:t> Ensures data remains accurate, consistent, and available.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622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6E02B-E477-4191-100F-4610E69F4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6. Security Awareness &amp; Training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2ADF2-85CB-7FCD-82C3-76D6E07B2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b="1" dirty="0"/>
              <a:t>Educates Users:</a:t>
            </a:r>
            <a:r>
              <a:rPr lang="en-IN" dirty="0"/>
              <a:t> Trains employees to identify common cyber threats. </a:t>
            </a:r>
          </a:p>
          <a:p>
            <a:pPr algn="just"/>
            <a:r>
              <a:rPr lang="en-IN" b="1" dirty="0"/>
              <a:t>Recognizes Phishing:</a:t>
            </a:r>
            <a:r>
              <a:rPr lang="en-IN" dirty="0"/>
              <a:t> Helps detect phishing emails and scam websites. </a:t>
            </a:r>
          </a:p>
          <a:p>
            <a:pPr algn="just"/>
            <a:r>
              <a:rPr lang="en-IN" b="1" dirty="0"/>
              <a:t>Prevents Social Engineering:</a:t>
            </a:r>
            <a:r>
              <a:rPr lang="en-IN" dirty="0"/>
              <a:t> Raises awareness of manipulation and fraud techniques. </a:t>
            </a:r>
          </a:p>
          <a:p>
            <a:pPr algn="just"/>
            <a:r>
              <a:rPr lang="en-IN" b="1" dirty="0"/>
              <a:t>Promotes Strong Passwords:</a:t>
            </a:r>
            <a:r>
              <a:rPr lang="en-IN" dirty="0"/>
              <a:t> Encourages strong, unique passwords and </a:t>
            </a:r>
            <a:r>
              <a:rPr lang="en-IN" b="1" dirty="0"/>
              <a:t>Multi-Factor Authentication (MFA)</a:t>
            </a:r>
            <a:r>
              <a:rPr lang="en-IN" dirty="0"/>
              <a:t>. </a:t>
            </a:r>
          </a:p>
          <a:p>
            <a:pPr algn="just"/>
            <a:r>
              <a:rPr lang="en-IN" b="1" dirty="0"/>
              <a:t>Encourages Safe Online Practices:</a:t>
            </a:r>
            <a:r>
              <a:rPr lang="en-IN" dirty="0"/>
              <a:t> Teaches secure browsing, email, and file-sharing habits. </a:t>
            </a:r>
          </a:p>
          <a:p>
            <a:pPr algn="just"/>
            <a:r>
              <a:rPr lang="en-IN" b="1" dirty="0"/>
              <a:t>Reduces Human Error:</a:t>
            </a:r>
            <a:r>
              <a:rPr lang="en-IN" dirty="0"/>
              <a:t> Minimizes security incidents caused by user mistakes.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9416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2E018-8602-3F6E-95BD-C8F59D9F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7. Incident Response &amp; Recovery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8FEDC-6E97-1E1D-0F3E-042CA9960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IN" b="1" dirty="0"/>
              <a:t>Detects Cyber Incidents:</a:t>
            </a:r>
            <a:r>
              <a:rPr lang="en-IN" dirty="0"/>
              <a:t> Identifies security breaches, attacks, and system threats quickly. </a:t>
            </a:r>
          </a:p>
          <a:p>
            <a:pPr algn="just"/>
            <a:r>
              <a:rPr lang="en-IN" b="1" dirty="0"/>
              <a:t>Responds Effectively:</a:t>
            </a:r>
            <a:r>
              <a:rPr lang="en-IN" dirty="0"/>
              <a:t> Takes immediate actions to contain and minimize damage. </a:t>
            </a:r>
          </a:p>
          <a:p>
            <a:pPr algn="just"/>
            <a:r>
              <a:rPr lang="en-IN" b="1" dirty="0"/>
              <a:t>Uses Response Plans:</a:t>
            </a:r>
            <a:r>
              <a:rPr lang="en-IN" dirty="0"/>
              <a:t> Follows predefined procedures to handle security incidents. </a:t>
            </a:r>
          </a:p>
          <a:p>
            <a:pPr algn="just"/>
            <a:r>
              <a:rPr lang="en-IN" b="1" dirty="0"/>
              <a:t>Performs Forensic Analysis:</a:t>
            </a:r>
            <a:r>
              <a:rPr lang="en-IN" dirty="0"/>
              <a:t> Investigates incidents to identify causes and prevent recurrence. </a:t>
            </a:r>
          </a:p>
          <a:p>
            <a:pPr algn="just"/>
            <a:r>
              <a:rPr lang="en-IN" b="1" dirty="0"/>
              <a:t>Ensures Data Recovery:</a:t>
            </a:r>
            <a:r>
              <a:rPr lang="en-IN" dirty="0"/>
              <a:t> Restores systems and data through backups and disaster recovery plans. </a:t>
            </a:r>
          </a:p>
          <a:p>
            <a:pPr algn="just"/>
            <a:r>
              <a:rPr lang="en-IN" b="1" dirty="0"/>
              <a:t>Improves Security:</a:t>
            </a:r>
            <a:r>
              <a:rPr lang="en-IN" dirty="0"/>
              <a:t> Learns from incidents to strengthen future </a:t>
            </a:r>
            <a:r>
              <a:rPr lang="en-IN" dirty="0" err="1"/>
              <a:t>defenses</a:t>
            </a:r>
            <a:r>
              <a:rPr lang="en-IN" dirty="0"/>
              <a:t>. 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5915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93B94-FA34-D6E5-010B-A3644AFB8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B728B-AB39-17E8-2BFF-FF690E7E4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4BE998-918F-6FA4-F871-2E4215566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9" y="0"/>
            <a:ext cx="120051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061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701</Words>
  <Application>Microsoft Office PowerPoint</Application>
  <PresentationFormat>Widescreen</PresentationFormat>
  <Paragraphs>54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CAP404 INFORMATION SECURITY AND PRIVACY  Lecture on security approaches </vt:lpstr>
      <vt:lpstr>PowerPoint Presentation</vt:lpstr>
      <vt:lpstr>PowerPoint Presentation</vt:lpstr>
      <vt:lpstr>1. Network Security –  </vt:lpstr>
      <vt:lpstr>2. Application Security – Key Points </vt:lpstr>
      <vt:lpstr>3. Identity and Access Management (IAM) </vt:lpstr>
      <vt:lpstr>4. Cloud Security </vt:lpstr>
      <vt:lpstr>5. Data Security </vt:lpstr>
      <vt:lpstr>6. Security Awareness &amp; Training </vt:lpstr>
      <vt:lpstr>7. Incident Response &amp; Recovery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Sukhbeer Kaur</dc:creator>
  <cp:lastModifiedBy>Sukhbeer Kaur</cp:lastModifiedBy>
  <cp:revision>1</cp:revision>
  <dcterms:created xsi:type="dcterms:W3CDTF">2026-08-03T09:23:26Z</dcterms:created>
  <dcterms:modified xsi:type="dcterms:W3CDTF">2026-08-03T10:45:10Z</dcterms:modified>
</cp:coreProperties>
</file>